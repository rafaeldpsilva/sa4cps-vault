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7" r:id="rId2"/>
    <p:sldId id="259" r:id="rId3"/>
    <p:sldId id="280" r:id="rId4"/>
    <p:sldId id="277" r:id="rId5"/>
    <p:sldId id="276" r:id="rId6"/>
    <p:sldId id="281" r:id="rId7"/>
    <p:sldId id="282" r:id="rId8"/>
    <p:sldId id="283" r:id="rId9"/>
    <p:sldId id="284" r:id="rId10"/>
    <p:sldId id="285" r:id="rId11"/>
    <p:sldId id="271" r:id="rId12"/>
    <p:sldId id="274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66"/>
    <p:restoredTop sz="81658"/>
  </p:normalViewPr>
  <p:slideViewPr>
    <p:cSldViewPr snapToGrid="0">
      <p:cViewPr varScale="1">
        <p:scale>
          <a:sx n="112" d="100"/>
          <a:sy n="112" d="100"/>
        </p:scale>
        <p:origin x="18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31979-3C4C-B04F-AD49-A1AD3E566F89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EEEA3F-08CE-6043-AB76-D392B1207876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3972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Boa tarde a todos. Vou apresentar o meu trabalho sobre "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para </a:t>
            </a:r>
            <a:r>
              <a:rPr lang="pt-PT" dirty="0" err="1"/>
              <a:t>IoT</a:t>
            </a:r>
            <a:r>
              <a:rPr lang="pt-PT" dirty="0"/>
              <a:t> em Edifícios Inteligentes em Comunidades". À medida que integramos a IA mais profundamente nos nossos espaços, enfrentamos um desafio crítico: como garantir a privacidade quando os modelos se recusam a esquecer?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820949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Os edifícios inteligentes são, essencialmente, ecossistemas de sensores. Estes dispositivos geram pegadas do nosso comportamento. Embora isto otimize o conforto e a energia, cria uma grande pegada digital. Mesmo que eliminemos os dados em bruto, os modelos treinados retêm na mesma vestígios que podem ser explorados.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O Artigo 17.º do RGPD, o "Direito ao Esquecimento", exige que as organizações não só eliminem os registos em bruto, mas também qualquer influência derivada destes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No entanto, a pura remoção de dados em bruto já não é suficiente. Os modelos de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learning</a:t>
            </a:r>
            <a:r>
              <a:rPr lang="pt-PT" dirty="0"/>
              <a:t> "memorizam" os seus conjuntos de treino. Através de ataques de </a:t>
            </a:r>
            <a:r>
              <a:rPr lang="pt-PT" i="1" dirty="0" err="1"/>
              <a:t>Membership</a:t>
            </a:r>
            <a:r>
              <a:rPr lang="pt-PT" i="1" dirty="0"/>
              <a:t> </a:t>
            </a:r>
            <a:r>
              <a:rPr lang="pt-PT" i="1" dirty="0" err="1"/>
              <a:t>Inference</a:t>
            </a:r>
            <a:r>
              <a:rPr lang="pt-PT" i="1" dirty="0"/>
              <a:t> ou</a:t>
            </a:r>
            <a:r>
              <a:rPr lang="pt-PT" dirty="0"/>
              <a:t> </a:t>
            </a:r>
            <a:r>
              <a:rPr lang="pt-PT" i="1" dirty="0" err="1"/>
              <a:t>Model</a:t>
            </a:r>
            <a:r>
              <a:rPr lang="pt-PT" i="1" dirty="0"/>
              <a:t> </a:t>
            </a:r>
            <a:r>
              <a:rPr lang="pt-PT" i="1" dirty="0" err="1"/>
              <a:t>Inversion</a:t>
            </a:r>
            <a:r>
              <a:rPr lang="pt-PT" i="1" dirty="0"/>
              <a:t>,</a:t>
            </a:r>
            <a:r>
              <a:rPr lang="pt-PT" dirty="0"/>
              <a:t> um adversário pode reconstruir informações privadas dos residentes.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</a:t>
            </a:r>
            <a:r>
              <a:rPr lang="pt-PT" dirty="0" err="1"/>
              <a:t>surje</a:t>
            </a:r>
            <a:r>
              <a:rPr lang="pt-PT" dirty="0"/>
              <a:t> como a resposta isto, ou seja o processo de remover seletivamente a influência dos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Dispositivos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IoT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recolhem padrões de ocupação, consumo energético, sinais biométricos e movimento, criando um histórico longitudinal detalhado dos ocupantes.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Modelos treinados retêm traços estatísticos exploráveis por ataques de inferência de pertença e inversão de modelo, mesmo após eliminar os dados originais.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RGPD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Art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. 17 (direito ao esquecimento) exige eliminar não só os dados, mas a sua influência nos modelos derivados — não basta apagar a fonte.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mas foi concebido para cenários centralizados e estáticos, não para o contexto distribuído dos edifícios inteligentes.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0767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Existem dois paradigmas principais: Exato e Aproximado. A </a:t>
            </a:r>
            <a:r>
              <a:rPr lang="pt-PT" dirty="0" err="1"/>
              <a:t>desaprendizagem</a:t>
            </a:r>
            <a:r>
              <a:rPr lang="pt-PT" dirty="0"/>
              <a:t> exata como o método SISA, garante a remoção voltando a treinar partes do modelo, mas é computacionalmente pesada. A </a:t>
            </a:r>
            <a:r>
              <a:rPr lang="pt-PT" dirty="0" err="1"/>
              <a:t>desaprendizagem</a:t>
            </a:r>
            <a:r>
              <a:rPr lang="pt-PT" dirty="0"/>
              <a:t> aproximada é mais rápida, mas apenas minimiza a influência até a um limite tolerável — o que a torna mais difícil de garantir esta remoção.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EXACT: 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parcial. SISA divide 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em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shards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isolados — só 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shard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afetado precisa de reestruturação.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APPROXIMATE: 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 Inclui métodos baseados em gradiente, funções de influência, destilação e refinamento.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Trade-off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entre garantia, custo computacional e flexibilidade de implementação — crítico em hardware com recursos limitados.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63320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Os edifícios inteligentes seguem uma hierarquia em camadas. Perceção para deteção, </a:t>
            </a:r>
            <a:r>
              <a:rPr lang="pt-PT" i="1" dirty="0" err="1"/>
              <a:t>Edge</a:t>
            </a:r>
            <a:r>
              <a:rPr lang="pt-PT" dirty="0"/>
              <a:t> para controlo local e </a:t>
            </a:r>
            <a:r>
              <a:rPr lang="pt-PT" i="1" dirty="0" err="1"/>
              <a:t>Cloud</a:t>
            </a:r>
            <a:r>
              <a:rPr lang="pt-PT" dirty="0"/>
              <a:t> para otimização global. O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deve ocorrer em todas as camadas. Se a </a:t>
            </a:r>
            <a:r>
              <a:rPr lang="pt-PT" i="1" dirty="0" err="1"/>
              <a:t>cloud</a:t>
            </a:r>
            <a:r>
              <a:rPr lang="pt-PT" dirty="0"/>
              <a:t> esquecer, mas a </a:t>
            </a:r>
            <a:r>
              <a:rPr lang="pt-PT" i="1" dirty="0" err="1"/>
              <a:t>edge</a:t>
            </a:r>
            <a:r>
              <a:rPr lang="pt-PT" dirty="0"/>
              <a:t> retiver os pesos do utilizador, significa que o sistema não está em conformidade legal.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 err="1">
                <a:solidFill>
                  <a:srgbClr val="1A2332"/>
                </a:solidFill>
                <a:latin typeface="Calibri"/>
              </a:rPr>
              <a:t>Cloud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: Treino de modelos globais · armazenamento histórico · análise entre edifícios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 err="1"/>
              <a:t>Edge</a:t>
            </a:r>
            <a:r>
              <a:rPr lang="pt-PT" dirty="0"/>
              <a:t>: 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Agregação · pré-processamento · execução de modelos leves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 err="1"/>
              <a:t>Perception</a:t>
            </a:r>
            <a:r>
              <a:rPr lang="pt-PT" dirty="0"/>
              <a:t>: 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Sensores e atuadores no terreno: ocupação, ambiente, contadores, </a:t>
            </a:r>
            <a:r>
              <a:rPr lang="pt-PT" sz="1200" dirty="0" err="1">
                <a:solidFill>
                  <a:srgbClr val="1A2332"/>
                </a:solidFill>
                <a:latin typeface="Calibri"/>
              </a:rPr>
              <a:t>wearables</a:t>
            </a:r>
            <a:endParaRPr lang="pt-PT" sz="1200" dirty="0">
              <a:solidFill>
                <a:srgbClr val="1A2332"/>
              </a:solidFill>
              <a:latin typeface="Calibri"/>
            </a:endParaRP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</a:rPr>
              <a:t>Um pedido de eliminação tem de propagar-se pelas três camadas. </a:t>
            </a:r>
            <a:endParaRPr lang="pt-PT" dirty="0"/>
          </a:p>
          <a:p>
            <a:r>
              <a:rPr lang="pt-PT" sz="1200" dirty="0">
                <a:solidFill>
                  <a:srgbClr val="1A2332"/>
                </a:solidFill>
                <a:latin typeface="Calibri"/>
              </a:rPr>
              <a:t>Estados parciais — em que apenas uma camada “esquece” — violam o direito ao esquecimento e deixam superfícies para ataques de inferência.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82045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Ao contrário de, por exemplo, um telemóvel pessoal, os dados dos edifícios estão entrelaçados. Se um inquilino num escritório partilhado retirar o consentimento, os seus dados que estão misturados com os dos seus colegas nos mesmos sensores ambientais. Remover a influência de um utilizador sem degradar o desempenho do modelo para todos os outros é um grande obstáculo.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Em edifícios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multi-inquilino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, cada ocupante concede consentimento separadamente. Um único pedido de eliminação não pode ser aplicado de forma global ao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Sensores partilhados (corredores, AVAC, contadores comuns) recolhem dados que pertencem simultaneamente a vários inquilinos — o mesmo registo serve treino de múltiplos perfis.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Eliminar limpamente os dados de um utilizador sem afetar os restantes torna-se quase impossível — restrição operacional fundamental destacada na literatura.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Restrição operacional fundamental: o consentimento não é uniforme nem isolável — define o limite prático de qualquer mecanismo de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em edifícios partilhados.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70395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Quando olhamos para os métodos atuais, vemos lacunas claras. Os métodos na </a:t>
            </a:r>
            <a:r>
              <a:rPr lang="pt-PT" i="1" dirty="0" err="1"/>
              <a:t>cloud</a:t>
            </a:r>
            <a:r>
              <a:rPr lang="pt-PT" dirty="0"/>
              <a:t>, ignoram as limitações da </a:t>
            </a:r>
            <a:r>
              <a:rPr lang="pt-PT" i="1" dirty="0" err="1"/>
              <a:t>edge</a:t>
            </a:r>
            <a:r>
              <a:rPr lang="pt-PT" i="1" dirty="0"/>
              <a:t>.</a:t>
            </a:r>
            <a:r>
              <a:rPr lang="pt-PT" dirty="0"/>
              <a:t> No lado da </a:t>
            </a:r>
            <a:r>
              <a:rPr lang="pt-PT" i="1" dirty="0" err="1"/>
              <a:t>edge</a:t>
            </a:r>
            <a:r>
              <a:rPr lang="pt-PT" dirty="0"/>
              <a:t> a solução é rápida, mas ignora a hierarquia de múltiplos residentes. A </a:t>
            </a:r>
            <a:r>
              <a:rPr lang="pt-PT" dirty="0" err="1"/>
              <a:t>desaprendizagem</a:t>
            </a:r>
            <a:r>
              <a:rPr lang="pt-PT" dirty="0"/>
              <a:t> federada existe, mas enfraquece a própria garantia de "esquecimento", baseando-se frequentemente em provas estatísticas em vez de certezas.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925907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86E6-F2F6-45C3-1920-E5DA801C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915B6CC-EE9F-C56E-6A13-2F49F81E77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E0FE9EF-370E-FA3B-CA0F-B900483BD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NAO ESQUCER DE PASSAR PARA A FRENTE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Quando olhamos para os métodos atuais, vemos lacunas claras. Os métodos na </a:t>
            </a:r>
            <a:r>
              <a:rPr lang="pt-PT" i="1" dirty="0" err="1"/>
              <a:t>cloud</a:t>
            </a:r>
            <a:r>
              <a:rPr lang="pt-PT" dirty="0"/>
              <a:t>, ignoram as limitações da </a:t>
            </a:r>
            <a:r>
              <a:rPr lang="pt-PT" i="1" dirty="0" err="1"/>
              <a:t>edge</a:t>
            </a:r>
            <a:r>
              <a:rPr lang="pt-PT" i="1" dirty="0"/>
              <a:t>.</a:t>
            </a:r>
            <a:r>
              <a:rPr lang="pt-PT" dirty="0"/>
              <a:t> No lado da </a:t>
            </a:r>
            <a:r>
              <a:rPr lang="pt-PT" i="1" dirty="0" err="1"/>
              <a:t>edge</a:t>
            </a:r>
            <a:r>
              <a:rPr lang="pt-PT" dirty="0"/>
              <a:t> a solução é rápida, mas ignora a hierarquia de múltiplos inquilinos. A </a:t>
            </a:r>
            <a:r>
              <a:rPr lang="pt-PT" dirty="0" err="1"/>
              <a:t>desaprendizagem</a:t>
            </a:r>
            <a:r>
              <a:rPr lang="pt-PT" dirty="0"/>
              <a:t> federada existe, mas enfraquece a própria garantia de remoção, baseando-se frequentemente em provas estatísticas em vez de certezas.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A37E368-AAC0-3EBC-4A89-C74E3325A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327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E3A3-FF34-1199-C904-E083F7D82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AAB3F895-C8BA-1260-6CA1-B009BF74C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B5183A42-175E-4DB1-BFE8-52686ACF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 lacuna é significativa. A maior parte da investigação sobre </a:t>
            </a:r>
            <a:r>
              <a:rPr lang="pt-PT" i="1" dirty="0" err="1"/>
              <a:t>unlearning</a:t>
            </a:r>
            <a:r>
              <a:rPr lang="pt-PT" dirty="0"/>
              <a:t> é desenvolvida em silos. Descobrimos que apenas uma pequena fração dos métodos considera os limites de recursos da </a:t>
            </a:r>
            <a:r>
              <a:rPr lang="pt-PT" i="1" dirty="0" err="1"/>
              <a:t>edge</a:t>
            </a:r>
            <a:r>
              <a:rPr lang="pt-PT" dirty="0"/>
              <a:t>, e ainda menos fornecem o tipo de verificação que um regulador aceitaria como um verdadeiro esquecimento.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EBC2B26-AEE6-D91B-42C1-C87092F5F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65232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E8FE1-0FFE-8781-9AD1-FFD3FAF9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3680D96-26BA-2085-4609-8EC97081A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CE278FB-44F2-A842-85E0-BFB88ED4BA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 lacuna é significativa. A maior parte da investigação sobre </a:t>
            </a:r>
            <a:r>
              <a:rPr lang="pt-PT" i="1" dirty="0" err="1"/>
              <a:t>unlearning</a:t>
            </a:r>
            <a:r>
              <a:rPr lang="pt-PT" dirty="0"/>
              <a:t> é desenvolvida em silos. Descobrimos que apenas uma pequena fração dos métodos considera os limites de recursos da </a:t>
            </a:r>
            <a:r>
              <a:rPr lang="pt-PT" i="1" dirty="0" err="1"/>
              <a:t>edge</a:t>
            </a:r>
            <a:r>
              <a:rPr lang="pt-PT" dirty="0"/>
              <a:t>, e ainda menos fornecem o tipo de verificação que um regulador aceitaria como um verdadeiro esquecimento.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8CD6910-FC17-5FCD-3A29-54D5911C2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1899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B1AD9-2478-B77F-D2D6-4338A5314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16F87413-56CC-DEE7-3553-988D37435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8B268EE-26D4-B3A7-8374-D6C283F1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 lacuna é significativa. A maior parte da investigação sobre </a:t>
            </a:r>
            <a:r>
              <a:rPr lang="pt-PT" i="1" dirty="0" err="1"/>
              <a:t>unlearning</a:t>
            </a:r>
            <a:r>
              <a:rPr lang="pt-PT" dirty="0"/>
              <a:t> é desenvolvida em silos. Descobrimos que apenas uma pequena fração dos métodos considera os limites de recursos da </a:t>
            </a:r>
            <a:r>
              <a:rPr lang="pt-PT" i="1" dirty="0" err="1"/>
              <a:t>edge</a:t>
            </a:r>
            <a:r>
              <a:rPr lang="pt-PT" dirty="0"/>
              <a:t>, e ainda menos fornecem o tipo de verificação que um regulador aceitaria como um verdadeiro esquecimento.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F1BE4FF-EEA4-2EC9-BDAC-87370AA994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1521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Como é que resolvemos isto?</a:t>
            </a:r>
          </a:p>
          <a:p>
            <a:r>
              <a:rPr lang="pt-PT" b="1" dirty="0"/>
              <a:t>Primeiro: Escalabilidade.</a:t>
            </a:r>
            <a:r>
              <a:rPr lang="pt-PT" dirty="0"/>
              <a:t> Tem de ser avançar para "</a:t>
            </a:r>
            <a:r>
              <a:rPr lang="pt-PT" i="1" dirty="0" err="1"/>
              <a:t>Tiny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". Em vez de um </a:t>
            </a:r>
            <a:r>
              <a:rPr lang="pt-PT" dirty="0" err="1"/>
              <a:t>retreino</a:t>
            </a:r>
            <a:r>
              <a:rPr lang="pt-PT" dirty="0"/>
              <a:t> completo, utilizamos atualizações e aceleração por </a:t>
            </a:r>
            <a:r>
              <a:rPr lang="pt-PT" i="1" dirty="0"/>
              <a:t>hardware</a:t>
            </a:r>
            <a:r>
              <a:rPr lang="pt-PT" dirty="0"/>
              <a:t> para realizar o esquecimento diretamente </a:t>
            </a:r>
            <a:r>
              <a:rPr lang="pt-PT" i="1" dirty="0"/>
              <a:t>na </a:t>
            </a:r>
            <a:r>
              <a:rPr lang="pt-PT" i="1" dirty="0" err="1"/>
              <a:t>edge</a:t>
            </a:r>
            <a:r>
              <a:rPr lang="pt-PT" dirty="0"/>
              <a:t>, sem sobrecarregar o sistema.</a:t>
            </a:r>
          </a:p>
          <a:p>
            <a:r>
              <a:rPr lang="pt-PT" b="1" dirty="0"/>
              <a:t>Segundo: Verificação.</a:t>
            </a:r>
            <a:r>
              <a:rPr lang="pt-PT" dirty="0"/>
              <a:t> É necessário mais do que apenas um "confie em mim" de um fornecedor. Precisamos de certificados e de </a:t>
            </a:r>
            <a:r>
              <a:rPr lang="pt-PT" i="1" dirty="0"/>
              <a:t>provas de esquecimento </a:t>
            </a:r>
            <a:r>
              <a:rPr lang="pt-PT" dirty="0"/>
              <a:t>para certificar aos residentes e reguladores que a influência dos seus dados desapareceu verdadeiramente.</a:t>
            </a:r>
          </a:p>
          <a:p>
            <a:r>
              <a:rPr lang="pt-PT" dirty="0"/>
              <a:t>Para concluir, o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em edifícios inteligentes não é apenas um problema académico — é uma necessidade regulatória, ou seja, é necessário que as entidades de ambas as matérias se alinhe. Precisamos de passar de métodos centrados na </a:t>
            </a:r>
            <a:r>
              <a:rPr lang="pt-PT" i="1" dirty="0" err="1"/>
              <a:t>cloud</a:t>
            </a:r>
            <a:r>
              <a:rPr lang="pt-PT" dirty="0"/>
              <a:t> para sistemas distribuídos e verificáveis. </a:t>
            </a:r>
          </a:p>
          <a:p>
            <a:endParaRPr lang="pt-PT" dirty="0"/>
          </a:p>
          <a:p>
            <a:r>
              <a:rPr lang="pt-PT" dirty="0"/>
              <a:t>Para a minha tese, tendo em consideração estes problemas, o que planeei foi passar pela minimização da partilha de dados. Os modelos que correm num </a:t>
            </a:r>
            <a:r>
              <a:rPr lang="pt-PT" dirty="0" err="1"/>
              <a:t>edíficio</a:t>
            </a:r>
            <a:r>
              <a:rPr lang="pt-PT" dirty="0"/>
              <a:t> são treinados apenas pelos dados dos residentes nesses </a:t>
            </a:r>
            <a:r>
              <a:rPr lang="pt-PT" dirty="0" err="1"/>
              <a:t>edíficios</a:t>
            </a:r>
            <a:r>
              <a:rPr lang="pt-PT" dirty="0"/>
              <a:t>. O problema real acontece na partilha dos dados, que como vimos não temos garantias de depois os esquecer, no entanto essa partilha tem de ser explicita.</a:t>
            </a:r>
            <a:br>
              <a:rPr lang="pt-PT" dirty="0"/>
            </a:br>
            <a:br>
              <a:rPr lang="pt-PT" dirty="0"/>
            </a:br>
            <a:r>
              <a:rPr lang="pt-PT" dirty="0"/>
              <a:t>É importante também referir que a maneira como resolvemos o problema do esquecimento, depende muito de como o </a:t>
            </a:r>
            <a:r>
              <a:rPr lang="pt-PT" dirty="0" err="1"/>
              <a:t>machine</a:t>
            </a:r>
            <a:r>
              <a:rPr lang="pt-PT" dirty="0"/>
              <a:t> </a:t>
            </a:r>
            <a:r>
              <a:rPr lang="pt-PT" dirty="0" err="1"/>
              <a:t>unlearning</a:t>
            </a:r>
            <a:r>
              <a:rPr lang="pt-PT" dirty="0"/>
              <a:t> evoluir. Este campo não é o mesmo que era há 10 anos e, com grande probabilidade não vai ser o mesmo nos próximos.</a:t>
            </a:r>
          </a:p>
          <a:p>
            <a:r>
              <a:rPr lang="pt-PT" dirty="0"/>
              <a:t>Obrigado pela vossa atenção, estou agora disponível para qualquer questão.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54154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C4004-5EB7-8F82-9FA1-51870C921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D1FA2F-264C-8199-2BAF-7A63B63A0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2B5CFB3-FBBC-E8DC-F7D3-2E7C095A7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EDBD6-9314-0D24-970A-39415BE05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140160F-A29B-3B2D-2ED8-9F7BE856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994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2AC52-350E-8A5B-B5E1-05068891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4CB173A-A059-59EA-C636-4285A5A3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1B52EE-E82F-79CB-773F-2E41B043B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0C42516-F37E-3D30-1C66-6085A51D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06C1483-E9C9-8A38-E980-EB8F22F0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743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2FFE9-5306-D8FF-1F46-F0CF9421B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AFABB86-5B46-1EE3-7FAA-8B262A550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20896B6-47CA-43EA-B7A4-1FD11EAF8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2E3E3AB-9027-54B7-3FAD-2E501AD72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B841980-35F0-0860-3E92-A60FEEAF8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8483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1B61E-F47C-F5C1-47E9-2DD18472E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A90CD87-D2FF-2F94-F644-42D4B4EDC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582ACD0-B8AF-1976-DB14-5E374ABA8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27E7870-2C2C-4404-7E84-ACFB00415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A8ACC74-DC67-CDE2-9215-7B52D8AEE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0C38FEC-B9D4-512C-DAE0-B41AE8329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7588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E101-2890-514E-117F-6EA8C46F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A64D669-EE30-82EE-3723-BDC610BC4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3F916BD-D456-3A41-1B90-7A9EBBA66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A056534-3125-9535-A885-3A0E916449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D11076E-52F9-0140-74BD-985D468B9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430E094-5E62-3657-1386-A1160960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23DEC4A8-ACC9-CB99-1D9C-94E988A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71851E2-07DD-93D6-475C-38205D8B8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223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C81BE-C16E-743B-568E-0194FA3F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58017996-EE0D-C4BF-4D4D-5DBBCEC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492B1E0-9840-D60C-1FC3-B1F19A51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78CD853-1BC6-6A09-4B2C-48887E72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5157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04904ADD-AD99-C386-E701-9CF843740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8C4085EA-49E0-48A1-2CCF-7C885EB3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36ECF43-2588-4C58-23EF-1602B8FCD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590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1D283-76DE-99E1-46C5-382F199FC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90F956B-DCA5-7641-1B35-90B88094B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FA1CCA8-A3A0-283D-B922-26DB65EE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170836A-E026-F447-C622-338EED1E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F553D68-0E53-B3F7-731B-500C14CBF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CE3C1EA-22A5-9037-BC74-C0F38394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051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17B70-4C2C-7583-7A2B-AB93C90A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ED7FAC65-068B-1736-ABA7-9696E9CED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250701-83B3-B341-E7D5-33B010EAB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BE4B126-F02B-0191-8713-6A8804944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D6F09F4-FF2D-F00A-1021-F7FE0D10B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A8AC654-9949-DE74-3373-018F01AC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709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151B20-90A7-5000-DA57-5B225D812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D6D453C-2007-19CE-AF7B-712989536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B630E08-70F5-F8A3-25B5-CD95CE05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FE31C2B-F9D9-CDA5-34C0-DA2946F8F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58FDEB2-DC07-F3A9-D954-838AF14A7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755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5438DC4-B376-0867-B1E2-8E9C7E6780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649BBCE-A9B5-4FD6-3D64-1157831BE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2CA0CE-FF86-D700-CAF1-5A866364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DF77788-83DE-AC87-8379-58B3FAD8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07D0ED4-E9C7-2334-9E13-332441BC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68625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AF48B5A-1D12-03CC-535C-D3FE51D8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0FCE4A8-883B-A88E-2196-F3AE8158F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00D5CBC-A19A-8C5F-4D64-C6E5707C50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6E56A5E-C608-618F-01EE-4E4D7DD48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CD875FA-9F7C-B703-9174-9830C211E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  <p:sp>
        <p:nvSpPr>
          <p:cNvPr id="900" name="AccentBar"/>
          <p:cNvSpPr/>
          <p:nvPr userDrawn="1"/>
        </p:nvSpPr>
        <p:spPr>
          <a:xfrm>
            <a:off x="457200" y="6477000"/>
            <a:ext cx="1127760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02724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233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ACE8F31-782D-6D41-890F-B864B112E5C2}"/>
              </a:ext>
            </a:extLst>
          </p:cNvPr>
          <p:cNvSpPr/>
          <p:nvPr/>
        </p:nvSpPr>
        <p:spPr>
          <a:xfrm>
            <a:off x="914400" y="1905000"/>
            <a:ext cx="50800" cy="304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6967D3-5CC0-A34C-8253-65A7B45962C4}"/>
              </a:ext>
            </a:extLst>
          </p:cNvPr>
          <p:cNvSpPr txBox="1"/>
          <p:nvPr/>
        </p:nvSpPr>
        <p:spPr>
          <a:xfrm>
            <a:off x="1219200" y="19304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200" b="1" dirty="0">
                <a:solidFill>
                  <a:srgbClr val="156082"/>
                </a:solidFill>
                <a:latin typeface="Calibri"/>
                <a:cs typeface="Calibri"/>
              </a:rPr>
              <a:t>DIAESI-PDCSI ·  2026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6B162B3-2FA2-F241-BF9E-3A43D1486104}"/>
              </a:ext>
            </a:extLst>
          </p:cNvPr>
          <p:cNvSpPr txBox="1"/>
          <p:nvPr/>
        </p:nvSpPr>
        <p:spPr>
          <a:xfrm>
            <a:off x="1219200" y="2387600"/>
            <a:ext cx="9906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Machine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Unlearning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para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IoT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em Edifícios Inteligentes em Comunidades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84519AA-1181-C74A-B364-8A00130F1660}"/>
              </a:ext>
            </a:extLst>
          </p:cNvPr>
          <p:cNvSpPr txBox="1"/>
          <p:nvPr/>
        </p:nvSpPr>
        <p:spPr>
          <a:xfrm>
            <a:off x="1219200" y="3613329"/>
            <a:ext cx="990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i="1" dirty="0">
                <a:solidFill>
                  <a:srgbClr val="2E3B4E"/>
                </a:solidFill>
                <a:latin typeface="Calibri"/>
                <a:cs typeface="Calibri"/>
              </a:rPr>
              <a:t>Restrições operacionais, lacunas dos métodos atuais e oportunidades/direções de investigação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ABCE9B-8A87-DD49-BFA4-4A5DB4CFFA5B}"/>
              </a:ext>
            </a:extLst>
          </p:cNvPr>
          <p:cNvSpPr txBox="1"/>
          <p:nvPr/>
        </p:nvSpPr>
        <p:spPr>
          <a:xfrm>
            <a:off x="1219200" y="5486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A2332"/>
                </a:solidFill>
                <a:latin typeface="Calibri"/>
                <a:cs typeface="Calibri"/>
              </a:rPr>
              <a:t>Rafael Silva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6ED185-A2F5-1B4A-95E1-B7D0C9058EE8}"/>
              </a:ext>
            </a:extLst>
          </p:cNvPr>
          <p:cNvSpPr txBox="1"/>
          <p:nvPr/>
        </p:nvSpPr>
        <p:spPr>
          <a:xfrm>
            <a:off x="1219200" y="5816600"/>
            <a:ext cx="508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2E3B4E"/>
                </a:solidFill>
                <a:latin typeface="Calibri"/>
                <a:cs typeface="Calibri"/>
              </a:rPr>
              <a:t>1190979</a:t>
            </a:r>
          </a:p>
        </p:txBody>
      </p:sp>
    </p:spTree>
    <p:extLst>
      <p:ext uri="{BB962C8B-B14F-4D97-AF65-F5344CB8AC3E}">
        <p14:creationId xmlns:p14="http://schemas.microsoft.com/office/powerpoint/2010/main" val="3582099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8E3E0-CA29-6D28-A872-8555C5F7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 Motivação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A677B35-D073-284C-8B83-C7095296C70B}"/>
              </a:ext>
            </a:extLst>
          </p:cNvPr>
          <p:cNvSpPr/>
          <p:nvPr/>
        </p:nvSpPr>
        <p:spPr>
          <a:xfrm>
            <a:off x="660400" y="2424719"/>
            <a:ext cx="457200" cy="381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F1F2C28-A4D7-464C-A634-5904EB4E9B6B}"/>
              </a:ext>
            </a:extLst>
          </p:cNvPr>
          <p:cNvSpPr txBox="1"/>
          <p:nvPr/>
        </p:nvSpPr>
        <p:spPr>
          <a:xfrm>
            <a:off x="6604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 dirty="0">
                <a:solidFill>
                  <a:srgbClr val="156082"/>
                </a:solidFill>
                <a:latin typeface="Calibri"/>
                <a:cs typeface="Calibri"/>
              </a:rPr>
              <a:t>DADOS GRANULARES E SENSÍVEIS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E8488C9-D99B-464D-8F9C-6B406E6A6D87}"/>
              </a:ext>
            </a:extLst>
          </p:cNvPr>
          <p:cNvSpPr txBox="1"/>
          <p:nvPr/>
        </p:nvSpPr>
        <p:spPr>
          <a:xfrm>
            <a:off x="660400" y="2983519"/>
            <a:ext cx="35560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Padrões de ocupação, consumo energético, sinais biométricos e movimento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0EFA60F-D90D-2640-9544-D96349DDC3B0}"/>
              </a:ext>
            </a:extLst>
          </p:cNvPr>
          <p:cNvSpPr/>
          <p:nvPr/>
        </p:nvSpPr>
        <p:spPr>
          <a:xfrm>
            <a:off x="4521200" y="2424719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EEB0C5-BB98-8642-B072-B21C200899EA}"/>
              </a:ext>
            </a:extLst>
          </p:cNvPr>
          <p:cNvSpPr txBox="1"/>
          <p:nvPr/>
        </p:nvSpPr>
        <p:spPr>
          <a:xfrm>
            <a:off x="45212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 dirty="0">
                <a:solidFill>
                  <a:srgbClr val="E97132"/>
                </a:solidFill>
                <a:latin typeface="Calibri"/>
                <a:cs typeface="Calibri"/>
              </a:rPr>
              <a:t>RISCOS DE PRIVACIDADE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35ECE4-0B54-E944-A4F8-45DD2573EEA9}"/>
              </a:ext>
            </a:extLst>
          </p:cNvPr>
          <p:cNvSpPr txBox="1"/>
          <p:nvPr/>
        </p:nvSpPr>
        <p:spPr>
          <a:xfrm>
            <a:off x="4521200" y="2983519"/>
            <a:ext cx="355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Sujeitos a ataques de inferência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A3CBE61-A312-914D-92A4-6E39DC84EAE6}"/>
              </a:ext>
            </a:extLst>
          </p:cNvPr>
          <p:cNvSpPr/>
          <p:nvPr/>
        </p:nvSpPr>
        <p:spPr>
          <a:xfrm>
            <a:off x="8382000" y="2424719"/>
            <a:ext cx="457200" cy="381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466F98B-47CA-2E45-BDE6-2A6D3D23F9CA}"/>
              </a:ext>
            </a:extLst>
          </p:cNvPr>
          <p:cNvSpPr txBox="1"/>
          <p:nvPr/>
        </p:nvSpPr>
        <p:spPr>
          <a:xfrm>
            <a:off x="83820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96B24"/>
                </a:solidFill>
                <a:latin typeface="Calibri"/>
                <a:cs typeface="Calibri"/>
              </a:rPr>
              <a:t>OBRIGAÇÃO LEGAL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4AA3AA-BF30-EF42-9460-65E33DC8DC90}"/>
              </a:ext>
            </a:extLst>
          </p:cNvPr>
          <p:cNvSpPr txBox="1"/>
          <p:nvPr/>
        </p:nvSpPr>
        <p:spPr>
          <a:xfrm>
            <a:off x="8382000" y="2983519"/>
            <a:ext cx="355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Direito ao esquecimento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E1A9396-1D6E-DD48-A8C8-60AA41A430B1}"/>
              </a:ext>
            </a:extLst>
          </p:cNvPr>
          <p:cNvSpPr/>
          <p:nvPr/>
        </p:nvSpPr>
        <p:spPr>
          <a:xfrm>
            <a:off x="457200" y="5622788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68BB29-1861-844D-8DA7-B46312EDBE1D}"/>
              </a:ext>
            </a:extLst>
          </p:cNvPr>
          <p:cNvSpPr txBox="1"/>
          <p:nvPr/>
        </p:nvSpPr>
        <p:spPr>
          <a:xfrm>
            <a:off x="660400" y="5775188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 dirty="0">
                <a:solidFill>
                  <a:srgbClr val="156082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C706087-3482-DE4C-944B-DA949279670A}"/>
              </a:ext>
            </a:extLst>
          </p:cNvPr>
          <p:cNvSpPr txBox="1"/>
          <p:nvPr/>
        </p:nvSpPr>
        <p:spPr>
          <a:xfrm>
            <a:off x="1168400" y="5724388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mas não para o contexto distribuído dos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049788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28B755-31A6-2BF2-DD43-BEC12B8E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Machine Unlearning: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Exact</a:t>
            </a:r>
            <a:r>
              <a:rPr lang="pt-PT" sz="3200" b="1" dirty="0">
                <a:solidFill>
                  <a:srgbClr val="1A2332"/>
                </a:solidFill>
                <a:latin typeface="Georgia"/>
              </a:rPr>
              <a:t> vs.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Approximate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396072-EFB9-CA45-9692-0A828F64C452}"/>
              </a:ext>
            </a:extLst>
          </p:cNvPr>
          <p:cNvSpPr/>
          <p:nvPr/>
        </p:nvSpPr>
        <p:spPr>
          <a:xfrm>
            <a:off x="457200" y="2032000"/>
            <a:ext cx="1016000" cy="279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EXACT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6E21666-8F6B-0A46-B264-E8A341B046B3}"/>
              </a:ext>
            </a:extLst>
          </p:cNvPr>
          <p:cNvSpPr txBox="1"/>
          <p:nvPr/>
        </p:nvSpPr>
        <p:spPr>
          <a:xfrm>
            <a:off x="4572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Garantia formal de remoção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1D83EA-169A-D44D-AE4C-EAD3BEB8ADF8}"/>
              </a:ext>
            </a:extLst>
          </p:cNvPr>
          <p:cNvSpPr txBox="1"/>
          <p:nvPr/>
        </p:nvSpPr>
        <p:spPr>
          <a:xfrm>
            <a:off x="457200" y="2946400"/>
            <a:ext cx="54864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parcial.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E1CDA24-8C9D-CC4B-A0E1-653E231F8CD8}"/>
              </a:ext>
            </a:extLst>
          </p:cNvPr>
          <p:cNvSpPr txBox="1"/>
          <p:nvPr/>
        </p:nvSpPr>
        <p:spPr>
          <a:xfrm>
            <a:off x="457200" y="3795895"/>
            <a:ext cx="54864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 dirty="0">
                <a:solidFill>
                  <a:srgbClr val="15608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F73D95-F8EE-7E4B-AD0B-5A342420EBBD}"/>
              </a:ext>
            </a:extLst>
          </p:cNvPr>
          <p:cNvSpPr txBox="1"/>
          <p:nvPr/>
        </p:nvSpPr>
        <p:spPr>
          <a:xfrm>
            <a:off x="457200" y="4049895"/>
            <a:ext cx="54864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Requer arquitetura específica desde o início;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Degrada precisão;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Sobrecarga em dispositivos </a:t>
            </a:r>
            <a:r>
              <a:rPr lang="pt-PT" sz="1600" i="1" dirty="0" err="1">
                <a:solidFill>
                  <a:srgbClr val="2E3B4E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701BEDE-A81F-1640-91ED-4609FBC82E35}"/>
              </a:ext>
            </a:extLst>
          </p:cNvPr>
          <p:cNvSpPr/>
          <p:nvPr/>
        </p:nvSpPr>
        <p:spPr>
          <a:xfrm>
            <a:off x="6248400" y="2032000"/>
            <a:ext cx="1016000" cy="279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APPROXIMATE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2F769AF-3817-2344-8566-F408466AB4A6}"/>
              </a:ext>
            </a:extLst>
          </p:cNvPr>
          <p:cNvSpPr txBox="1"/>
          <p:nvPr/>
        </p:nvSpPr>
        <p:spPr>
          <a:xfrm>
            <a:off x="62484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Redução tolerável de influência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A7A24EB-6497-164B-ADDD-1C8D815755D6}"/>
              </a:ext>
            </a:extLst>
          </p:cNvPr>
          <p:cNvSpPr txBox="1"/>
          <p:nvPr/>
        </p:nvSpPr>
        <p:spPr>
          <a:xfrm>
            <a:off x="6248400" y="2946400"/>
            <a:ext cx="54864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CE48C7-C383-3342-B736-8BBCBDD5B5B8}"/>
              </a:ext>
            </a:extLst>
          </p:cNvPr>
          <p:cNvSpPr txBox="1"/>
          <p:nvPr/>
        </p:nvSpPr>
        <p:spPr>
          <a:xfrm>
            <a:off x="6248400" y="3795895"/>
            <a:ext cx="54864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 dirty="0">
                <a:solidFill>
                  <a:srgbClr val="E9713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0F17D5-7E51-944F-8BB3-90C60269DA03}"/>
              </a:ext>
            </a:extLst>
          </p:cNvPr>
          <p:cNvSpPr txBox="1"/>
          <p:nvPr/>
        </p:nvSpPr>
        <p:spPr>
          <a:xfrm>
            <a:off x="6248400" y="4049895"/>
            <a:ext cx="54864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Sem garantia da eliminação total;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Vulnerável a ataques de reconstrução;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Difícil de auditar.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74179A9-96B0-A346-9A90-E2F197B0C4A4}"/>
              </a:ext>
            </a:extLst>
          </p:cNvPr>
          <p:cNvSpPr/>
          <p:nvPr/>
        </p:nvSpPr>
        <p:spPr>
          <a:xfrm>
            <a:off x="457200" y="58420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705BF2C-7CEF-8B43-ADE1-AA1175D95470}"/>
              </a:ext>
            </a:extLst>
          </p:cNvPr>
          <p:cNvSpPr txBox="1"/>
          <p:nvPr/>
        </p:nvSpPr>
        <p:spPr>
          <a:xfrm>
            <a:off x="660400" y="5892800"/>
            <a:ext cx="108712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 dirty="0" err="1">
                <a:solidFill>
                  <a:srgbClr val="1A2332"/>
                </a:solidFill>
                <a:latin typeface="Calibri"/>
                <a:cs typeface="Calibri"/>
              </a:rPr>
              <a:t>Trade-off</a:t>
            </a:r>
            <a:r>
              <a:rPr lang="pt-PT" sz="1300" i="1" dirty="0">
                <a:solidFill>
                  <a:srgbClr val="1A2332"/>
                </a:solidFill>
                <a:latin typeface="Calibri"/>
                <a:cs typeface="Calibri"/>
              </a:rPr>
              <a:t> entre garantia, custo computacional e flexibilidade de implementação.</a:t>
            </a:r>
          </a:p>
        </p:txBody>
      </p:sp>
    </p:spTree>
    <p:extLst>
      <p:ext uri="{BB962C8B-B14F-4D97-AF65-F5344CB8AC3E}">
        <p14:creationId xmlns:p14="http://schemas.microsoft.com/office/powerpoint/2010/main" val="341621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672268-D0E6-77F2-DDC7-9A204E90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latin typeface="Georgia"/>
              </a:rPr>
              <a:t>Arquitetura IoT em Três Camadas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90B106A4-728A-3345-8B35-1E59BF5B7A6C}"/>
              </a:ext>
            </a:extLst>
          </p:cNvPr>
          <p:cNvSpPr/>
          <p:nvPr/>
        </p:nvSpPr>
        <p:spPr>
          <a:xfrm>
            <a:off x="7289801" y="1885380"/>
            <a:ext cx="4292600" cy="1325564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C5F5A71-2E41-764C-BC76-16827DED224D}"/>
              </a:ext>
            </a:extLst>
          </p:cNvPr>
          <p:cNvSpPr txBox="1"/>
          <p:nvPr/>
        </p:nvSpPr>
        <p:spPr>
          <a:xfrm>
            <a:off x="7569200" y="2082800"/>
            <a:ext cx="3962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300" b="1" dirty="0">
                <a:solidFill>
                  <a:srgbClr val="E97132"/>
                </a:solidFill>
                <a:latin typeface="Calibri"/>
              </a:rPr>
              <a:t>IMPLICAÇÃO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DFC31B3A-BFF8-F542-B160-36059BEB32C3}"/>
              </a:ext>
            </a:extLst>
          </p:cNvPr>
          <p:cNvSpPr txBox="1"/>
          <p:nvPr/>
        </p:nvSpPr>
        <p:spPr>
          <a:xfrm>
            <a:off x="7442201" y="2501901"/>
            <a:ext cx="4066476" cy="543916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pt-PT" sz="1400" dirty="0">
                <a:solidFill>
                  <a:srgbClr val="1A2332"/>
                </a:solidFill>
              </a:rPr>
              <a:t>Um pedido de esquecimento tem de se propagar pelas três camadas. </a:t>
            </a:r>
          </a:p>
        </p:txBody>
      </p:sp>
      <p:sp>
        <p:nvSpPr>
          <p:cNvPr id="3" name="Nuvem 2">
            <a:extLst>
              <a:ext uri="{FF2B5EF4-FFF2-40B4-BE49-F238E27FC236}">
                <a16:creationId xmlns:a16="http://schemas.microsoft.com/office/drawing/2014/main" id="{E6B41E85-1F4A-53D9-E9F5-B67E69310A98}"/>
              </a:ext>
            </a:extLst>
          </p:cNvPr>
          <p:cNvSpPr/>
          <p:nvPr/>
        </p:nvSpPr>
        <p:spPr>
          <a:xfrm>
            <a:off x="2538142" y="1782676"/>
            <a:ext cx="1587809" cy="100513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D631B9D5-4BC0-E61B-872F-A1C121BC8BFF}"/>
              </a:ext>
            </a:extLst>
          </p:cNvPr>
          <p:cNvSpPr/>
          <p:nvPr/>
        </p:nvSpPr>
        <p:spPr>
          <a:xfrm>
            <a:off x="1773625" y="3315405"/>
            <a:ext cx="1133088" cy="61652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/>
              <a:t>SBC1</a:t>
            </a:r>
          </a:p>
        </p:txBody>
      </p:sp>
      <p:sp>
        <p:nvSpPr>
          <p:cNvPr id="8" name="Retângulo Arredondado 7">
            <a:extLst>
              <a:ext uri="{FF2B5EF4-FFF2-40B4-BE49-F238E27FC236}">
                <a16:creationId xmlns:a16="http://schemas.microsoft.com/office/drawing/2014/main" id="{53E563E9-FDED-EE36-43CC-49168816A883}"/>
              </a:ext>
            </a:extLst>
          </p:cNvPr>
          <p:cNvSpPr/>
          <p:nvPr/>
        </p:nvSpPr>
        <p:spPr>
          <a:xfrm>
            <a:off x="4305147" y="3120739"/>
            <a:ext cx="1133088" cy="61652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/>
              <a:t>SBC2</a:t>
            </a:r>
          </a:p>
        </p:txBody>
      </p: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B4507F0A-09D1-B0A4-3C81-6394EB607DDD}"/>
              </a:ext>
            </a:extLst>
          </p:cNvPr>
          <p:cNvGrpSpPr/>
          <p:nvPr/>
        </p:nvGrpSpPr>
        <p:grpSpPr>
          <a:xfrm>
            <a:off x="5717081" y="4554278"/>
            <a:ext cx="668005" cy="695844"/>
            <a:chOff x="5690913" y="3108339"/>
            <a:chExt cx="668005" cy="6958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22C26E-55EA-9E3F-FFE9-363716707316}"/>
                </a:ext>
              </a:extLst>
            </p:cNvPr>
            <p:cNvSpPr/>
            <p:nvPr/>
          </p:nvSpPr>
          <p:spPr>
            <a:xfrm>
              <a:off x="5690913" y="3108339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326C4AB2-6357-2C9C-3A3B-79388D9A3A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88829" y="3272639"/>
              <a:ext cx="472171" cy="367244"/>
            </a:xfrm>
            <a:prstGeom prst="rect">
              <a:avLst/>
            </a:prstGeom>
          </p:spPr>
        </p:pic>
      </p:grpSp>
      <p:grpSp>
        <p:nvGrpSpPr>
          <p:cNvPr id="61" name="Agrupar 60">
            <a:extLst>
              <a:ext uri="{FF2B5EF4-FFF2-40B4-BE49-F238E27FC236}">
                <a16:creationId xmlns:a16="http://schemas.microsoft.com/office/drawing/2014/main" id="{407DA055-34DE-2C76-AB3D-A91B3A52B341}"/>
              </a:ext>
            </a:extLst>
          </p:cNvPr>
          <p:cNvGrpSpPr/>
          <p:nvPr/>
        </p:nvGrpSpPr>
        <p:grpSpPr>
          <a:xfrm>
            <a:off x="5049076" y="5177593"/>
            <a:ext cx="668005" cy="695844"/>
            <a:chOff x="5079342" y="3998924"/>
            <a:chExt cx="668005" cy="695844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F61855E-5B80-E91C-2000-FE6A1258A77E}"/>
                </a:ext>
              </a:extLst>
            </p:cNvPr>
            <p:cNvSpPr/>
            <p:nvPr/>
          </p:nvSpPr>
          <p:spPr>
            <a:xfrm>
              <a:off x="5079342" y="3998924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6" name="Imagem 45">
              <a:extLst>
                <a:ext uri="{FF2B5EF4-FFF2-40B4-BE49-F238E27FC236}">
                  <a16:creationId xmlns:a16="http://schemas.microsoft.com/office/drawing/2014/main" id="{0FD73058-96C1-DD86-1879-BEE8665C0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0877" y="4097823"/>
              <a:ext cx="365953" cy="478554"/>
            </a:xfrm>
            <a:prstGeom prst="rect">
              <a:avLst/>
            </a:prstGeom>
          </p:spPr>
        </p:pic>
      </p:grpSp>
      <p:grpSp>
        <p:nvGrpSpPr>
          <p:cNvPr id="59" name="Agrupar 58">
            <a:extLst>
              <a:ext uri="{FF2B5EF4-FFF2-40B4-BE49-F238E27FC236}">
                <a16:creationId xmlns:a16="http://schemas.microsoft.com/office/drawing/2014/main" id="{2D0E1AE6-3E5E-51E2-F903-D4CB39B54F7F}"/>
              </a:ext>
            </a:extLst>
          </p:cNvPr>
          <p:cNvGrpSpPr/>
          <p:nvPr/>
        </p:nvGrpSpPr>
        <p:grpSpPr>
          <a:xfrm>
            <a:off x="2797032" y="4666695"/>
            <a:ext cx="668005" cy="695844"/>
            <a:chOff x="2976547" y="4694768"/>
            <a:chExt cx="668005" cy="695844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B7E6879-1F53-0660-F812-890A8F108EF2}"/>
                </a:ext>
              </a:extLst>
            </p:cNvPr>
            <p:cNvSpPr/>
            <p:nvPr/>
          </p:nvSpPr>
          <p:spPr>
            <a:xfrm>
              <a:off x="2976547" y="469476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7" name="Imagem 46">
              <a:extLst>
                <a:ext uri="{FF2B5EF4-FFF2-40B4-BE49-F238E27FC236}">
                  <a16:creationId xmlns:a16="http://schemas.microsoft.com/office/drawing/2014/main" id="{2669D873-4542-768E-2A73-070805186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01740" y="4813305"/>
              <a:ext cx="417671" cy="484119"/>
            </a:xfrm>
            <a:prstGeom prst="rect">
              <a:avLst/>
            </a:prstGeom>
          </p:spPr>
        </p:pic>
      </p:grpSp>
      <p:grpSp>
        <p:nvGrpSpPr>
          <p:cNvPr id="58" name="Agrupar 57">
            <a:extLst>
              <a:ext uri="{FF2B5EF4-FFF2-40B4-BE49-F238E27FC236}">
                <a16:creationId xmlns:a16="http://schemas.microsoft.com/office/drawing/2014/main" id="{044E3615-23DC-8B6B-EB09-1C189C927525}"/>
              </a:ext>
            </a:extLst>
          </p:cNvPr>
          <p:cNvGrpSpPr/>
          <p:nvPr/>
        </p:nvGrpSpPr>
        <p:grpSpPr>
          <a:xfrm>
            <a:off x="2005200" y="5257972"/>
            <a:ext cx="668005" cy="695844"/>
            <a:chOff x="2231260" y="4716098"/>
            <a:chExt cx="668005" cy="695844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BD631A9-CEBA-0FCA-2D9C-40863CFA2220}"/>
                </a:ext>
              </a:extLst>
            </p:cNvPr>
            <p:cNvSpPr/>
            <p:nvPr/>
          </p:nvSpPr>
          <p:spPr>
            <a:xfrm>
              <a:off x="2231260" y="471609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8" name="Imagem 47">
              <a:extLst>
                <a:ext uri="{FF2B5EF4-FFF2-40B4-BE49-F238E27FC236}">
                  <a16:creationId xmlns:a16="http://schemas.microsoft.com/office/drawing/2014/main" id="{637265AE-91A1-40C5-8913-761B3604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6194" y="4849738"/>
              <a:ext cx="498135" cy="411251"/>
            </a:xfrm>
            <a:prstGeom prst="rect">
              <a:avLst/>
            </a:prstGeom>
          </p:spPr>
        </p:pic>
      </p:grp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736E1F05-BE88-42C4-327A-EFC12644DAA5}"/>
              </a:ext>
            </a:extLst>
          </p:cNvPr>
          <p:cNvGrpSpPr/>
          <p:nvPr/>
        </p:nvGrpSpPr>
        <p:grpSpPr>
          <a:xfrm>
            <a:off x="4212202" y="4777385"/>
            <a:ext cx="668005" cy="695844"/>
            <a:chOff x="4252472" y="3968158"/>
            <a:chExt cx="668005" cy="695844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3D2FFEF-302B-9C52-818B-4CB4DCB2F70B}"/>
                </a:ext>
              </a:extLst>
            </p:cNvPr>
            <p:cNvSpPr/>
            <p:nvPr/>
          </p:nvSpPr>
          <p:spPr>
            <a:xfrm>
              <a:off x="4252472" y="396815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9" name="Imagem 48">
              <a:extLst>
                <a:ext uri="{FF2B5EF4-FFF2-40B4-BE49-F238E27FC236}">
                  <a16:creationId xmlns:a16="http://schemas.microsoft.com/office/drawing/2014/main" id="{49BF73B6-637F-E250-3AAE-DEFCA7CDA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85739" y="4096316"/>
              <a:ext cx="403331" cy="439528"/>
            </a:xfrm>
            <a:prstGeom prst="rect">
              <a:avLst/>
            </a:prstGeom>
          </p:spPr>
        </p:pic>
      </p:grpSp>
      <p:grpSp>
        <p:nvGrpSpPr>
          <p:cNvPr id="57" name="Agrupar 56">
            <a:extLst>
              <a:ext uri="{FF2B5EF4-FFF2-40B4-BE49-F238E27FC236}">
                <a16:creationId xmlns:a16="http://schemas.microsoft.com/office/drawing/2014/main" id="{83F2A707-3504-3021-BA53-F03A94DC9DB3}"/>
              </a:ext>
            </a:extLst>
          </p:cNvPr>
          <p:cNvGrpSpPr/>
          <p:nvPr/>
        </p:nvGrpSpPr>
        <p:grpSpPr>
          <a:xfrm>
            <a:off x="1320080" y="4560234"/>
            <a:ext cx="668005" cy="695844"/>
            <a:chOff x="1068687" y="4187922"/>
            <a:chExt cx="668005" cy="695844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96334C3-E0E3-5731-1A82-9EF04AD84A62}"/>
                </a:ext>
              </a:extLst>
            </p:cNvPr>
            <p:cNvSpPr/>
            <p:nvPr/>
          </p:nvSpPr>
          <p:spPr>
            <a:xfrm>
              <a:off x="1068687" y="4187922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3EBB1208-3146-2793-7037-3ED57D6BFC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30222" y="4286821"/>
              <a:ext cx="365953" cy="478554"/>
            </a:xfrm>
            <a:prstGeom prst="rect">
              <a:avLst/>
            </a:prstGeom>
          </p:spPr>
        </p:pic>
      </p:grpSp>
      <p:sp>
        <p:nvSpPr>
          <p:cNvPr id="63" name="Retângulo 62">
            <a:extLst>
              <a:ext uri="{FF2B5EF4-FFF2-40B4-BE49-F238E27FC236}">
                <a16:creationId xmlns:a16="http://schemas.microsoft.com/office/drawing/2014/main" id="{4D27F77E-8F20-7B6D-6BE3-2386009F5AA9}"/>
              </a:ext>
            </a:extLst>
          </p:cNvPr>
          <p:cNvSpPr/>
          <p:nvPr/>
        </p:nvSpPr>
        <p:spPr>
          <a:xfrm>
            <a:off x="703376" y="4238765"/>
            <a:ext cx="300857" cy="189502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PERCEPTION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CC5A5EB7-13D0-E985-9764-9A1C8F5BB149}"/>
              </a:ext>
            </a:extLst>
          </p:cNvPr>
          <p:cNvSpPr/>
          <p:nvPr/>
        </p:nvSpPr>
        <p:spPr>
          <a:xfrm>
            <a:off x="703376" y="3045816"/>
            <a:ext cx="300857" cy="113425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EDGE</a:t>
            </a:r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3614FE79-D157-00EC-42C5-22BDD0EF34C7}"/>
              </a:ext>
            </a:extLst>
          </p:cNvPr>
          <p:cNvSpPr/>
          <p:nvPr/>
        </p:nvSpPr>
        <p:spPr>
          <a:xfrm>
            <a:off x="703376" y="1751566"/>
            <a:ext cx="300857" cy="1233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CLOUD</a:t>
            </a:r>
          </a:p>
        </p:txBody>
      </p:sp>
      <p:cxnSp>
        <p:nvCxnSpPr>
          <p:cNvPr id="69" name="Conexão em Ângulos Retos 68">
            <a:extLst>
              <a:ext uri="{FF2B5EF4-FFF2-40B4-BE49-F238E27FC236}">
                <a16:creationId xmlns:a16="http://schemas.microsoft.com/office/drawing/2014/main" id="{92C07DD8-A603-7DF6-654F-B8EA804F047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0800000" flipV="1">
            <a:off x="2340169" y="2285241"/>
            <a:ext cx="202898" cy="103016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exão em Ângulos Retos 69">
            <a:extLst>
              <a:ext uri="{FF2B5EF4-FFF2-40B4-BE49-F238E27FC236}">
                <a16:creationId xmlns:a16="http://schemas.microsoft.com/office/drawing/2014/main" id="{D575F286-292B-AE24-7E10-0D133096FBDA}"/>
              </a:ext>
            </a:extLst>
          </p:cNvPr>
          <p:cNvCxnSpPr>
            <a:cxnSpLocks/>
            <a:stCxn id="3" idx="0"/>
            <a:endCxn id="8" idx="0"/>
          </p:cNvCxnSpPr>
          <p:nvPr/>
        </p:nvCxnSpPr>
        <p:spPr>
          <a:xfrm>
            <a:off x="4124628" y="2285241"/>
            <a:ext cx="747063" cy="8354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Conexão em Ângulos Retos 72">
            <a:extLst>
              <a:ext uri="{FF2B5EF4-FFF2-40B4-BE49-F238E27FC236}">
                <a16:creationId xmlns:a16="http://schemas.microsoft.com/office/drawing/2014/main" id="{54EF52F0-6159-667E-7889-EE96CFB9E552}"/>
              </a:ext>
            </a:extLst>
          </p:cNvPr>
          <p:cNvCxnSpPr>
            <a:cxnSpLocks/>
            <a:stCxn id="4" idx="2"/>
            <a:endCxn id="52" idx="2"/>
          </p:cNvCxnSpPr>
          <p:nvPr/>
        </p:nvCxnSpPr>
        <p:spPr>
          <a:xfrm rot="16200000" flipH="1">
            <a:off x="2027255" y="4244839"/>
            <a:ext cx="1082691" cy="4568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exão em Ângulos Retos 75">
            <a:extLst>
              <a:ext uri="{FF2B5EF4-FFF2-40B4-BE49-F238E27FC236}">
                <a16:creationId xmlns:a16="http://schemas.microsoft.com/office/drawing/2014/main" id="{0733A680-B76F-E2A3-85E3-FC5B0572FAA6}"/>
              </a:ext>
            </a:extLst>
          </p:cNvPr>
          <p:cNvCxnSpPr>
            <a:cxnSpLocks/>
            <a:stCxn id="4" idx="2"/>
            <a:endCxn id="51" idx="0"/>
          </p:cNvCxnSpPr>
          <p:nvPr/>
        </p:nvCxnSpPr>
        <p:spPr>
          <a:xfrm rot="5400000">
            <a:off x="1676663" y="4594466"/>
            <a:ext cx="1326046" cy="9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Conexão em Ângulos Retos 78">
            <a:extLst>
              <a:ext uri="{FF2B5EF4-FFF2-40B4-BE49-F238E27FC236}">
                <a16:creationId xmlns:a16="http://schemas.microsoft.com/office/drawing/2014/main" id="{254B23C3-E79E-BACA-D787-06E312BA8807}"/>
              </a:ext>
            </a:extLst>
          </p:cNvPr>
          <p:cNvCxnSpPr>
            <a:cxnSpLocks/>
            <a:stCxn id="4" idx="2"/>
            <a:endCxn id="55" idx="6"/>
          </p:cNvCxnSpPr>
          <p:nvPr/>
        </p:nvCxnSpPr>
        <p:spPr>
          <a:xfrm rot="5400000">
            <a:off x="1676012" y="4243999"/>
            <a:ext cx="976230" cy="3520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xão em Ângulos Retos 81">
            <a:extLst>
              <a:ext uri="{FF2B5EF4-FFF2-40B4-BE49-F238E27FC236}">
                <a16:creationId xmlns:a16="http://schemas.microsoft.com/office/drawing/2014/main" id="{8596FF15-AB31-A8B0-0525-8A3293CF472F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rot="5400000">
            <a:off x="4188886" y="4094579"/>
            <a:ext cx="1040125" cy="3254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Conexão em Ângulos Retos 84">
            <a:extLst>
              <a:ext uri="{FF2B5EF4-FFF2-40B4-BE49-F238E27FC236}">
                <a16:creationId xmlns:a16="http://schemas.microsoft.com/office/drawing/2014/main" id="{6871268D-EA51-5920-477E-9110DF2E1C7F}"/>
              </a:ext>
            </a:extLst>
          </p:cNvPr>
          <p:cNvCxnSpPr>
            <a:cxnSpLocks/>
            <a:stCxn id="8" idx="2"/>
            <a:endCxn id="54" idx="0"/>
          </p:cNvCxnSpPr>
          <p:nvPr/>
        </p:nvCxnSpPr>
        <p:spPr>
          <a:xfrm rot="16200000" flipH="1">
            <a:off x="4407219" y="4201732"/>
            <a:ext cx="1440333" cy="511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Conexão em Ângulos Retos 87">
            <a:extLst>
              <a:ext uri="{FF2B5EF4-FFF2-40B4-BE49-F238E27FC236}">
                <a16:creationId xmlns:a16="http://schemas.microsoft.com/office/drawing/2014/main" id="{E36949B5-88F9-D954-EE78-B02467AEA29C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16200000" flipH="1">
            <a:off x="5052878" y="3556072"/>
            <a:ext cx="817018" cy="1179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540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CD078-7E1D-C75D-573F-D4B128CE9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Espaços Partilhados: Consentimento e Dados Sobrepostos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673923F-3154-8848-9D73-0EEE65B65528}"/>
              </a:ext>
            </a:extLst>
          </p:cNvPr>
          <p:cNvSpPr/>
          <p:nvPr/>
        </p:nvSpPr>
        <p:spPr>
          <a:xfrm>
            <a:off x="838200" y="20320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5919E0-B42F-264B-A441-85F8E0F22106}"/>
              </a:ext>
            </a:extLst>
          </p:cNvPr>
          <p:cNvSpPr txBox="1"/>
          <p:nvPr/>
        </p:nvSpPr>
        <p:spPr>
          <a:xfrm>
            <a:off x="8382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CONSENTIMENTO POR OCUPANTE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E316F12-FF2C-2F47-88BF-4C293F943D95}"/>
              </a:ext>
            </a:extLst>
          </p:cNvPr>
          <p:cNvSpPr txBox="1"/>
          <p:nvPr/>
        </p:nvSpPr>
        <p:spPr>
          <a:xfrm>
            <a:off x="838200" y="2590800"/>
            <a:ext cx="3556000" cy="58972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Cada ocupante concede o seu consentimento separadamente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1D93909-060F-684A-8261-349B294CAFD3}"/>
              </a:ext>
            </a:extLst>
          </p:cNvPr>
          <p:cNvSpPr/>
          <p:nvPr/>
        </p:nvSpPr>
        <p:spPr>
          <a:xfrm>
            <a:off x="4145722" y="36322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C8B1BA-7A8A-AB4D-BEFF-39191BF6C5F2}"/>
              </a:ext>
            </a:extLst>
          </p:cNvPr>
          <p:cNvSpPr txBox="1"/>
          <p:nvPr/>
        </p:nvSpPr>
        <p:spPr>
          <a:xfrm>
            <a:off x="4145722" y="37846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REGISTOS QUE SE SOBREPÕEM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0F7016F-34C5-AF41-9EB5-62B0FF198476}"/>
              </a:ext>
            </a:extLst>
          </p:cNvPr>
          <p:cNvSpPr txBox="1"/>
          <p:nvPr/>
        </p:nvSpPr>
        <p:spPr>
          <a:xfrm>
            <a:off x="4145722" y="4191000"/>
            <a:ext cx="3556000" cy="838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Sensores partilhados recolhem dados que pertencem simultaneamente a vários ocupantes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F912B26-2139-4249-8BD7-FA2DC48DAF69}"/>
              </a:ext>
            </a:extLst>
          </p:cNvPr>
          <p:cNvSpPr/>
          <p:nvPr/>
        </p:nvSpPr>
        <p:spPr>
          <a:xfrm>
            <a:off x="7423426" y="2484506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A97954E-F799-F34F-B194-1D948C682362}"/>
              </a:ext>
            </a:extLst>
          </p:cNvPr>
          <p:cNvSpPr txBox="1"/>
          <p:nvPr/>
        </p:nvSpPr>
        <p:spPr>
          <a:xfrm>
            <a:off x="7423426" y="2636906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ELIMINAÇÃO ENTRELAÇADA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23E6E6F-D593-714B-B165-B28DB6003642}"/>
              </a:ext>
            </a:extLst>
          </p:cNvPr>
          <p:cNvSpPr txBox="1"/>
          <p:nvPr/>
        </p:nvSpPr>
        <p:spPr>
          <a:xfrm>
            <a:off x="7423426" y="3043306"/>
            <a:ext cx="3556000" cy="78657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Eliminar limpamente os dados de um utilizador sem afetar os restantes torna-se quase impossível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EA28E24-B0CE-DB43-931E-7C3B9336C786}"/>
              </a:ext>
            </a:extLst>
          </p:cNvPr>
          <p:cNvSpPr/>
          <p:nvPr/>
        </p:nvSpPr>
        <p:spPr>
          <a:xfrm>
            <a:off x="457200" y="5689600"/>
            <a:ext cx="11277600" cy="711200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F3E2870-2329-1A40-A366-A37205668447}"/>
              </a:ext>
            </a:extLst>
          </p:cNvPr>
          <p:cNvSpPr txBox="1"/>
          <p:nvPr/>
        </p:nvSpPr>
        <p:spPr>
          <a:xfrm>
            <a:off x="660400" y="58420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2000" b="1">
                <a:solidFill>
                  <a:srgbClr val="E97132"/>
                </a:solidFill>
                <a:latin typeface="Calibri"/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16F1E91-C5F6-904F-8927-EA5C720F1BB5}"/>
              </a:ext>
            </a:extLst>
          </p:cNvPr>
          <p:cNvSpPr txBox="1"/>
          <p:nvPr/>
        </p:nvSpPr>
        <p:spPr>
          <a:xfrm>
            <a:off x="1066800" y="5879348"/>
            <a:ext cx="10185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Restrição operacional fundamental: o consentimento não é uniforme nem isolável</a:t>
            </a:r>
          </a:p>
        </p:txBody>
      </p:sp>
    </p:spTree>
    <p:extLst>
      <p:ext uri="{BB962C8B-B14F-4D97-AF65-F5344CB8AC3E}">
        <p14:creationId xmlns:p14="http://schemas.microsoft.com/office/powerpoint/2010/main" val="2687980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CD7D-EDB8-ECEE-76A5-606BBAB4F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Soluções existentes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8E3F19-FBC5-9E4C-B1E6-3ED1C4534B79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D48959-1728-7347-993F-C61D0B2EDB02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184BD4-F3E7-2B48-8C4A-BFD65A8966C5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D3E30D0-2599-A942-A217-9D39744850E2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88EDD-D1BA-FA40-A079-2EC42A19EC6C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FBD369-B115-1C43-A393-D67DBBBEC643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AB6FAD-9449-CC4B-9ED6-306D44CFDD80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9CA3D0A-09EB-EB43-BF41-65E97832289D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0FDB3-DBD9-F649-A2F4-BCF6D6C350AB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71E99C5-B9BF-F740-A41C-3509C6C0B5ED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D6DC01-D840-5D46-B87D-73F83753E4DB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E351DA-16B2-F94C-B35E-85B3772D5473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60CDFC9-C3CB-D94B-B2B6-115E7880885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33E0559-1761-E243-B0DE-AE9A5C08EB53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D3DD648-369B-AC40-920C-BA7E760DBFCF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43101C0-B100-5841-BBBF-63C6420ED9F5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0A9343A-0013-8448-9072-90A901859562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16EB79D-66EF-914C-BAD3-2CC63F2054F3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</p:spTree>
    <p:extLst>
      <p:ext uri="{BB962C8B-B14F-4D97-AF65-F5344CB8AC3E}">
        <p14:creationId xmlns:p14="http://schemas.microsoft.com/office/powerpoint/2010/main" val="648648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AEC4D-F2AC-083B-2037-6B6CBA517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35D84E-5EBF-2086-5DAD-7847AFBD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existente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7FEE44C-41AA-78A5-0280-E0CCC40F5132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5C112F-D561-F1C2-8CBC-DBDEF6D7FAC8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DAB830F-6694-7B41-73E0-E654FBCE80AC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91136B9-B846-667F-CC44-A0F5DA6DD1D6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B9B4437-4FC3-F69B-C886-ECE1F4DF0D00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EE4CE32-1473-89B4-D682-46EE90CB16EC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A0E5DF6-F052-558C-D490-4304CEC6E5C9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488BFE7-66C4-DACC-20BA-CF4DA0A68BB2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0C4A827-6DB8-118C-93E1-1E2D263504AE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04E2E55-75C7-0CCF-C9BD-7C6E8111E0FC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C71D517-C2AC-1684-9CED-2485F177C8B0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D388D99-E605-4958-CC52-3F081183B41C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48D79A-679F-58FF-07EB-37BCCA71D82C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0FABCA9-C97C-95EF-72EA-E0406A1F08DA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AADD22A-5CA2-9A4B-E939-50A65D99D56F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061D867-BCFE-75A0-78D4-3A2DE9F9BC69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AD484A6-315A-D88B-2F64-8F8290C96CFC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7366344-C9B6-AE96-AA00-81E1CE224B5D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9EA5D6B-4E3C-D77C-AAD0-694E00CF440A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leque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740155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C5FF-1ACB-2D9C-923C-DEF6A27F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FE11AB-406D-CF9A-78CC-4BAEC0E90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FBD6E7B-5EDD-D000-BB7E-325A4F1508DA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541D66-9DA3-23D7-FB7F-C5F0440BC657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3A06772-A486-6DD1-B424-28FFCE8FD1C2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B6919AC-53AC-2E9F-F144-12CEC523C281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F301A9A-890A-69F8-1104-358948CE506B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73A8999-73D4-4984-D5D5-1A28B741E6C6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1D8DECC-B825-417B-26FB-4061636D9303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0A3F12D-3262-69C7-9886-05D017345519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FFE374C-F630-F2B9-3C69-61EEDB44DCC4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948D374-90D4-6698-B7C3-CF5B28250A69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581A5A8-DAB9-EDA5-B2F7-ED87E3D10486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6D1DC4-39C9-CF06-82EA-5BFC2352FB2A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00A2FB6-AE59-4615-B2D1-6239F9994FAB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870B2C1-DD29-6B52-FC49-85A9B3208B7B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B82CE14-373C-3458-6F25-25A150AF36FA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1F9F3311-745F-7AA5-C7E0-3B2E160DF849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00D152E-CFF2-476D-FA77-EBCEF39EE5F8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5FF84B5-6FA7-F286-D97C-EB2549867B2B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93B3F76E-30F3-CF44-0EEA-09CAAB3039B2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0D9323D-5155-3B6B-6A7E-CD347F551F6F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C4C37E9-C1FB-482D-D497-AC22F49566DA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38251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D221-B55E-8589-FB8D-30A91F4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6D7F-B8BE-51B8-CB21-520704365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38972A7-8D02-6B75-3FB9-74F21D66FB01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F4EB14B-AFE9-FDE1-2C03-893A0C0FD170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142D295-5514-1365-E8DF-225881E61C43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C1026A-1E91-4628-0BF3-928C1E114158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9E757F2-BD04-9040-8E7A-1A8594D47668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87E8D6-9AB8-55E8-3D47-8B3F06A1A2F0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F84D60E2-2102-0C46-ED2B-77C55335C18B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AB9B6D6-257F-5E5B-DF1B-5925C213958A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150B0C-6332-EBA7-5CBE-35C2E522363C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3E848BA-4E44-0365-2DD9-EFDCC4314C70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1CC718A-F5FE-06C5-3D54-E202D599779E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FB6B181-E29A-D321-565B-6E1A13B1144D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75F07B4-4A9F-0FBF-4E96-5F861B4A59C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6810AA6-105F-E19D-AACE-2E65AB41A604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5038688-E652-75B6-B0A0-483AC4BCC788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D731850D-9665-E046-0999-05659C3E7F5D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07773E8-16BE-C0B5-A186-247A43A03309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53B9C94-7F26-B294-A87A-525EA96FBC95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DD034408-B558-255B-767D-E9F22AA98E0E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86A64DC-C62A-7023-220F-4254070D11D8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5C60DEC6-C05B-EBC7-C1BA-1CF385DED753}"/>
              </a:ext>
            </a:extLst>
          </p:cNvPr>
          <p:cNvSpPr/>
          <p:nvPr/>
        </p:nvSpPr>
        <p:spPr>
          <a:xfrm>
            <a:off x="4318000" y="5315227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D070B7BF-31F7-E320-00D0-FA5094648E74}"/>
              </a:ext>
            </a:extLst>
          </p:cNvPr>
          <p:cNvSpPr txBox="1"/>
          <p:nvPr/>
        </p:nvSpPr>
        <p:spPr>
          <a:xfrm>
            <a:off x="4407971" y="5435025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Multi-tenancy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coordenação entre camadas, modelos partilhados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C11F41D-890D-6441-FA54-B3AD1FD4F334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820668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F306-CE9A-537F-83E2-81BE36024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55031-FE77-EE7D-79FE-7846014D1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94C7125-86A0-0E4D-DA1B-7C7537F10B2F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513B7E-594B-80CF-9ACE-366BD50C8208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043C43F-D14F-680C-E120-14396849CFFA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5632E25-6FAB-D7E5-912A-DC332049078F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7A12741-A297-17A0-3104-10449B550A20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08DC9E-46AB-5BEF-0323-CF876898CB5C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AF837EA-FA93-2173-8C67-D7178557683D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0A1F4F8-A128-4933-08B0-A13C898D3F90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15B07E4-95D3-2236-42C6-5B84208A5E79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B549D2A-8773-FB55-C4C1-87AD3F808B25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F4FCDE7-3F16-B0AD-E6F4-382AC2413E9F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DC9890E-8171-F65D-6FA6-157AA9EFC67C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BC6904A3-BCD7-E000-663E-0494E862788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656EC7E-BD9E-75F2-1BE7-A92D13ADD306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4E9E209-405D-4ECA-29BC-22B4F800A808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FD7E1FC-1344-D610-3498-7D69E86658A3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3DAA24B-8D0C-96C6-B1C7-79D49E4362EA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B5BBA76-D5E0-7A7C-9EF9-F16DB9066E52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25681A46-B198-0BD4-F674-1DAAAF5F5565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B598C76-8C26-9EB3-8EB9-C7AC505F345E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C110B207-4ECF-B9F3-7BD4-A6E46BF6F700}"/>
              </a:ext>
            </a:extLst>
          </p:cNvPr>
          <p:cNvSpPr/>
          <p:nvPr/>
        </p:nvSpPr>
        <p:spPr>
          <a:xfrm>
            <a:off x="4318000" y="5315227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BBCC2C8-4EFA-8154-6C7F-53A3BB61DA07}"/>
              </a:ext>
            </a:extLst>
          </p:cNvPr>
          <p:cNvSpPr txBox="1"/>
          <p:nvPr/>
        </p:nvSpPr>
        <p:spPr>
          <a:xfrm>
            <a:off x="4407971" y="5435025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Multi-tenancy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coordenação entre camadas, modelos partilhados</a:t>
            </a:r>
          </a:p>
        </p:txBody>
      </p:sp>
      <p:sp>
        <p:nvSpPr>
          <p:cNvPr id="26" name="Retângulo Arredondado 25">
            <a:extLst>
              <a:ext uri="{FF2B5EF4-FFF2-40B4-BE49-F238E27FC236}">
                <a16:creationId xmlns:a16="http://schemas.microsoft.com/office/drawing/2014/main" id="{035CAC03-57E7-D73A-969F-82783F58B3DE}"/>
              </a:ext>
            </a:extLst>
          </p:cNvPr>
          <p:cNvSpPr/>
          <p:nvPr/>
        </p:nvSpPr>
        <p:spPr>
          <a:xfrm>
            <a:off x="81788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B073975-976E-518C-D78F-6C085A011E78}"/>
              </a:ext>
            </a:extLst>
          </p:cNvPr>
          <p:cNvSpPr txBox="1"/>
          <p:nvPr/>
        </p:nvSpPr>
        <p:spPr>
          <a:xfrm>
            <a:off x="8331200" y="5416699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Garantia de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erasure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 enfraquecida, clientes offline, sem certificação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EAFE58D-8B8E-7124-DC92-F191116CC34E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238529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52685-EEDA-3D69-3E46-D4D43E2FE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Conclusão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E9680A7-A798-EB4F-9A16-720894964DB0}"/>
              </a:ext>
            </a:extLst>
          </p:cNvPr>
          <p:cNvSpPr/>
          <p:nvPr/>
        </p:nvSpPr>
        <p:spPr>
          <a:xfrm>
            <a:off x="1905000" y="3149600"/>
            <a:ext cx="660400" cy="6604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ACB55E4-8882-B34D-AA4C-D5C13B32944F}"/>
              </a:ext>
            </a:extLst>
          </p:cNvPr>
          <p:cNvSpPr txBox="1"/>
          <p:nvPr/>
        </p:nvSpPr>
        <p:spPr>
          <a:xfrm>
            <a:off x="4572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56082"/>
                </a:solidFill>
                <a:latin typeface="Georgia"/>
              </a:rPr>
              <a:t>Escalabilidade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1B271A0-DCA7-144A-B43F-8F2AFE211EEE}"/>
              </a:ext>
            </a:extLst>
          </p:cNvPr>
          <p:cNvSpPr txBox="1"/>
          <p:nvPr/>
        </p:nvSpPr>
        <p:spPr>
          <a:xfrm>
            <a:off x="457200" y="4318000"/>
            <a:ext cx="3556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Mecanismos de remoção que funcionem nas capacidades computacionais de dispositivos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endParaRPr lang="pt-PT" sz="14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15DE8B-DDC7-1C45-BB89-29C411889968}"/>
              </a:ext>
            </a:extLst>
          </p:cNvPr>
          <p:cNvSpPr/>
          <p:nvPr/>
        </p:nvSpPr>
        <p:spPr>
          <a:xfrm>
            <a:off x="5765800" y="3149600"/>
            <a:ext cx="660400" cy="6604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5D6C62E-2312-B342-A6C3-075830E885C8}"/>
              </a:ext>
            </a:extLst>
          </p:cNvPr>
          <p:cNvSpPr txBox="1"/>
          <p:nvPr/>
        </p:nvSpPr>
        <p:spPr>
          <a:xfrm>
            <a:off x="43180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E97132"/>
                </a:solidFill>
                <a:latin typeface="Georgia"/>
              </a:rPr>
              <a:t>Verificação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6523AA0-022C-154C-8804-9E925EF75963}"/>
              </a:ext>
            </a:extLst>
          </p:cNvPr>
          <p:cNvSpPr txBox="1"/>
          <p:nvPr/>
        </p:nvSpPr>
        <p:spPr>
          <a:xfrm>
            <a:off x="4318000" y="4318000"/>
            <a:ext cx="355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Framework standard que torne os métodos comparáveis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A8477AF-7D99-C44C-B184-6DE4F3C85E0B}"/>
              </a:ext>
            </a:extLst>
          </p:cNvPr>
          <p:cNvSpPr/>
          <p:nvPr/>
        </p:nvSpPr>
        <p:spPr>
          <a:xfrm>
            <a:off x="9626600" y="3149600"/>
            <a:ext cx="660400" cy="660400"/>
          </a:xfrm>
          <a:prstGeom prst="ellipse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2B5A08D-2BC6-294D-8D85-7A577EFF5507}"/>
              </a:ext>
            </a:extLst>
          </p:cNvPr>
          <p:cNvSpPr txBox="1"/>
          <p:nvPr/>
        </p:nvSpPr>
        <p:spPr>
          <a:xfrm>
            <a:off x="81788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96B24"/>
                </a:solidFill>
                <a:latin typeface="Georgia"/>
              </a:rPr>
              <a:t>Regulação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934ED8C-06A1-2348-B7E1-FE5CFEE7AEA2}"/>
              </a:ext>
            </a:extLst>
          </p:cNvPr>
          <p:cNvSpPr txBox="1"/>
          <p:nvPr/>
        </p:nvSpPr>
        <p:spPr>
          <a:xfrm>
            <a:off x="8178800" y="4318000"/>
            <a:ext cx="355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Alinhamento entre mecanismos técnicos e requisitos legais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4774E2B-6863-4649-94A2-F0F2BB120D50}"/>
              </a:ext>
            </a:extLst>
          </p:cNvPr>
          <p:cNvSpPr/>
          <p:nvPr/>
        </p:nvSpPr>
        <p:spPr>
          <a:xfrm>
            <a:off x="4064000" y="5878512"/>
            <a:ext cx="4064000" cy="25400"/>
          </a:xfrm>
          <a:prstGeom prst="rect">
            <a:avLst/>
          </a:prstGeom>
          <a:solidFill>
            <a:srgbClr val="D0C9C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9D2352EC-8CD9-0DE7-90DF-B661417FBB4D}"/>
              </a:ext>
            </a:extLst>
          </p:cNvPr>
          <p:cNvSpPr/>
          <p:nvPr/>
        </p:nvSpPr>
        <p:spPr>
          <a:xfrm>
            <a:off x="457200" y="1385888"/>
            <a:ext cx="11277600" cy="889000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FE91FF3-3291-FF88-30F6-3DA83485F2F0}"/>
              </a:ext>
            </a:extLst>
          </p:cNvPr>
          <p:cNvSpPr txBox="1"/>
          <p:nvPr/>
        </p:nvSpPr>
        <p:spPr>
          <a:xfrm>
            <a:off x="660400" y="1538288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2000" b="1">
                <a:solidFill>
                  <a:srgbClr val="E97132"/>
                </a:solidFill>
                <a:latin typeface="Calibri"/>
              </a:rPr>
              <a:t>→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9DC93BC-68B9-CBC3-EC9B-37366C2C40D9}"/>
              </a:ext>
            </a:extLst>
          </p:cNvPr>
          <p:cNvSpPr txBox="1"/>
          <p:nvPr/>
        </p:nvSpPr>
        <p:spPr>
          <a:xfrm>
            <a:off x="1066800" y="1575636"/>
            <a:ext cx="101854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>
            <a:defPPr>
              <a:defRPr lang="pt-PT"/>
            </a:defPPr>
            <a:lvl1pPr>
              <a:defRPr i="1">
                <a:solidFill>
                  <a:srgbClr val="1A2332"/>
                </a:solidFill>
                <a:latin typeface="Calibri"/>
                <a:cs typeface="Calibri"/>
              </a:defRPr>
            </a:lvl1pPr>
          </a:lstStyle>
          <a:p>
            <a:r>
              <a:rPr lang="pt-PT" dirty="0"/>
              <a:t>Três eixos devem avançar em conjunto para alcançar </a:t>
            </a:r>
            <a:r>
              <a:rPr lang="pt-PT" dirty="0" err="1"/>
              <a:t>unlearning</a:t>
            </a:r>
            <a:r>
              <a:rPr lang="pt-PT" dirty="0"/>
              <a:t> responsável em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75754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0112FC-735B-DE07-E10D-52F9E620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118" y="2766218"/>
            <a:ext cx="267176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pt-PT" b="1" dirty="0"/>
              <a:t>Obrigado</a:t>
            </a:r>
            <a:br>
              <a:rPr lang="pt-PT" b="1" dirty="0"/>
            </a:br>
            <a:br>
              <a:rPr lang="pt-PT" b="1" dirty="0"/>
            </a:br>
            <a:r>
              <a:rPr lang="pt-PT" sz="3600" dirty="0"/>
              <a:t>Questões?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888709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718173466]">
  <a:themeElements>
    <a:clrScheme name="Office">
      <a:dk1>
        <a:srgbClr val="1A2332"/>
      </a:dk1>
      <a:lt1>
        <a:srgbClr val="FBFAF7"/>
      </a:lt1>
      <a:dk2>
        <a:srgbClr val="2E3B4E"/>
      </a:dk2>
      <a:lt2>
        <a:srgbClr val="E8E4DC"/>
      </a:lt2>
      <a:accent1>
        <a:srgbClr val="156082"/>
      </a:accent1>
      <a:accent2>
        <a:srgbClr val="E97132"/>
      </a:accent2>
      <a:accent3>
        <a:srgbClr val="196B24"/>
      </a:accent3>
      <a:accent4>
        <a:srgbClr val="7A4E8C"/>
      </a:accent4>
      <a:accent5>
        <a:srgbClr val="B8860B"/>
      </a:accent5>
      <a:accent6>
        <a:srgbClr val="8B4513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1CE2C77-F620-F547-99C6-2EEF7B5FAC64}">
  <we:reference id="11d7cf85-ae5a-43b8-bc58-1e1a151cce24" version="1.0.0.1" store="EXCatalog" storeType="EXCatalog"/>
  <we:alternateReferences>
    <we:reference id="WA200010725" version="1.0.0.1" store="pt-PT" storeType="OMEX"/>
  </we:alternateReferences>
  <we:properties>
    <we:property name="claude.fileId" value="&quot;c1f9e5a0-4d89-4212-b866-1f5e0a1d0af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2F2E3F5B-923C-1B49-8DAC-8DEAA4592786}">
  <we:reference id="cba9fc06-6fc9-492e-9525-923870a3b909" version="2.0.0.0" store="EXCatalog" storeType="EXCatalog"/>
  <we:alternateReferences>
    <we:reference id="WA200010215" version="2.0.0.0" store="pt-PT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2235</Words>
  <Application>Microsoft Macintosh PowerPoint</Application>
  <PresentationFormat>Ecrã Panorâmico</PresentationFormat>
  <Paragraphs>249</Paragraphs>
  <Slides>12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Georgia</vt:lpstr>
      <vt:lpstr>Tema do Office [1779718173466]</vt:lpstr>
      <vt:lpstr>Apresentação do PowerPoint</vt:lpstr>
      <vt:lpstr>Problema e Motivação</vt:lpstr>
      <vt:lpstr>Machine Unlearning: Exact vs. Approximate</vt:lpstr>
      <vt:lpstr>Arquitetura IoT em Três Camadas</vt:lpstr>
      <vt:lpstr>Espaços Partilhados: Consentimento e Dados Sobrepostos</vt:lpstr>
      <vt:lpstr>Soluções existentes</vt:lpstr>
      <vt:lpstr>Problema existente</vt:lpstr>
      <vt:lpstr>Problema existente</vt:lpstr>
      <vt:lpstr>Problema existente</vt:lpstr>
      <vt:lpstr>Problema existente</vt:lpstr>
      <vt:lpstr>Conclusão</vt:lpstr>
      <vt:lpstr>Obrigado  Questões?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Rafael Duarte Pereira Da Silva</dc:creator>
  <cp:lastModifiedBy>Rafael Duarte Pereira Da Silva</cp:lastModifiedBy>
  <cp:revision>10</cp:revision>
  <dcterms:created xsi:type="dcterms:W3CDTF">2026-05-25T14:03:45Z</dcterms:created>
  <dcterms:modified xsi:type="dcterms:W3CDTF">2026-05-29T18:06:04Z</dcterms:modified>
</cp:coreProperties>
</file>