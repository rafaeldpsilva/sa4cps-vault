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259" r:id="rId3"/>
    <p:sldId id="261" r:id="rId4"/>
    <p:sldId id="263" r:id="rId5"/>
    <p:sldId id="265" r:id="rId6"/>
    <p:sldId id="267" r:id="rId7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540"/>
    <p:restoredTop sz="94676"/>
  </p:normalViewPr>
  <p:slideViewPr>
    <p:cSldViewPr snapToGrid="0">
      <p:cViewPr varScale="1">
        <p:scale>
          <a:sx n="90" d="100"/>
          <a:sy n="90" d="100"/>
        </p:scale>
        <p:origin x="216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0C4004-5EB7-8F82-9FA1-51870C921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BD1FA2F-264C-8199-2BAF-7A63B63A0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2B5CFB3-FBBC-E8DC-F7D3-2E7C095A7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3EEDBD6-9314-0D24-970A-39415BE05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140160F-A29B-3B2D-2ED8-9F7BE8562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994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2AC52-350E-8A5B-B5E1-05068891B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4CB173A-A059-59EA-C636-4285A5A3F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31B52EE-E82F-79CB-773F-2E41B043B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0C42516-F37E-3D30-1C66-6085A51D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506C1483-E9C9-8A38-E980-EB8F22F08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14743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E2FFE9-5306-D8FF-1F46-F0CF9421B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7AFABB86-5B46-1EE3-7FAA-8B262A5504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20896B6-47CA-43EA-B7A4-1FD11EAF8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2E3E3AB-9027-54B7-3FAD-2E501AD72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B841980-35F0-0860-3E92-A60FEEAF8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88483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01B61E-F47C-F5C1-47E9-2DD18472E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A90CD87-D2FF-2F94-F644-42D4B4EDC6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2582ACD0-B8AF-1976-DB14-5E374ABA81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D27E7870-2C2C-4404-7E84-ACFB00415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A8ACC74-DC67-CDE2-9215-7B52D8AEE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F0C38FEC-B9D4-512C-DAE0-B41AE8329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7588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7E101-2890-514E-117F-6EA8C46F1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5A64D669-EE30-82EE-3723-BDC610BC48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43F916BD-D456-3A41-1B90-7A9EBBA66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6A056534-3125-9535-A885-3A0E916449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FD11076E-52F9-0140-74BD-985D468B96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F430E094-5E62-3657-1386-A1160960F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23DEC4A8-ACC9-CB99-1D9C-94E988A37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671851E2-07DD-93D6-475C-38205D8B8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9223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EC81BE-C16E-743B-568E-0194FA3F9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58017996-EE0D-C4BF-4D4D-5DBBCEC3C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B492B1E0-9840-D60C-1FC3-B1F19A514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978CD853-1BC6-6A09-4B2C-48887E72D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5157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04904ADD-AD99-C386-E701-9CF843740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8C4085EA-49E0-48A1-2CCF-7C885EB3B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36ECF43-2588-4C58-23EF-1602B8FCD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590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71D283-76DE-99E1-46C5-382F199FC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90F956B-DCA5-7641-1B35-90B88094B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1FA1CCA8-A3A0-283D-B922-26DB65EE0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170836A-E026-F447-C622-338EED1E1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0F553D68-0E53-B3F7-731B-500C14CBF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CE3C1EA-22A5-9037-BC74-C0F383944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00517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E17B70-4C2C-7583-7A2B-AB93C90A5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ED7FAC65-068B-1736-ABA7-9696E9CED1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87250701-83B3-B341-E7D5-33B010EABC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7BE4B126-F02B-0191-8713-6A8804944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5D6F09F4-FF2D-F00A-1021-F7FE0D10B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A8AC654-9949-DE74-3373-018F01ACB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27097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151B20-90A7-5000-DA57-5B225D812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D6D453C-2007-19CE-AF7B-7129895364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B630E08-70F5-F8A3-25B5-CD95CE052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FE31C2B-F9D9-CDA5-34C0-DA2946F8F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58FDEB2-DC07-F3A9-D954-838AF14A7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3755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5438DC4-B376-0867-B1E2-8E9C7E6780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2649BBCE-A9B5-4FD6-3D64-1157831BEE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F2CA0CE-FF86-D700-CAF1-5A8663644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DF77788-83DE-AC87-8379-58B3FAD8F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07D0ED4-E9C7-2334-9E13-332441BCA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68625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EAF48B5A-1D12-03CC-535C-D3FE51D83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90FCE4A8-883B-A88E-2196-F3AE8158F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00D5CBC-A19A-8C5F-4D64-C6E5707C50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FD5399-E005-4D46-A3BC-4F04C5B9BCCE}" type="datetimeFigureOut">
              <a:rPr lang="pt-PT" smtClean="0"/>
              <a:t>25/05/26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6E56A5E-C608-618F-01EE-4E4D7DD48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CCD875FA-9F7C-B703-9174-9830C211E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  <p:sp>
        <p:nvSpPr>
          <p:cNvPr id="900" name="AccentBar"/>
          <p:cNvSpPr/>
          <p:nvPr userDrawn="1"/>
        </p:nvSpPr>
        <p:spPr>
          <a:xfrm>
            <a:off x="457200" y="6477000"/>
            <a:ext cx="1127760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02724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233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FACE8F31-782D-6D41-890F-B864B112E5C2}"/>
              </a:ext>
            </a:extLst>
          </p:cNvPr>
          <p:cNvSpPr/>
          <p:nvPr/>
        </p:nvSpPr>
        <p:spPr>
          <a:xfrm>
            <a:off x="914400" y="1905000"/>
            <a:ext cx="50800" cy="3048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76967D3-5CC0-A34C-8253-65A7B45962C4}"/>
              </a:ext>
            </a:extLst>
          </p:cNvPr>
          <p:cNvSpPr txBox="1"/>
          <p:nvPr/>
        </p:nvSpPr>
        <p:spPr>
          <a:xfrm>
            <a:off x="1219200" y="1930400"/>
            <a:ext cx="8890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200" b="1" dirty="0">
                <a:solidFill>
                  <a:srgbClr val="156082"/>
                </a:solidFill>
                <a:latin typeface="Calibri"/>
                <a:cs typeface="Calibri"/>
              </a:rPr>
              <a:t>DIAESI-PDCSI ·  2026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6B162B3-2FA2-F241-BF9E-3A43D1486104}"/>
              </a:ext>
            </a:extLst>
          </p:cNvPr>
          <p:cNvSpPr txBox="1"/>
          <p:nvPr/>
        </p:nvSpPr>
        <p:spPr>
          <a:xfrm>
            <a:off x="1219200" y="2387600"/>
            <a:ext cx="9906000" cy="120032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Machine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</a:t>
            </a:r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Unlearning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para </a:t>
            </a:r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IoT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em Edifícios Inteligentes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84519AA-1181-C74A-B364-8A00130F1660}"/>
              </a:ext>
            </a:extLst>
          </p:cNvPr>
          <p:cNvSpPr txBox="1"/>
          <p:nvPr/>
        </p:nvSpPr>
        <p:spPr>
          <a:xfrm>
            <a:off x="1219200" y="3613329"/>
            <a:ext cx="990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i="1" dirty="0">
                <a:solidFill>
                  <a:srgbClr val="2E3B4E"/>
                </a:solidFill>
                <a:latin typeface="Calibri"/>
                <a:cs typeface="Calibri"/>
              </a:rPr>
              <a:t>Restrições operacionais, lacunas dos métodos atuais e direções de investigação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ABCE9B-8A87-DD49-BFA4-4A5DB4CFFA5B}"/>
              </a:ext>
            </a:extLst>
          </p:cNvPr>
          <p:cNvSpPr txBox="1"/>
          <p:nvPr/>
        </p:nvSpPr>
        <p:spPr>
          <a:xfrm>
            <a:off x="1219200" y="54864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>
                <a:solidFill>
                  <a:srgbClr val="1A2332"/>
                </a:solidFill>
                <a:latin typeface="Calibri"/>
                <a:cs typeface="Calibri"/>
              </a:rPr>
              <a:t>Rafael Silva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86ED185-A2F5-1B4A-95E1-B7D0C9058EE8}"/>
              </a:ext>
            </a:extLst>
          </p:cNvPr>
          <p:cNvSpPr txBox="1"/>
          <p:nvPr/>
        </p:nvSpPr>
        <p:spPr>
          <a:xfrm>
            <a:off x="1219200" y="5816600"/>
            <a:ext cx="5080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2E3B4E"/>
                </a:solidFill>
                <a:latin typeface="Calibri"/>
                <a:cs typeface="Calibri"/>
              </a:rPr>
              <a:t>1190979</a:t>
            </a:r>
          </a:p>
        </p:txBody>
      </p:sp>
    </p:spTree>
    <p:extLst>
      <p:ext uri="{BB962C8B-B14F-4D97-AF65-F5344CB8AC3E}">
        <p14:creationId xmlns:p14="http://schemas.microsoft.com/office/powerpoint/2010/main" val="3582099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C8E3E0-CA29-6D28-A872-8555C5F7A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Problema e Motivação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A677B35-D073-284C-8B83-C7095296C70B}"/>
              </a:ext>
            </a:extLst>
          </p:cNvPr>
          <p:cNvSpPr/>
          <p:nvPr/>
        </p:nvSpPr>
        <p:spPr>
          <a:xfrm>
            <a:off x="457200" y="2032000"/>
            <a:ext cx="457200" cy="381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F1F2C28-A4D7-464C-A634-5904EB4E9B6B}"/>
              </a:ext>
            </a:extLst>
          </p:cNvPr>
          <p:cNvSpPr txBox="1"/>
          <p:nvPr/>
        </p:nvSpPr>
        <p:spPr>
          <a:xfrm>
            <a:off x="457200" y="21844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b="1">
                <a:solidFill>
                  <a:srgbClr val="156082"/>
                </a:solidFill>
                <a:latin typeface="Calibri"/>
                <a:cs typeface="Calibri"/>
              </a:rPr>
              <a:t>DADOS GRANULARES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E8488C9-D99B-464D-8F9C-6B406E6A6D87}"/>
              </a:ext>
            </a:extLst>
          </p:cNvPr>
          <p:cNvSpPr txBox="1"/>
          <p:nvPr/>
        </p:nvSpPr>
        <p:spPr>
          <a:xfrm>
            <a:off x="457200" y="2590800"/>
            <a:ext cx="3556000" cy="2616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500">
                <a:solidFill>
                  <a:srgbClr val="1A2332"/>
                </a:solidFill>
                <a:latin typeface="Calibri"/>
                <a:cs typeface="Calibri"/>
              </a:rPr>
              <a:t>Dispositivos IoT recolhem padrões de ocupação, consumo energético, sinais biométricos e movimento, criando um histórico longitudinal detalhado dos ocupantes.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0EFA60F-D90D-2640-9544-D96349DDC3B0}"/>
              </a:ext>
            </a:extLst>
          </p:cNvPr>
          <p:cNvSpPr/>
          <p:nvPr/>
        </p:nvSpPr>
        <p:spPr>
          <a:xfrm>
            <a:off x="4318000" y="2032000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4EEB0C5-BB98-8642-B072-B21C200899EA}"/>
              </a:ext>
            </a:extLst>
          </p:cNvPr>
          <p:cNvSpPr txBox="1"/>
          <p:nvPr/>
        </p:nvSpPr>
        <p:spPr>
          <a:xfrm>
            <a:off x="4318000" y="21844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b="1">
                <a:solidFill>
                  <a:srgbClr val="E97132"/>
                </a:solidFill>
                <a:latin typeface="Calibri"/>
                <a:cs typeface="Calibri"/>
              </a:rPr>
              <a:t>RISCOS DE PRIVACIDADE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F35ECE4-0B54-E944-A4F8-45DD2573EEA9}"/>
              </a:ext>
            </a:extLst>
          </p:cNvPr>
          <p:cNvSpPr txBox="1"/>
          <p:nvPr/>
        </p:nvSpPr>
        <p:spPr>
          <a:xfrm>
            <a:off x="4318000" y="2590800"/>
            <a:ext cx="3556000" cy="2616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500">
                <a:solidFill>
                  <a:srgbClr val="1A2332"/>
                </a:solidFill>
                <a:latin typeface="Calibri"/>
                <a:cs typeface="Calibri"/>
              </a:rPr>
              <a:t>Modelos treinados retêm traços estatísticos exploráveis por ataques de inferência de pertença e inversão de modelo, mesmo após eliminar os dados originais.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A3CBE61-A312-914D-92A4-6E39DC84EAE6}"/>
              </a:ext>
            </a:extLst>
          </p:cNvPr>
          <p:cNvSpPr/>
          <p:nvPr/>
        </p:nvSpPr>
        <p:spPr>
          <a:xfrm>
            <a:off x="8178800" y="2032000"/>
            <a:ext cx="457200" cy="381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466F98B-47CA-2E45-BDE6-2A6D3D23F9CA}"/>
              </a:ext>
            </a:extLst>
          </p:cNvPr>
          <p:cNvSpPr txBox="1"/>
          <p:nvPr/>
        </p:nvSpPr>
        <p:spPr>
          <a:xfrm>
            <a:off x="8178800" y="21844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b="1">
                <a:solidFill>
                  <a:srgbClr val="196B24"/>
                </a:solidFill>
                <a:latin typeface="Calibri"/>
                <a:cs typeface="Calibri"/>
              </a:rPr>
              <a:t>OBRIGAÇÃO LEGAL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44AA3AA-BF30-EF42-9460-65E33DC8DC90}"/>
              </a:ext>
            </a:extLst>
          </p:cNvPr>
          <p:cNvSpPr txBox="1"/>
          <p:nvPr/>
        </p:nvSpPr>
        <p:spPr>
          <a:xfrm>
            <a:off x="8178800" y="2590800"/>
            <a:ext cx="3556000" cy="2616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500">
                <a:solidFill>
                  <a:srgbClr val="1A2332"/>
                </a:solidFill>
                <a:latin typeface="Calibri"/>
                <a:cs typeface="Calibri"/>
              </a:rPr>
              <a:t>RGPD Art. 17 (direito ao esquecimento) exige eliminar não só os dados, mas a sua influência nos modelos derivados — não basta apagar a fonte.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E1A9396-1D6E-DD48-A8C8-60AA41A430B1}"/>
              </a:ext>
            </a:extLst>
          </p:cNvPr>
          <p:cNvSpPr/>
          <p:nvPr/>
        </p:nvSpPr>
        <p:spPr>
          <a:xfrm>
            <a:off x="457200" y="5588000"/>
            <a:ext cx="11277600" cy="7112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B68BB29-1861-844D-8DA7-B46312EDBE1D}"/>
              </a:ext>
            </a:extLst>
          </p:cNvPr>
          <p:cNvSpPr txBox="1"/>
          <p:nvPr/>
        </p:nvSpPr>
        <p:spPr>
          <a:xfrm>
            <a:off x="660400" y="57404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2200" b="1">
                <a:solidFill>
                  <a:srgbClr val="156082"/>
                </a:solidFill>
              </a:rPr>
              <a:t>→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DC706087-3482-DE4C-944B-DA949279670A}"/>
              </a:ext>
            </a:extLst>
          </p:cNvPr>
          <p:cNvSpPr txBox="1"/>
          <p:nvPr/>
        </p:nvSpPr>
        <p:spPr>
          <a:xfrm>
            <a:off x="1168400" y="56896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1400" i="1" dirty="0" err="1">
                <a:solidFill>
                  <a:srgbClr val="1A2332"/>
                </a:solidFill>
                <a:latin typeface="Calibri"/>
                <a:cs typeface="Calibri"/>
              </a:rPr>
              <a:t>Machine</a:t>
            </a:r>
            <a:r>
              <a:rPr lang="pt-PT" sz="1400" i="1" dirty="0">
                <a:solidFill>
                  <a:srgbClr val="1A2332"/>
                </a:solidFill>
                <a:latin typeface="Calibri"/>
                <a:cs typeface="Calibri"/>
              </a:rPr>
              <a:t> </a:t>
            </a:r>
            <a:r>
              <a:rPr lang="pt-PT" sz="1400" i="1" dirty="0" err="1">
                <a:solidFill>
                  <a:srgbClr val="1A2332"/>
                </a:solidFill>
                <a:latin typeface="Calibri"/>
                <a:cs typeface="Calibri"/>
              </a:rPr>
              <a:t>unlearning</a:t>
            </a:r>
            <a:r>
              <a:rPr lang="pt-PT" sz="1400" i="1" dirty="0">
                <a:solidFill>
                  <a:srgbClr val="1A2332"/>
                </a:solidFill>
                <a:latin typeface="Calibri"/>
                <a:cs typeface="Calibri"/>
              </a:rPr>
              <a:t> surge como resposta técnica — mas foi concebido para cenários centralizados e estáticos, não para o contexto distribuído dos edifícios inteligentes.</a:t>
            </a:r>
          </a:p>
        </p:txBody>
      </p:sp>
    </p:spTree>
    <p:extLst>
      <p:ext uri="{BB962C8B-B14F-4D97-AF65-F5344CB8AC3E}">
        <p14:creationId xmlns:p14="http://schemas.microsoft.com/office/powerpoint/2010/main" val="3049788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28B755-31A6-2BF2-DD43-BEC12B8E0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Machine Unlearning: </a:t>
            </a:r>
            <a:r>
              <a:rPr lang="pt-PT" sz="3200" b="1" dirty="0" err="1">
                <a:solidFill>
                  <a:srgbClr val="1A2332"/>
                </a:solidFill>
                <a:latin typeface="Georgia"/>
              </a:rPr>
              <a:t>Exact</a:t>
            </a:r>
            <a:r>
              <a:rPr lang="pt-PT" sz="3200" b="1" dirty="0">
                <a:solidFill>
                  <a:srgbClr val="1A2332"/>
                </a:solidFill>
                <a:latin typeface="Georgia"/>
              </a:rPr>
              <a:t> vs. </a:t>
            </a:r>
            <a:r>
              <a:rPr lang="pt-PT" sz="3200" b="1" dirty="0" err="1">
                <a:solidFill>
                  <a:srgbClr val="1A2332"/>
                </a:solidFill>
                <a:latin typeface="Georgia"/>
              </a:rPr>
              <a:t>Approximate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8396072-EFB9-CA45-9692-0A828F64C452}"/>
              </a:ext>
            </a:extLst>
          </p:cNvPr>
          <p:cNvSpPr/>
          <p:nvPr/>
        </p:nvSpPr>
        <p:spPr>
          <a:xfrm>
            <a:off x="457200" y="2032000"/>
            <a:ext cx="1016000" cy="279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100" b="1" dirty="0">
                <a:solidFill>
                  <a:srgbClr val="FFFFFF"/>
                </a:solidFill>
                <a:latin typeface="Calibri"/>
                <a:cs typeface="Calibri"/>
              </a:rPr>
              <a:t>EXACT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6E21666-8F6B-0A46-B264-E8A341B046B3}"/>
              </a:ext>
            </a:extLst>
          </p:cNvPr>
          <p:cNvSpPr txBox="1"/>
          <p:nvPr/>
        </p:nvSpPr>
        <p:spPr>
          <a:xfrm>
            <a:off x="457200" y="2438400"/>
            <a:ext cx="54864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900" b="1">
                <a:solidFill>
                  <a:srgbClr val="1A2332"/>
                </a:solidFill>
                <a:latin typeface="Georgia"/>
              </a:rPr>
              <a:t>Garantia formal de remoção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1D83EA-169A-D44D-AE4C-EAD3BEB8ADF8}"/>
              </a:ext>
            </a:extLst>
          </p:cNvPr>
          <p:cNvSpPr txBox="1"/>
          <p:nvPr/>
        </p:nvSpPr>
        <p:spPr>
          <a:xfrm>
            <a:off x="457200" y="2946400"/>
            <a:ext cx="54864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Reestrutura o treino para que cada eliminação seja resolvida por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retreino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 parcial. SISA divide o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 em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shards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 isolados — só o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shard</a:t>
            </a:r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 afetado precisa de reestruturação.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E1CDA24-8C9D-CC4B-A0E1-653E231F8CD8}"/>
              </a:ext>
            </a:extLst>
          </p:cNvPr>
          <p:cNvSpPr txBox="1"/>
          <p:nvPr/>
        </p:nvSpPr>
        <p:spPr>
          <a:xfrm>
            <a:off x="457200" y="4419600"/>
            <a:ext cx="54864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000" b="1">
                <a:solidFill>
                  <a:srgbClr val="156082"/>
                </a:solidFill>
                <a:latin typeface="Calibri"/>
                <a:cs typeface="Calibri"/>
              </a:rPr>
              <a:t>LIMITAÇÕES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2F73D95-F8EE-7E4B-AD0B-5A342420EBBD}"/>
              </a:ext>
            </a:extLst>
          </p:cNvPr>
          <p:cNvSpPr txBox="1"/>
          <p:nvPr/>
        </p:nvSpPr>
        <p:spPr>
          <a:xfrm>
            <a:off x="457200" y="4673600"/>
            <a:ext cx="54864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i="1">
                <a:solidFill>
                  <a:srgbClr val="2E3B4E"/>
                </a:solidFill>
                <a:latin typeface="Calibri"/>
                <a:cs typeface="Calibri"/>
              </a:rPr>
              <a:t>Requer arquitetura específica desde o início; degrada precisão; sobrecarga inviável em gateways edge.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701BEDE-A81F-1640-91ED-4609FBC82E35}"/>
              </a:ext>
            </a:extLst>
          </p:cNvPr>
          <p:cNvSpPr/>
          <p:nvPr/>
        </p:nvSpPr>
        <p:spPr>
          <a:xfrm>
            <a:off x="6248400" y="2032000"/>
            <a:ext cx="1016000" cy="2794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100" b="1" dirty="0">
                <a:solidFill>
                  <a:srgbClr val="FFFFFF"/>
                </a:solidFill>
                <a:latin typeface="Calibri"/>
                <a:cs typeface="Calibri"/>
              </a:rPr>
              <a:t>APPROXIMATE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2F769AF-3817-2344-8566-F408466AB4A6}"/>
              </a:ext>
            </a:extLst>
          </p:cNvPr>
          <p:cNvSpPr txBox="1"/>
          <p:nvPr/>
        </p:nvSpPr>
        <p:spPr>
          <a:xfrm>
            <a:off x="6248400" y="2438400"/>
            <a:ext cx="54864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900" b="1">
                <a:solidFill>
                  <a:srgbClr val="1A2332"/>
                </a:solidFill>
                <a:latin typeface="Georgia"/>
              </a:rPr>
              <a:t>Redução tolerável de influência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A7A24EB-6497-164B-ADDD-1C8D815755D6}"/>
              </a:ext>
            </a:extLst>
          </p:cNvPr>
          <p:cNvSpPr txBox="1"/>
          <p:nvPr/>
        </p:nvSpPr>
        <p:spPr>
          <a:xfrm>
            <a:off x="6248400" y="2946400"/>
            <a:ext cx="54864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Atualiza pesos para minimizar o impacto dos dados-alvo, sem garantia de eliminação total. Inclui métodos baseados em gradiente, funções de influência, destilação e refinamento.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BCE48C7-C383-3342-B736-8BBCBDD5B5B8}"/>
              </a:ext>
            </a:extLst>
          </p:cNvPr>
          <p:cNvSpPr txBox="1"/>
          <p:nvPr/>
        </p:nvSpPr>
        <p:spPr>
          <a:xfrm>
            <a:off x="6248400" y="4419600"/>
            <a:ext cx="54864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000" b="1">
                <a:solidFill>
                  <a:srgbClr val="E97132"/>
                </a:solidFill>
                <a:latin typeface="Calibri"/>
                <a:cs typeface="Calibri"/>
              </a:rPr>
              <a:t>LIMITAÇÕES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E0F17D5-7E51-944F-8BB3-90C60269DA03}"/>
              </a:ext>
            </a:extLst>
          </p:cNvPr>
          <p:cNvSpPr txBox="1"/>
          <p:nvPr/>
        </p:nvSpPr>
        <p:spPr>
          <a:xfrm>
            <a:off x="6248400" y="4673600"/>
            <a:ext cx="54864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i="1" dirty="0">
                <a:solidFill>
                  <a:srgbClr val="2E3B4E"/>
                </a:solidFill>
                <a:latin typeface="Calibri"/>
                <a:cs typeface="Calibri"/>
              </a:rPr>
              <a:t>Sem certificado de </a:t>
            </a:r>
            <a:r>
              <a:rPr lang="pt-PT" sz="1300" i="1" dirty="0" err="1">
                <a:solidFill>
                  <a:srgbClr val="2E3B4E"/>
                </a:solidFill>
                <a:latin typeface="Calibri"/>
                <a:cs typeface="Calibri"/>
              </a:rPr>
              <a:t>erasure</a:t>
            </a:r>
            <a:r>
              <a:rPr lang="pt-PT" sz="1300" i="1" dirty="0">
                <a:solidFill>
                  <a:srgbClr val="2E3B4E"/>
                </a:solidFill>
                <a:latin typeface="Calibri"/>
                <a:cs typeface="Calibri"/>
              </a:rPr>
              <a:t>; vulnerável a ataques de reconstrução; difícil de auditar.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D74179A9-96B0-A346-9A90-E2F197B0C4A4}"/>
              </a:ext>
            </a:extLst>
          </p:cNvPr>
          <p:cNvSpPr/>
          <p:nvPr/>
        </p:nvSpPr>
        <p:spPr>
          <a:xfrm>
            <a:off x="457200" y="5842000"/>
            <a:ext cx="11277600" cy="5080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705BF2C-7CEF-8B43-ADE1-AA1175D95470}"/>
              </a:ext>
            </a:extLst>
          </p:cNvPr>
          <p:cNvSpPr txBox="1"/>
          <p:nvPr/>
        </p:nvSpPr>
        <p:spPr>
          <a:xfrm>
            <a:off x="660400" y="5892800"/>
            <a:ext cx="108712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1300" i="1">
                <a:solidFill>
                  <a:srgbClr val="1A2332"/>
                </a:solidFill>
                <a:latin typeface="Calibri"/>
                <a:cs typeface="Calibri"/>
              </a:rPr>
              <a:t>Trade-off entre garantia, custo computacional e flexibilidade de implementação — crítico em hardware com recursos limitados.</a:t>
            </a:r>
          </a:p>
        </p:txBody>
      </p:sp>
    </p:spTree>
    <p:extLst>
      <p:ext uri="{BB962C8B-B14F-4D97-AF65-F5344CB8AC3E}">
        <p14:creationId xmlns:p14="http://schemas.microsoft.com/office/powerpoint/2010/main" val="3663762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672268-D0E6-77F2-DDC7-9A204E903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latin typeface="Georgia"/>
              </a:rPr>
              <a:t>Arquitetura IoT em Três Camadas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D37B8BD-09B6-2947-AA82-0CDA2D9DEFB6}"/>
              </a:ext>
            </a:extLst>
          </p:cNvPr>
          <p:cNvSpPr/>
          <p:nvPr/>
        </p:nvSpPr>
        <p:spPr>
          <a:xfrm>
            <a:off x="457200" y="1905000"/>
            <a:ext cx="7620000" cy="889000"/>
          </a:xfrm>
          <a:prstGeom prst="rect">
            <a:avLst/>
          </a:prstGeom>
          <a:solidFill>
            <a:srgbClr val="E5EEF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C20CDB1-F0C1-DA4C-8869-F6179F338094}"/>
              </a:ext>
            </a:extLst>
          </p:cNvPr>
          <p:cNvSpPr/>
          <p:nvPr/>
        </p:nvSpPr>
        <p:spPr>
          <a:xfrm>
            <a:off x="457200" y="1905000"/>
            <a:ext cx="76200" cy="889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5432F02-38AA-9C4D-90CD-17D52323FE9A}"/>
              </a:ext>
            </a:extLst>
          </p:cNvPr>
          <p:cNvSpPr txBox="1"/>
          <p:nvPr/>
        </p:nvSpPr>
        <p:spPr>
          <a:xfrm>
            <a:off x="762000" y="20320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>
                <a:solidFill>
                  <a:srgbClr val="156082"/>
                </a:solidFill>
                <a:latin typeface="Calibri"/>
                <a:cs typeface="Calibri"/>
              </a:rPr>
              <a:t>CLOUD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FE63C26-8B35-8244-902F-E851747A9B22}"/>
              </a:ext>
            </a:extLst>
          </p:cNvPr>
          <p:cNvSpPr txBox="1"/>
          <p:nvPr/>
        </p:nvSpPr>
        <p:spPr>
          <a:xfrm>
            <a:off x="762000" y="2311400"/>
            <a:ext cx="711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1A2332"/>
                </a:solidFill>
                <a:latin typeface="Calibri"/>
                <a:cs typeface="Calibri"/>
              </a:rPr>
              <a:t>Treino de modelos globais, armazenamento histórico, dashboards e analítica entre edifícios.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8F1108F-4368-3D4F-A839-C9E9CB861F13}"/>
              </a:ext>
            </a:extLst>
          </p:cNvPr>
          <p:cNvSpPr/>
          <p:nvPr/>
        </p:nvSpPr>
        <p:spPr>
          <a:xfrm>
            <a:off x="457200" y="2946400"/>
            <a:ext cx="7620000" cy="889000"/>
          </a:xfrm>
          <a:prstGeom prst="rect">
            <a:avLst/>
          </a:prstGeom>
          <a:solidFill>
            <a:srgbClr val="FBE8D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A8354A7-72FA-1A44-BB50-BD08EB01B18E}"/>
              </a:ext>
            </a:extLst>
          </p:cNvPr>
          <p:cNvSpPr/>
          <p:nvPr/>
        </p:nvSpPr>
        <p:spPr>
          <a:xfrm>
            <a:off x="457200" y="2946400"/>
            <a:ext cx="76200" cy="8890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07E9E0D-D724-754B-9771-734C32928A67}"/>
              </a:ext>
            </a:extLst>
          </p:cNvPr>
          <p:cNvSpPr txBox="1"/>
          <p:nvPr/>
        </p:nvSpPr>
        <p:spPr>
          <a:xfrm>
            <a:off x="762000" y="30734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>
                <a:solidFill>
                  <a:srgbClr val="E97132"/>
                </a:solidFill>
                <a:latin typeface="Calibri"/>
                <a:cs typeface="Calibri"/>
              </a:rPr>
              <a:t>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AC4A517-70A7-8247-9264-6B839C8C4105}"/>
              </a:ext>
            </a:extLst>
          </p:cNvPr>
          <p:cNvSpPr txBox="1"/>
          <p:nvPr/>
        </p:nvSpPr>
        <p:spPr>
          <a:xfrm>
            <a:off x="762000" y="3352800"/>
            <a:ext cx="711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1A2332"/>
                </a:solidFill>
                <a:latin typeface="Calibri"/>
                <a:cs typeface="Calibri"/>
              </a:rPr>
              <a:t>Agregação de tráfego, pré-processamento e execução de modelos leves entre sensores e a nuvem.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2DA2CE5E-9D58-6C40-9F80-87132B45549B}"/>
              </a:ext>
            </a:extLst>
          </p:cNvPr>
          <p:cNvSpPr/>
          <p:nvPr/>
        </p:nvSpPr>
        <p:spPr>
          <a:xfrm>
            <a:off x="457200" y="3987800"/>
            <a:ext cx="7620000" cy="889000"/>
          </a:xfrm>
          <a:prstGeom prst="rect">
            <a:avLst/>
          </a:prstGeom>
          <a:solidFill>
            <a:srgbClr val="DDEAD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1BB0CD5-A30E-5C48-96B8-100D00E151D4}"/>
              </a:ext>
            </a:extLst>
          </p:cNvPr>
          <p:cNvSpPr/>
          <p:nvPr/>
        </p:nvSpPr>
        <p:spPr>
          <a:xfrm>
            <a:off x="457200" y="3987800"/>
            <a:ext cx="76200" cy="8890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DA4E191-21B2-A244-83F2-2B124688FC12}"/>
              </a:ext>
            </a:extLst>
          </p:cNvPr>
          <p:cNvSpPr txBox="1"/>
          <p:nvPr/>
        </p:nvSpPr>
        <p:spPr>
          <a:xfrm>
            <a:off x="762000" y="41148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b="1">
                <a:solidFill>
                  <a:srgbClr val="196B24"/>
                </a:solidFill>
                <a:latin typeface="Calibri"/>
                <a:cs typeface="Calibri"/>
              </a:rPr>
              <a:t>PERCEÇÃO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D10A11B5-F430-D34E-BA42-504409D630B7}"/>
              </a:ext>
            </a:extLst>
          </p:cNvPr>
          <p:cNvSpPr txBox="1"/>
          <p:nvPr/>
        </p:nvSpPr>
        <p:spPr>
          <a:xfrm>
            <a:off x="762000" y="4394200"/>
            <a:ext cx="7112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>
                <a:solidFill>
                  <a:srgbClr val="1A2332"/>
                </a:solidFill>
                <a:latin typeface="Calibri"/>
                <a:cs typeface="Calibri"/>
              </a:rPr>
              <a:t>Sensores e atuadores no terreno: ocupação, ambiente, contadores inteligentes, wearables.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C881326D-A636-5948-ADDB-0B1DE4F995DE}"/>
              </a:ext>
            </a:extLst>
          </p:cNvPr>
          <p:cNvSpPr/>
          <p:nvPr/>
        </p:nvSpPr>
        <p:spPr>
          <a:xfrm>
            <a:off x="8382000" y="1905000"/>
            <a:ext cx="3352800" cy="29718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C7B35EA-E19B-AC4A-8C9D-36712454AE64}"/>
              </a:ext>
            </a:extLst>
          </p:cNvPr>
          <p:cNvSpPr txBox="1"/>
          <p:nvPr/>
        </p:nvSpPr>
        <p:spPr>
          <a:xfrm>
            <a:off x="8585200" y="2082800"/>
            <a:ext cx="2946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IMPLICAÇÃO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A74E775-9FDB-D543-820F-6C33246EFCB7}"/>
              </a:ext>
            </a:extLst>
          </p:cNvPr>
          <p:cNvSpPr txBox="1"/>
          <p:nvPr/>
        </p:nvSpPr>
        <p:spPr>
          <a:xfrm>
            <a:off x="8585200" y="2413000"/>
            <a:ext cx="29464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Um pedido de eliminação tem de propagar-se pelas três camadas. Estados parciais — em que apenas uma camada "esquece" — violam o direito ao apagamento.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7B05918F-3BAF-0845-9101-04DBDD7C985D}"/>
              </a:ext>
            </a:extLst>
          </p:cNvPr>
          <p:cNvSpPr/>
          <p:nvPr/>
        </p:nvSpPr>
        <p:spPr>
          <a:xfrm>
            <a:off x="457200" y="5486400"/>
            <a:ext cx="11277600" cy="711200"/>
          </a:xfrm>
          <a:prstGeom prst="rect">
            <a:avLst/>
          </a:prstGeom>
          <a:solidFill>
            <a:srgbClr val="FBFAF7"/>
          </a:solidFill>
          <a:ln w="9525" cap="flat" cmpd="sng" algn="ctr">
            <a:solidFill>
              <a:srgbClr val="15608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8F51C087-7611-DA41-B0D1-FB43B15184B3}"/>
              </a:ext>
            </a:extLst>
          </p:cNvPr>
          <p:cNvSpPr txBox="1"/>
          <p:nvPr/>
        </p:nvSpPr>
        <p:spPr>
          <a:xfrm>
            <a:off x="660400" y="5588000"/>
            <a:ext cx="203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156082"/>
                </a:solidFill>
                <a:latin typeface="Calibri"/>
                <a:cs typeface="Calibri"/>
              </a:rPr>
              <a:t>DADOS SENSÍVEIS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4D5F2574-96BD-694D-86DB-92B3E63926A6}"/>
              </a:ext>
            </a:extLst>
          </p:cNvPr>
          <p:cNvSpPr txBox="1"/>
          <p:nvPr/>
        </p:nvSpPr>
        <p:spPr>
          <a:xfrm>
            <a:off x="660400" y="5842000"/>
            <a:ext cx="1092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Ocupação  ·  Consumo energético  ·  Sinais ambientais  ·  Inferências derivadas (perfis comportamentais)</a:t>
            </a:r>
          </a:p>
        </p:txBody>
      </p:sp>
    </p:spTree>
    <p:extLst>
      <p:ext uri="{BB962C8B-B14F-4D97-AF65-F5344CB8AC3E}">
        <p14:creationId xmlns:p14="http://schemas.microsoft.com/office/powerpoint/2010/main" val="1592711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19C913-8A15-6BF8-D950-8EFF0C83B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Regimes de Treino Incompatíveis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D44ACE3-1567-B340-A530-2D15AA01A71C}"/>
              </a:ext>
            </a:extLst>
          </p:cNvPr>
          <p:cNvSpPr/>
          <p:nvPr/>
        </p:nvSpPr>
        <p:spPr>
          <a:xfrm>
            <a:off x="457200" y="1905000"/>
            <a:ext cx="5486400" cy="3556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300" b="1">
                <a:solidFill>
                  <a:srgbClr val="FFFFFF"/>
                </a:solidFill>
                <a:latin typeface="Calibri"/>
                <a:cs typeface="Calibri"/>
              </a:rPr>
              <a:t>ONLINE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DDF9406-2E37-5E45-8E73-80FE2328FCED}"/>
              </a:ext>
            </a:extLst>
          </p:cNvPr>
          <p:cNvSpPr txBox="1"/>
          <p:nvPr/>
        </p:nvSpPr>
        <p:spPr>
          <a:xfrm>
            <a:off x="457200" y="2362200"/>
            <a:ext cx="54864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Atualização contínua dos pesos a partir de telemetria em tempo real. Cada amostra entrelaça-se com milhões de outras — sem snapshot limpo para reverter.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0BE7C5D-6E5B-7141-90A2-5ED5548F8C5A}"/>
              </a:ext>
            </a:extLst>
          </p:cNvPr>
          <p:cNvSpPr/>
          <p:nvPr/>
        </p:nvSpPr>
        <p:spPr>
          <a:xfrm>
            <a:off x="6248400" y="1905000"/>
            <a:ext cx="5486400" cy="3556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300" b="1">
                <a:solidFill>
                  <a:srgbClr val="FFFFFF"/>
                </a:solidFill>
                <a:latin typeface="Calibri"/>
                <a:cs typeface="Calibri"/>
              </a:rPr>
              <a:t>BATCH PERIÓDICO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6430ED9-A62A-1847-8637-14CBA63CF954}"/>
              </a:ext>
            </a:extLst>
          </p:cNvPr>
          <p:cNvSpPr txBox="1"/>
          <p:nvPr/>
        </p:nvSpPr>
        <p:spPr>
          <a:xfrm>
            <a:off x="6248400" y="2362200"/>
            <a:ext cx="54864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Retreino noturno ou semanal sobre janelas acumuladas. O custo de retreinar é elevado e os ataques de membership inference operam entre versões.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34335D8-7859-C94F-BA6B-639F99855AD3}"/>
              </a:ext>
            </a:extLst>
          </p:cNvPr>
          <p:cNvSpPr/>
          <p:nvPr/>
        </p:nvSpPr>
        <p:spPr>
          <a:xfrm>
            <a:off x="457200" y="3683000"/>
            <a:ext cx="5486400" cy="3556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3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3F1AB34-4019-0248-AD4F-7CFF7B18C6F6}"/>
              </a:ext>
            </a:extLst>
          </p:cNvPr>
          <p:cNvSpPr txBox="1"/>
          <p:nvPr/>
        </p:nvSpPr>
        <p:spPr>
          <a:xfrm>
            <a:off x="457200" y="4140200"/>
            <a:ext cx="54864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Dados ficam nos dispositivos; só gradientes vão ao agregador. Remove o dataset central que métodos como SISA assumem; reverter uma contribuição é estatístico, não certificado.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42B6564-0D31-5047-8384-A6ED271EE259}"/>
              </a:ext>
            </a:extLst>
          </p:cNvPr>
          <p:cNvSpPr/>
          <p:nvPr/>
        </p:nvSpPr>
        <p:spPr>
          <a:xfrm>
            <a:off x="6248400" y="3683000"/>
            <a:ext cx="5486400" cy="355600"/>
          </a:xfrm>
          <a:prstGeom prst="rect">
            <a:avLst/>
          </a:prstGeom>
          <a:solidFill>
            <a:srgbClr val="7A3B6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300" b="1">
                <a:solidFill>
                  <a:srgbClr val="FFFFFF"/>
                </a:solidFill>
                <a:latin typeface="Calibri"/>
                <a:cs typeface="Calibri"/>
              </a:rPr>
              <a:t>CONTÍNUO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1696A7E-0D31-364F-B94D-9D92B9AAE25F}"/>
              </a:ext>
            </a:extLst>
          </p:cNvPr>
          <p:cNvSpPr txBox="1"/>
          <p:nvPr/>
        </p:nvSpPr>
        <p:spPr>
          <a:xfrm>
            <a:off x="6248400" y="4140200"/>
            <a:ext cx="54864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O modelo expande-se à medida que surgem novos ocupantes, sensores ou espaços. Não existe um estado inicial limpo a que regressar.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9051105-4E07-FB4B-A689-FD4DC5DAEC62}"/>
              </a:ext>
            </a:extLst>
          </p:cNvPr>
          <p:cNvSpPr/>
          <p:nvPr/>
        </p:nvSpPr>
        <p:spPr>
          <a:xfrm>
            <a:off x="457200" y="5588000"/>
            <a:ext cx="11277600" cy="7112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5775909-2BC1-2948-9499-1FD2A5E8BFAB}"/>
              </a:ext>
            </a:extLst>
          </p:cNvPr>
          <p:cNvSpPr txBox="1"/>
          <p:nvPr/>
        </p:nvSpPr>
        <p:spPr>
          <a:xfrm>
            <a:off x="660400" y="5715000"/>
            <a:ext cx="4064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2200" b="1">
                <a:solidFill>
                  <a:srgbClr val="E97132"/>
                </a:solidFill>
              </a:rPr>
              <a:t>⚠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147909AB-7B0C-684C-8E15-B0DDEB4AE389}"/>
              </a:ext>
            </a:extLst>
          </p:cNvPr>
          <p:cNvSpPr txBox="1"/>
          <p:nvPr/>
        </p:nvSpPr>
        <p:spPr>
          <a:xfrm>
            <a:off x="1168400" y="5689600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1400" i="1">
                <a:solidFill>
                  <a:srgbClr val="1A2332"/>
                </a:solidFill>
                <a:latin typeface="Calibri"/>
                <a:cs typeface="Calibri"/>
              </a:rPr>
              <a:t>O pressuposto fundamental — uma baseline limpa para comparar — falha em todos os regimes dominantes nos edifícios inteligentes.</a:t>
            </a:r>
          </a:p>
        </p:txBody>
      </p:sp>
    </p:spTree>
    <p:extLst>
      <p:ext uri="{BB962C8B-B14F-4D97-AF65-F5344CB8AC3E}">
        <p14:creationId xmlns:p14="http://schemas.microsoft.com/office/powerpoint/2010/main" val="19073327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85CD7D-EDB8-ECEE-76A5-606BBAB4F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Estado da Arte por Camada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78E3F19-FBC5-9E4C-B1E6-3ED1C4534B79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CLOUD-SIDE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1D48959-1728-7347-993F-C61D0B2EDB02}"/>
              </a:ext>
            </a:extLst>
          </p:cNvPr>
          <p:cNvSpPr txBox="1"/>
          <p:nvPr/>
        </p:nvSpPr>
        <p:spPr>
          <a:xfrm>
            <a:off x="457200" y="2514600"/>
            <a:ext cx="355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C184BD4-F3E7-2B48-8C4A-BFD65A8966C5}"/>
              </a:ext>
            </a:extLst>
          </p:cNvPr>
          <p:cNvSpPr txBox="1"/>
          <p:nvPr/>
        </p:nvSpPr>
        <p:spPr>
          <a:xfrm>
            <a:off x="457200" y="2794000"/>
            <a:ext cx="3556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SISA, correções por gradiente, destilação de conhecimento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D3E30D0-2599-A942-A217-9D39744850E2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0A88EDD-D1BA-FA40-A079-2EC42A19EC6C}"/>
              </a:ext>
            </a:extLst>
          </p:cNvPr>
          <p:cNvSpPr txBox="1"/>
          <p:nvPr/>
        </p:nvSpPr>
        <p:spPr>
          <a:xfrm>
            <a:off x="457200" y="4064000"/>
            <a:ext cx="355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FBD369-B115-1C43-A393-D67DBBBEC643}"/>
              </a:ext>
            </a:extLst>
          </p:cNvPr>
          <p:cNvSpPr txBox="1"/>
          <p:nvPr/>
        </p:nvSpPr>
        <p:spPr>
          <a:xfrm>
            <a:off x="457200" y="4343400"/>
            <a:ext cx="3556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i="1">
                <a:solidFill>
                  <a:srgbClr val="1A2332"/>
                </a:solidFill>
                <a:latin typeface="Calibri"/>
                <a:cs typeface="Calibri"/>
              </a:rPr>
              <a:t>Ignora limites do edge; assume dataset centralizado raramente disponível em deployments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8AB6FAD-9449-CC4B-9ED6-306D44CFDD80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EDGE-SIDE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9CA3D0A-09EB-EB43-BF41-65E97832289D}"/>
              </a:ext>
            </a:extLst>
          </p:cNvPr>
          <p:cNvSpPr txBox="1"/>
          <p:nvPr/>
        </p:nvSpPr>
        <p:spPr>
          <a:xfrm>
            <a:off x="4318000" y="2514600"/>
            <a:ext cx="355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F40FDB3-DBD9-F649-A2F4-BCF6D6C350AB}"/>
              </a:ext>
            </a:extLst>
          </p:cNvPr>
          <p:cNvSpPr txBox="1"/>
          <p:nvPr/>
        </p:nvSpPr>
        <p:spPr>
          <a:xfrm>
            <a:off x="4318000" y="2794000"/>
            <a:ext cx="3556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Ascensão de gradiente, poda neuronal, fine-tuning local com replay buffer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71E99C5-B9BF-F740-A41C-3509C6C0B5ED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3D6DC01-D840-5D46-B87D-73F83753E4DB}"/>
              </a:ext>
            </a:extLst>
          </p:cNvPr>
          <p:cNvSpPr txBox="1"/>
          <p:nvPr/>
        </p:nvSpPr>
        <p:spPr>
          <a:xfrm>
            <a:off x="4318000" y="4064000"/>
            <a:ext cx="355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0E351DA-16B2-F94C-B35E-85B3772D5473}"/>
              </a:ext>
            </a:extLst>
          </p:cNvPr>
          <p:cNvSpPr txBox="1"/>
          <p:nvPr/>
        </p:nvSpPr>
        <p:spPr>
          <a:xfrm>
            <a:off x="4318000" y="4343400"/>
            <a:ext cx="3556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i="1">
                <a:solidFill>
                  <a:srgbClr val="1A2332"/>
                </a:solidFill>
                <a:latin typeface="Calibri"/>
                <a:cs typeface="Calibri"/>
              </a:rPr>
              <a:t>Opera de forma isolada; sem coordenação entre camadas; não respeita fronteiras multi-tenant.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60CDFC9-C3CB-D94B-B2B6-115E78808852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33E0559-1761-E243-B0DE-AE9A5C08EB53}"/>
              </a:ext>
            </a:extLst>
          </p:cNvPr>
          <p:cNvSpPr txBox="1"/>
          <p:nvPr/>
        </p:nvSpPr>
        <p:spPr>
          <a:xfrm>
            <a:off x="8178800" y="2514600"/>
            <a:ext cx="355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D3DD648-369B-AC40-920C-BA7E760DBFCF}"/>
              </a:ext>
            </a:extLst>
          </p:cNvPr>
          <p:cNvSpPr txBox="1"/>
          <p:nvPr/>
        </p:nvSpPr>
        <p:spPr>
          <a:xfrm>
            <a:off x="8178800" y="2794000"/>
            <a:ext cx="3556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>
                <a:solidFill>
                  <a:srgbClr val="1A2332"/>
                </a:solidFill>
                <a:latin typeface="Calibri"/>
                <a:cs typeface="Calibri"/>
              </a:rPr>
              <a:t>FedEraser, gradient-rollback, variantes SISA federadas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643101C0-B100-5841-BBBF-63C6420ED9F5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0A9343A-0013-8448-9072-90A901859562}"/>
              </a:ext>
            </a:extLst>
          </p:cNvPr>
          <p:cNvSpPr txBox="1"/>
          <p:nvPr/>
        </p:nvSpPr>
        <p:spPr>
          <a:xfrm>
            <a:off x="8178800" y="4064000"/>
            <a:ext cx="355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16EB79D-66EF-914C-BAD3-2CC63F2054F3}"/>
              </a:ext>
            </a:extLst>
          </p:cNvPr>
          <p:cNvSpPr txBox="1"/>
          <p:nvPr/>
        </p:nvSpPr>
        <p:spPr>
          <a:xfrm>
            <a:off x="8178800" y="4343400"/>
            <a:ext cx="3556000" cy="127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i="1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 clientes offline mantêm pesos obsoletos.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43B1581-E290-BE46-90DD-59D34F703B42}"/>
              </a:ext>
            </a:extLst>
          </p:cNvPr>
          <p:cNvSpPr/>
          <p:nvPr/>
        </p:nvSpPr>
        <p:spPr>
          <a:xfrm>
            <a:off x="457200" y="5816600"/>
            <a:ext cx="11277600" cy="5080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B8B8366B-75F9-AC4C-A142-72AC9CB33423}"/>
              </a:ext>
            </a:extLst>
          </p:cNvPr>
          <p:cNvSpPr txBox="1"/>
          <p:nvPr/>
        </p:nvSpPr>
        <p:spPr>
          <a:xfrm>
            <a:off x="711200" y="5867400"/>
            <a:ext cx="107696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1300" i="1">
                <a:solidFill>
                  <a:srgbClr val="1A2332"/>
                </a:solidFill>
                <a:latin typeface="Calibri"/>
                <a:cs typeface="Calibri"/>
              </a:rPr>
              <a:t>Sem benchmark partilhado: cada estudo usa as suas próprias métricas, datasets e modelos de ameaça — impossível comparar soluções parciais.</a:t>
            </a:r>
          </a:p>
        </p:txBody>
      </p:sp>
    </p:spTree>
    <p:extLst>
      <p:ext uri="{BB962C8B-B14F-4D97-AF65-F5344CB8AC3E}">
        <p14:creationId xmlns:p14="http://schemas.microsoft.com/office/powerpoint/2010/main" val="24798575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[1779718173466]">
  <a:themeElements>
    <a:clrScheme name="Office">
      <a:dk1>
        <a:srgbClr val="1A2332"/>
      </a:dk1>
      <a:lt1>
        <a:srgbClr val="FBFAF7"/>
      </a:lt1>
      <a:dk2>
        <a:srgbClr val="2E3B4E"/>
      </a:dk2>
      <a:lt2>
        <a:srgbClr val="E8E4DC"/>
      </a:lt2>
      <a:accent1>
        <a:srgbClr val="156082"/>
      </a:accent1>
      <a:accent2>
        <a:srgbClr val="E97132"/>
      </a:accent2>
      <a:accent3>
        <a:srgbClr val="196B24"/>
      </a:accent3>
      <a:accent4>
        <a:srgbClr val="7A4E8C"/>
      </a:accent4>
      <a:accent5>
        <a:srgbClr val="B8860B"/>
      </a:accent5>
      <a:accent6>
        <a:srgbClr val="8B4513"/>
      </a:accent6>
      <a:hlink>
        <a:srgbClr val="467886"/>
      </a:hlink>
      <a:folHlink>
        <a:srgbClr val="96607D"/>
      </a:folHlink>
    </a:clrScheme>
    <a:fontScheme name="Office">
      <a:majorFont>
        <a:latin typeface="Georgia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1CE2C77-F620-F547-99C6-2EEF7B5FAC64}">
  <we:reference id="11d7cf85-ae5a-43b8-bc58-1e1a151cce24" version="1.0.0.1" store="EXCatalog" storeType="EXCatalog"/>
  <we:alternateReferences>
    <we:reference id="WA200010725" version="1.0.0.1" store="pt-PT" storeType="OMEX"/>
  </we:alternateReferences>
  <we:properties>
    <we:property name="claude.fileId" value="&quot;c1f9e5a0-4d89-4212-b866-1f5e0a1d0af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609</Words>
  <Application>Microsoft Macintosh PowerPoint</Application>
  <PresentationFormat>Ecrã Panorâmico</PresentationFormat>
  <Paragraphs>65</Paragraphs>
  <Slides>6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6</vt:i4>
      </vt:variant>
    </vt:vector>
  </HeadingPairs>
  <TitlesOfParts>
    <vt:vector size="10" baseType="lpstr">
      <vt:lpstr>Arial</vt:lpstr>
      <vt:lpstr>Calibri</vt:lpstr>
      <vt:lpstr>Georgia</vt:lpstr>
      <vt:lpstr>Tema do Office [1779718173466]</vt:lpstr>
      <vt:lpstr>Apresentação do PowerPoint</vt:lpstr>
      <vt:lpstr>Problema e Motivação</vt:lpstr>
      <vt:lpstr>Machine Unlearning: Exact vs. Approximate</vt:lpstr>
      <vt:lpstr>Arquitetura IoT em Três Camadas</vt:lpstr>
      <vt:lpstr>Regimes de Treino Incompatíveis</vt:lpstr>
      <vt:lpstr>Estado da Arte por Camada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Rafael Duarte Pereira Da Silva</dc:creator>
  <cp:lastModifiedBy>Rafael Duarte Pereira Da Silva</cp:lastModifiedBy>
  <cp:revision>3</cp:revision>
  <dcterms:created xsi:type="dcterms:W3CDTF">2026-05-25T14:03:45Z</dcterms:created>
  <dcterms:modified xsi:type="dcterms:W3CDTF">2026-05-25T18:33:15Z</dcterms:modified>
</cp:coreProperties>
</file>