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7" r:id="rId2"/>
    <p:sldId id="259" r:id="rId3"/>
    <p:sldId id="280" r:id="rId4"/>
    <p:sldId id="277" r:id="rId5"/>
    <p:sldId id="276" r:id="rId6"/>
    <p:sldId id="281" r:id="rId7"/>
    <p:sldId id="282" r:id="rId8"/>
    <p:sldId id="283" r:id="rId9"/>
    <p:sldId id="279" r:id="rId10"/>
    <p:sldId id="271" r:id="rId11"/>
    <p:sldId id="274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09"/>
    <p:restoredTop sz="81727"/>
  </p:normalViewPr>
  <p:slideViewPr>
    <p:cSldViewPr snapToGrid="0">
      <p:cViewPr>
        <p:scale>
          <a:sx n="116" d="100"/>
          <a:sy n="116" d="100"/>
        </p:scale>
        <p:origin x="22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531979-3C4C-B04F-AD49-A1AD3E566F89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EEEA3F-08CE-6043-AB76-D392B120787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83972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dirty="0">
                <a:solidFill>
                  <a:srgbClr val="1A2332"/>
                </a:solidFill>
                <a:latin typeface="Calibri"/>
                <a:cs typeface="Calibri"/>
              </a:rPr>
              <a:t>Dispositivos </a:t>
            </a:r>
            <a:r>
              <a:rPr lang="pt-PT" sz="1200" dirty="0" err="1">
                <a:solidFill>
                  <a:srgbClr val="1A2332"/>
                </a:solidFill>
                <a:latin typeface="Calibri"/>
                <a:cs typeface="Calibri"/>
              </a:rPr>
              <a:t>IoT</a:t>
            </a:r>
            <a:r>
              <a:rPr lang="pt-PT" sz="1200" dirty="0">
                <a:solidFill>
                  <a:srgbClr val="1A2332"/>
                </a:solidFill>
                <a:latin typeface="Calibri"/>
                <a:cs typeface="Calibri"/>
              </a:rPr>
              <a:t> recolhem padrões de ocupação, consumo energético, sinais biométricos e movimento, criando um histórico longitudinal detalhado dos ocupantes.</a:t>
            </a:r>
          </a:p>
          <a:p>
            <a:endParaRPr lang="pt-P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dirty="0">
                <a:solidFill>
                  <a:srgbClr val="1A2332"/>
                </a:solidFill>
                <a:latin typeface="Calibri"/>
                <a:cs typeface="Calibri"/>
              </a:rPr>
              <a:t>Modelos treinados retêm traços estatísticos exploráveis por ataques de inferência de pertença e inversão de modelo, mesmo após eliminar os dados originais.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sz="1200" dirty="0">
              <a:solidFill>
                <a:srgbClr val="1A2332"/>
              </a:solidFill>
              <a:latin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dirty="0">
                <a:solidFill>
                  <a:srgbClr val="1A2332"/>
                </a:solidFill>
                <a:latin typeface="Calibri"/>
                <a:cs typeface="Calibri"/>
              </a:rPr>
              <a:t>RGPD </a:t>
            </a:r>
            <a:r>
              <a:rPr lang="pt-PT" sz="1200" dirty="0" err="1">
                <a:solidFill>
                  <a:srgbClr val="1A2332"/>
                </a:solidFill>
                <a:latin typeface="Calibri"/>
                <a:cs typeface="Calibri"/>
              </a:rPr>
              <a:t>Art</a:t>
            </a:r>
            <a:r>
              <a:rPr lang="pt-PT" sz="1200" dirty="0">
                <a:solidFill>
                  <a:srgbClr val="1A2332"/>
                </a:solidFill>
                <a:latin typeface="Calibri"/>
                <a:cs typeface="Calibri"/>
              </a:rPr>
              <a:t>. 17 (direito ao esquecimento) exige eliminar não só os dados, mas a sua influência nos modelos derivados — não basta apagar a fonte.</a:t>
            </a:r>
          </a:p>
          <a:p>
            <a:endParaRPr lang="pt-P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i="1" dirty="0" err="1">
                <a:solidFill>
                  <a:srgbClr val="1A2332"/>
                </a:solidFill>
                <a:latin typeface="Calibri"/>
                <a:cs typeface="Calibri"/>
              </a:rPr>
              <a:t>Machine</a:t>
            </a:r>
            <a:r>
              <a:rPr lang="pt-PT" i="1" dirty="0">
                <a:solidFill>
                  <a:srgbClr val="1A2332"/>
                </a:solidFill>
                <a:latin typeface="Calibri"/>
                <a:cs typeface="Calibri"/>
              </a:rPr>
              <a:t> </a:t>
            </a:r>
            <a:r>
              <a:rPr lang="pt-PT" i="1" dirty="0" err="1">
                <a:solidFill>
                  <a:srgbClr val="1A2332"/>
                </a:solidFill>
                <a:latin typeface="Calibri"/>
                <a:cs typeface="Calibri"/>
              </a:rPr>
              <a:t>unlearning</a:t>
            </a:r>
            <a:r>
              <a:rPr lang="pt-PT" i="1" dirty="0">
                <a:solidFill>
                  <a:srgbClr val="1A2332"/>
                </a:solidFill>
                <a:latin typeface="Calibri"/>
                <a:cs typeface="Calibri"/>
              </a:rPr>
              <a:t> surge como resposta técnica mas foi concebido para cenários centralizados e estáticos, não para o contexto distribuído dos edifícios inteligentes.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EEEA3F-08CE-6043-AB76-D392B1207876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40767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/>
              <a:t>EXACT: </a:t>
            </a:r>
            <a:r>
              <a:rPr lang="pt-PT" sz="1200" dirty="0">
                <a:solidFill>
                  <a:srgbClr val="1A2332"/>
                </a:solidFill>
                <a:latin typeface="Calibri"/>
                <a:cs typeface="Calibri"/>
              </a:rPr>
              <a:t>Reestrutura o treino para que cada eliminação seja resolvida por </a:t>
            </a:r>
            <a:r>
              <a:rPr lang="pt-PT" sz="1200" dirty="0" err="1">
                <a:solidFill>
                  <a:srgbClr val="1A2332"/>
                </a:solidFill>
                <a:latin typeface="Calibri"/>
                <a:cs typeface="Calibri"/>
              </a:rPr>
              <a:t>retreino</a:t>
            </a:r>
            <a:r>
              <a:rPr lang="pt-PT" sz="1200" dirty="0">
                <a:solidFill>
                  <a:srgbClr val="1A2332"/>
                </a:solidFill>
                <a:latin typeface="Calibri"/>
                <a:cs typeface="Calibri"/>
              </a:rPr>
              <a:t> parcial. SISA divide o </a:t>
            </a:r>
            <a:r>
              <a:rPr lang="pt-PT" sz="1200" dirty="0" err="1">
                <a:solidFill>
                  <a:srgbClr val="1A2332"/>
                </a:solidFill>
                <a:latin typeface="Calibri"/>
                <a:cs typeface="Calibri"/>
              </a:rPr>
              <a:t>dataset</a:t>
            </a:r>
            <a:r>
              <a:rPr lang="pt-PT" sz="1200" dirty="0">
                <a:solidFill>
                  <a:srgbClr val="1A2332"/>
                </a:solidFill>
                <a:latin typeface="Calibri"/>
                <a:cs typeface="Calibri"/>
              </a:rPr>
              <a:t> em </a:t>
            </a:r>
            <a:r>
              <a:rPr lang="pt-PT" sz="1200" dirty="0" err="1">
                <a:solidFill>
                  <a:srgbClr val="1A2332"/>
                </a:solidFill>
                <a:latin typeface="Calibri"/>
                <a:cs typeface="Calibri"/>
              </a:rPr>
              <a:t>shards</a:t>
            </a:r>
            <a:r>
              <a:rPr lang="pt-PT" sz="1200" dirty="0">
                <a:solidFill>
                  <a:srgbClr val="1A2332"/>
                </a:solidFill>
                <a:latin typeface="Calibri"/>
                <a:cs typeface="Calibri"/>
              </a:rPr>
              <a:t> isolados — só o </a:t>
            </a:r>
            <a:r>
              <a:rPr lang="pt-PT" sz="1200" dirty="0" err="1">
                <a:solidFill>
                  <a:srgbClr val="1A2332"/>
                </a:solidFill>
                <a:latin typeface="Calibri"/>
                <a:cs typeface="Calibri"/>
              </a:rPr>
              <a:t>shard</a:t>
            </a:r>
            <a:r>
              <a:rPr lang="pt-PT" sz="1200" dirty="0">
                <a:solidFill>
                  <a:srgbClr val="1A2332"/>
                </a:solidFill>
                <a:latin typeface="Calibri"/>
                <a:cs typeface="Calibri"/>
              </a:rPr>
              <a:t> afetado precisa de reestruturação.</a:t>
            </a:r>
          </a:p>
          <a:p>
            <a:endParaRPr lang="pt-P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/>
              <a:t>APPROXIMATE: </a:t>
            </a:r>
            <a:r>
              <a:rPr lang="pt-PT" sz="1200" dirty="0">
                <a:solidFill>
                  <a:srgbClr val="1A2332"/>
                </a:solidFill>
                <a:latin typeface="Calibri"/>
                <a:cs typeface="Calibri"/>
              </a:rPr>
              <a:t>Atualiza pesos para minimizar o impacto dos dados-alvo, sem garantia de eliminação total. Inclui métodos baseados em gradiente, funções de influência, destilação e refinamento.</a:t>
            </a:r>
          </a:p>
          <a:p>
            <a:endParaRPr lang="pt-P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i="1" dirty="0" err="1">
                <a:solidFill>
                  <a:srgbClr val="1A2332"/>
                </a:solidFill>
                <a:latin typeface="Calibri"/>
                <a:cs typeface="Calibri"/>
              </a:rPr>
              <a:t>Trade-off</a:t>
            </a:r>
            <a:r>
              <a:rPr lang="pt-PT" sz="1200" i="1" dirty="0">
                <a:solidFill>
                  <a:srgbClr val="1A2332"/>
                </a:solidFill>
                <a:latin typeface="Calibri"/>
                <a:cs typeface="Calibri"/>
              </a:rPr>
              <a:t> entre garantia, custo computacional e flexibilidade de implementação — crítico em hardware com recursos limitados.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EEEA3F-08CE-6043-AB76-D392B1207876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63320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dirty="0" err="1">
                <a:solidFill>
                  <a:srgbClr val="1A2332"/>
                </a:solidFill>
                <a:latin typeface="Calibri"/>
              </a:rPr>
              <a:t>Cloud</a:t>
            </a:r>
            <a:r>
              <a:rPr lang="pt-PT" sz="1200" dirty="0">
                <a:solidFill>
                  <a:srgbClr val="1A2332"/>
                </a:solidFill>
                <a:latin typeface="Calibri"/>
              </a:rPr>
              <a:t>: Treino de modelos globais · armazenamento histórico · análise entre edifícios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 err="1"/>
              <a:t>Edge</a:t>
            </a:r>
            <a:r>
              <a:rPr lang="pt-PT" dirty="0"/>
              <a:t>: </a:t>
            </a:r>
            <a:r>
              <a:rPr lang="pt-PT" sz="1200" dirty="0">
                <a:solidFill>
                  <a:srgbClr val="1A2332"/>
                </a:solidFill>
                <a:latin typeface="Calibri"/>
              </a:rPr>
              <a:t>Agregação · pré-processamento · execução de modelos leves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 err="1"/>
              <a:t>Perception</a:t>
            </a:r>
            <a:r>
              <a:rPr lang="pt-PT" dirty="0"/>
              <a:t>: </a:t>
            </a:r>
            <a:r>
              <a:rPr lang="pt-PT" sz="1200" dirty="0">
                <a:solidFill>
                  <a:srgbClr val="1A2332"/>
                </a:solidFill>
                <a:latin typeface="Calibri"/>
              </a:rPr>
              <a:t>Sensores e atuadores no terreno: ocupação, ambiente, contadores, </a:t>
            </a:r>
            <a:r>
              <a:rPr lang="pt-PT" sz="1200" dirty="0" err="1">
                <a:solidFill>
                  <a:srgbClr val="1A2332"/>
                </a:solidFill>
                <a:latin typeface="Calibri"/>
              </a:rPr>
              <a:t>wearables</a:t>
            </a:r>
            <a:endParaRPr lang="pt-PT" sz="1200" dirty="0">
              <a:solidFill>
                <a:srgbClr val="1A2332"/>
              </a:solidFill>
              <a:latin typeface="Calibri"/>
            </a:endParaRPr>
          </a:p>
          <a:p>
            <a:endParaRPr lang="pt-P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dirty="0">
                <a:solidFill>
                  <a:srgbClr val="1A2332"/>
                </a:solidFill>
                <a:latin typeface="Calibri"/>
              </a:rPr>
              <a:t>Um pedido de eliminação tem de propagar-se pelas três camadas. </a:t>
            </a:r>
            <a:endParaRPr lang="pt-PT" dirty="0"/>
          </a:p>
          <a:p>
            <a:r>
              <a:rPr lang="pt-PT" sz="1200" dirty="0">
                <a:solidFill>
                  <a:srgbClr val="1A2332"/>
                </a:solidFill>
                <a:latin typeface="Calibri"/>
              </a:rPr>
              <a:t>Estados parciais — em que apenas uma camada “esquece” — violam o direito ao esquecimento e deixam superfícies para ataques de inferência.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EEEA3F-08CE-6043-AB76-D392B1207876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82045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dirty="0">
                <a:solidFill>
                  <a:srgbClr val="1A2332"/>
                </a:solidFill>
                <a:latin typeface="Calibri"/>
                <a:cs typeface="Calibri"/>
              </a:rPr>
              <a:t>Em edifícios </a:t>
            </a:r>
            <a:r>
              <a:rPr lang="pt-PT" sz="1200" dirty="0" err="1">
                <a:solidFill>
                  <a:srgbClr val="1A2332"/>
                </a:solidFill>
                <a:latin typeface="Calibri"/>
                <a:cs typeface="Calibri"/>
              </a:rPr>
              <a:t>multi-inquilino</a:t>
            </a:r>
            <a:r>
              <a:rPr lang="pt-PT" sz="1200" dirty="0">
                <a:solidFill>
                  <a:srgbClr val="1A2332"/>
                </a:solidFill>
                <a:latin typeface="Calibri"/>
                <a:cs typeface="Calibri"/>
              </a:rPr>
              <a:t>, cada ocupante concede consentimento separadamente. Um único pedido de eliminação não pode ser aplicado de forma global ao </a:t>
            </a:r>
            <a:r>
              <a:rPr lang="pt-PT" sz="1200" dirty="0" err="1">
                <a:solidFill>
                  <a:srgbClr val="1A2332"/>
                </a:solidFill>
                <a:latin typeface="Calibri"/>
                <a:cs typeface="Calibri"/>
              </a:rPr>
              <a:t>dataset</a:t>
            </a:r>
            <a:r>
              <a:rPr lang="pt-PT" sz="1200" dirty="0">
                <a:solidFill>
                  <a:srgbClr val="1A2332"/>
                </a:solidFill>
                <a:latin typeface="Calibri"/>
                <a:cs typeface="Calibri"/>
              </a:rPr>
              <a:t>.</a:t>
            </a:r>
          </a:p>
          <a:p>
            <a:endParaRPr lang="pt-PT" dirty="0"/>
          </a:p>
          <a:p>
            <a:endParaRPr lang="pt-P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dirty="0">
                <a:solidFill>
                  <a:srgbClr val="1A2332"/>
                </a:solidFill>
                <a:latin typeface="Calibri"/>
                <a:cs typeface="Calibri"/>
              </a:rPr>
              <a:t>Sensores partilhados (corredores, AVAC, contadores comuns) recolhem dados que pertencem simultaneamente a vários inquilinos — o mesmo registo serve treino de múltiplos perfis.</a:t>
            </a:r>
          </a:p>
          <a:p>
            <a:endParaRPr lang="pt-PT" dirty="0"/>
          </a:p>
          <a:p>
            <a:endParaRPr lang="pt-P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dirty="0">
                <a:solidFill>
                  <a:srgbClr val="1A2332"/>
                </a:solidFill>
                <a:latin typeface="Calibri"/>
                <a:cs typeface="Calibri"/>
              </a:rPr>
              <a:t>Eliminar limpamente os dados de um utilizador sem afetar os restantes torna-se quase impossível — restrição operacional fundamental destacada na literatura.</a:t>
            </a:r>
          </a:p>
          <a:p>
            <a:endParaRPr lang="pt-PT" dirty="0"/>
          </a:p>
          <a:p>
            <a:endParaRPr lang="pt-P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i="1" dirty="0">
                <a:solidFill>
                  <a:srgbClr val="1A2332"/>
                </a:solidFill>
                <a:latin typeface="Calibri"/>
                <a:cs typeface="Calibri"/>
              </a:rPr>
              <a:t>Restrição operacional fundamental: o consentimento não é uniforme nem isolável — define o limite prático de qualquer mecanismo de </a:t>
            </a:r>
            <a:r>
              <a:rPr lang="pt-PT" sz="1200" i="1" dirty="0" err="1">
                <a:solidFill>
                  <a:srgbClr val="1A2332"/>
                </a:solidFill>
                <a:latin typeface="Calibri"/>
                <a:cs typeface="Calibri"/>
              </a:rPr>
              <a:t>unlearning</a:t>
            </a:r>
            <a:r>
              <a:rPr lang="pt-PT" sz="1200" i="1" dirty="0">
                <a:solidFill>
                  <a:srgbClr val="1A2332"/>
                </a:solidFill>
                <a:latin typeface="Calibri"/>
                <a:cs typeface="Calibri"/>
              </a:rPr>
              <a:t> em edifícios partilhados.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EEEA3F-08CE-6043-AB76-D392B1207876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70395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i="1" dirty="0">
                <a:solidFill>
                  <a:srgbClr val="1A2332"/>
                </a:solidFill>
                <a:latin typeface="Calibri"/>
                <a:cs typeface="Calibri"/>
              </a:rPr>
              <a:t>Sem </a:t>
            </a:r>
            <a:r>
              <a:rPr lang="pt-PT" sz="1200" i="1" dirty="0" err="1">
                <a:solidFill>
                  <a:srgbClr val="1A2332"/>
                </a:solidFill>
                <a:latin typeface="Calibri"/>
                <a:cs typeface="Calibri"/>
              </a:rPr>
              <a:t>benchmark</a:t>
            </a:r>
            <a:r>
              <a:rPr lang="pt-PT" sz="1200" i="1" dirty="0">
                <a:solidFill>
                  <a:srgbClr val="1A2332"/>
                </a:solidFill>
                <a:latin typeface="Calibri"/>
                <a:cs typeface="Calibri"/>
              </a:rPr>
              <a:t> partilhado: cada estudo usa as suas próprias métricas, </a:t>
            </a:r>
            <a:r>
              <a:rPr lang="pt-PT" sz="1200" i="1" dirty="0" err="1">
                <a:solidFill>
                  <a:srgbClr val="1A2332"/>
                </a:solidFill>
                <a:latin typeface="Calibri"/>
                <a:cs typeface="Calibri"/>
              </a:rPr>
              <a:t>datasets</a:t>
            </a:r>
            <a:r>
              <a:rPr lang="pt-PT" sz="1200" i="1" dirty="0">
                <a:solidFill>
                  <a:srgbClr val="1A2332"/>
                </a:solidFill>
                <a:latin typeface="Calibri"/>
                <a:cs typeface="Calibri"/>
              </a:rPr>
              <a:t> e modelos de ameaça — impossível comparar soluções parciais.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EEEA3F-08CE-6043-AB76-D392B1207876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92590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86E6-F2F6-45C3-1920-E5DA801C5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915B6CC-EE9F-C56E-6A13-2F49F81E7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1E0FE9EF-370E-FA3B-CA0F-B900483BD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i="1" dirty="0">
                <a:solidFill>
                  <a:srgbClr val="1A2332"/>
                </a:solidFill>
                <a:latin typeface="Calibri"/>
                <a:cs typeface="Calibri"/>
              </a:rPr>
              <a:t>Sem </a:t>
            </a:r>
            <a:r>
              <a:rPr lang="pt-PT" sz="1200" i="1" dirty="0" err="1">
                <a:solidFill>
                  <a:srgbClr val="1A2332"/>
                </a:solidFill>
                <a:latin typeface="Calibri"/>
                <a:cs typeface="Calibri"/>
              </a:rPr>
              <a:t>benchmark</a:t>
            </a:r>
            <a:r>
              <a:rPr lang="pt-PT" sz="1200" i="1" dirty="0">
                <a:solidFill>
                  <a:srgbClr val="1A2332"/>
                </a:solidFill>
                <a:latin typeface="Calibri"/>
                <a:cs typeface="Calibri"/>
              </a:rPr>
              <a:t> partilhado: cada estudo usa as suas próprias métricas, </a:t>
            </a:r>
            <a:r>
              <a:rPr lang="pt-PT" sz="1200" i="1" dirty="0" err="1">
                <a:solidFill>
                  <a:srgbClr val="1A2332"/>
                </a:solidFill>
                <a:latin typeface="Calibri"/>
                <a:cs typeface="Calibri"/>
              </a:rPr>
              <a:t>datasets</a:t>
            </a:r>
            <a:r>
              <a:rPr lang="pt-PT" sz="1200" i="1" dirty="0">
                <a:solidFill>
                  <a:srgbClr val="1A2332"/>
                </a:solidFill>
                <a:latin typeface="Calibri"/>
                <a:cs typeface="Calibri"/>
              </a:rPr>
              <a:t> e modelos de ameaça — impossível comparar soluções parciais.</a:t>
            </a:r>
          </a:p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A37E368-AAC0-3EBC-4A89-C74E3325A4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EEEA3F-08CE-6043-AB76-D392B1207876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92327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8E3A3-FF34-1199-C904-E083F7D8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AAB3F895-C8BA-1260-6CA1-B009BF74C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B5183A42-175E-4DB1-BFE8-52686ACF5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i="1" dirty="0">
                <a:solidFill>
                  <a:srgbClr val="1A2332"/>
                </a:solidFill>
                <a:latin typeface="Calibri"/>
                <a:cs typeface="Calibri"/>
              </a:rPr>
              <a:t>Sem </a:t>
            </a:r>
            <a:r>
              <a:rPr lang="pt-PT" sz="1200" i="1" dirty="0" err="1">
                <a:solidFill>
                  <a:srgbClr val="1A2332"/>
                </a:solidFill>
                <a:latin typeface="Calibri"/>
                <a:cs typeface="Calibri"/>
              </a:rPr>
              <a:t>benchmark</a:t>
            </a:r>
            <a:r>
              <a:rPr lang="pt-PT" sz="1200" i="1" dirty="0">
                <a:solidFill>
                  <a:srgbClr val="1A2332"/>
                </a:solidFill>
                <a:latin typeface="Calibri"/>
                <a:cs typeface="Calibri"/>
              </a:rPr>
              <a:t> partilhado: cada estudo usa as suas próprias métricas, </a:t>
            </a:r>
            <a:r>
              <a:rPr lang="pt-PT" sz="1200" i="1" dirty="0" err="1">
                <a:solidFill>
                  <a:srgbClr val="1A2332"/>
                </a:solidFill>
                <a:latin typeface="Calibri"/>
                <a:cs typeface="Calibri"/>
              </a:rPr>
              <a:t>datasets</a:t>
            </a:r>
            <a:r>
              <a:rPr lang="pt-PT" sz="1200" i="1" dirty="0">
                <a:solidFill>
                  <a:srgbClr val="1A2332"/>
                </a:solidFill>
                <a:latin typeface="Calibri"/>
                <a:cs typeface="Calibri"/>
              </a:rPr>
              <a:t> e modelos de ameaça — impossível comparar soluções parciais.</a:t>
            </a:r>
          </a:p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EBC2B26-AEE6-D91B-42C1-C87092F5FF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EEEA3F-08CE-6043-AB76-D392B1207876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65232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C4004-5EB7-8F82-9FA1-51870C921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D1FA2F-264C-8199-2BAF-7A63B63A0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2B5CFB3-FBBC-E8DC-F7D3-2E7C095A7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3EEDBD6-9314-0D24-970A-39415BE0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140160F-A29B-3B2D-2ED8-9F7BE8562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3994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12AC52-350E-8A5B-B5E1-05068891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4CB173A-A059-59EA-C636-4285A5A3F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31B52EE-E82F-79CB-773F-2E41B043B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0C42516-F37E-3D30-1C66-6085A51D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06C1483-E9C9-8A38-E980-EB8F22F08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14743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E2FFE9-5306-D8FF-1F46-F0CF9421B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AFABB86-5B46-1EE3-7FAA-8B262A550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20896B6-47CA-43EA-B7A4-1FD11EAF8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2E3E3AB-9027-54B7-3FAD-2E501AD72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B841980-35F0-0860-3E92-A60FEEAF8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8848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01B61E-F47C-F5C1-47E9-2DD18472E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A90CD87-D2FF-2F94-F644-42D4B4EDC6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2582ACD0-B8AF-1976-DB14-5E374ABA8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D27E7870-2C2C-4404-7E84-ACFB00415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A8ACC74-DC67-CDE2-9215-7B52D8AEE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F0C38FEC-B9D4-512C-DAE0-B41AE8329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7588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7E101-2890-514E-117F-6EA8C46F1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A64D669-EE30-82EE-3723-BDC610BC4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43F916BD-D456-3A41-1B90-7A9EBBA66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6A056534-3125-9535-A885-3A0E916449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FD11076E-52F9-0140-74BD-985D468B9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F430E094-5E62-3657-1386-A1160960F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23DEC4A8-ACC9-CB99-1D9C-94E988A37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671851E2-07DD-93D6-475C-38205D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922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EC81BE-C16E-743B-568E-0194FA3F9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58017996-EE0D-C4BF-4D4D-5DBBCEC3C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B492B1E0-9840-D60C-1FC3-B1F19A51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978CD853-1BC6-6A09-4B2C-48887E72D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5157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04904ADD-AD99-C386-E701-9CF843740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8C4085EA-49E0-48A1-2CCF-7C885EB3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36ECF43-2588-4C58-23EF-1602B8FCD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590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1D283-76DE-99E1-46C5-382F199FC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90F956B-DCA5-7641-1B35-90B88094B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FA1CCA8-A3A0-283D-B922-26DB65EE0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170836A-E026-F447-C622-338EED1E1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F553D68-0E53-B3F7-731B-500C14CBF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CE3C1EA-22A5-9037-BC74-C0F383944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0517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E17B70-4C2C-7583-7A2B-AB93C90A5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ED7FAC65-068B-1736-ABA7-9696E9CED1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87250701-83B3-B341-E7D5-33B010EAB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BE4B126-F02B-0191-8713-6A880494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D6F09F4-FF2D-F00A-1021-F7FE0D10B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A8AC654-9949-DE74-3373-018F01ACB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27097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51B20-90A7-5000-DA57-5B225D812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D6D453C-2007-19CE-AF7B-712989536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B630E08-70F5-F8A3-25B5-CD95CE052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FE31C2B-F9D9-CDA5-34C0-DA2946F8F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58FDEB2-DC07-F3A9-D954-838AF14A7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755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438DC4-B376-0867-B1E2-8E9C7E6780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2649BBCE-A9B5-4FD6-3D64-1157831BE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F2CA0CE-FF86-D700-CAF1-5A866364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DF77788-83DE-AC87-8379-58B3FAD8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07D0ED4-E9C7-2334-9E13-332441BCA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68625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EAF48B5A-1D12-03CC-535C-D3FE51D83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0FCE4A8-883B-A88E-2196-F3AE8158F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00D5CBC-A19A-8C5F-4D64-C6E5707C50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6E56A5E-C608-618F-01EE-4E4D7DD48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CD875FA-9F7C-B703-9174-9830C211E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  <p:sp>
        <p:nvSpPr>
          <p:cNvPr id="900" name="AccentBar"/>
          <p:cNvSpPr/>
          <p:nvPr userDrawn="1"/>
        </p:nvSpPr>
        <p:spPr>
          <a:xfrm>
            <a:off x="457200" y="6477000"/>
            <a:ext cx="1127760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272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33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ACE8F31-782D-6D41-890F-B864B112E5C2}"/>
              </a:ext>
            </a:extLst>
          </p:cNvPr>
          <p:cNvSpPr/>
          <p:nvPr/>
        </p:nvSpPr>
        <p:spPr>
          <a:xfrm>
            <a:off x="914400" y="1905000"/>
            <a:ext cx="50800" cy="3048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76967D3-5CC0-A34C-8253-65A7B45962C4}"/>
              </a:ext>
            </a:extLst>
          </p:cNvPr>
          <p:cNvSpPr txBox="1"/>
          <p:nvPr/>
        </p:nvSpPr>
        <p:spPr>
          <a:xfrm>
            <a:off x="1219200" y="1930400"/>
            <a:ext cx="8890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pt-PT" sz="1200" b="1" dirty="0">
                <a:solidFill>
                  <a:srgbClr val="156082"/>
                </a:solidFill>
                <a:latin typeface="Calibri"/>
                <a:cs typeface="Calibri"/>
              </a:rPr>
              <a:t>DIAESI-PDCSI ·  2026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6B162B3-2FA2-F241-BF9E-3A43D1486104}"/>
              </a:ext>
            </a:extLst>
          </p:cNvPr>
          <p:cNvSpPr txBox="1"/>
          <p:nvPr/>
        </p:nvSpPr>
        <p:spPr>
          <a:xfrm>
            <a:off x="1219200" y="2387600"/>
            <a:ext cx="9906000" cy="120032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3600" b="1" dirty="0" err="1">
                <a:solidFill>
                  <a:srgbClr val="1A2332"/>
                </a:solidFill>
                <a:latin typeface="Georgia"/>
              </a:rPr>
              <a:t>Machine</a:t>
            </a:r>
            <a:r>
              <a:rPr lang="pt-PT" sz="3600" b="1" dirty="0">
                <a:solidFill>
                  <a:srgbClr val="1A2332"/>
                </a:solidFill>
                <a:latin typeface="Georgia"/>
              </a:rPr>
              <a:t> </a:t>
            </a:r>
            <a:r>
              <a:rPr lang="pt-PT" sz="3600" b="1" dirty="0" err="1">
                <a:solidFill>
                  <a:srgbClr val="1A2332"/>
                </a:solidFill>
                <a:latin typeface="Georgia"/>
              </a:rPr>
              <a:t>Unlearning</a:t>
            </a:r>
            <a:r>
              <a:rPr lang="pt-PT" sz="3600" b="1" dirty="0">
                <a:solidFill>
                  <a:srgbClr val="1A2332"/>
                </a:solidFill>
                <a:latin typeface="Georgia"/>
              </a:rPr>
              <a:t> para </a:t>
            </a:r>
            <a:r>
              <a:rPr lang="pt-PT" sz="3600" b="1" dirty="0" err="1">
                <a:solidFill>
                  <a:srgbClr val="1A2332"/>
                </a:solidFill>
                <a:latin typeface="Georgia"/>
              </a:rPr>
              <a:t>IoT</a:t>
            </a:r>
            <a:r>
              <a:rPr lang="pt-PT" sz="3600" b="1" dirty="0">
                <a:solidFill>
                  <a:srgbClr val="1A2332"/>
                </a:solidFill>
                <a:latin typeface="Georgia"/>
              </a:rPr>
              <a:t> em Edifícios Inteligentes em Comunidades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84519AA-1181-C74A-B364-8A00130F1660}"/>
              </a:ext>
            </a:extLst>
          </p:cNvPr>
          <p:cNvSpPr txBox="1"/>
          <p:nvPr/>
        </p:nvSpPr>
        <p:spPr>
          <a:xfrm>
            <a:off x="1219200" y="3613329"/>
            <a:ext cx="9906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i="1" dirty="0">
                <a:solidFill>
                  <a:srgbClr val="2E3B4E"/>
                </a:solidFill>
                <a:latin typeface="Calibri"/>
                <a:cs typeface="Calibri"/>
              </a:rPr>
              <a:t>Restrições operacionais, lacunas dos métodos atuais e oportunidades de investigação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ABCE9B-8A87-DD49-BFA4-4A5DB4CFFA5B}"/>
              </a:ext>
            </a:extLst>
          </p:cNvPr>
          <p:cNvSpPr txBox="1"/>
          <p:nvPr/>
        </p:nvSpPr>
        <p:spPr>
          <a:xfrm>
            <a:off x="1219200" y="54864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b="1">
                <a:solidFill>
                  <a:srgbClr val="1A2332"/>
                </a:solidFill>
                <a:latin typeface="Calibri"/>
                <a:cs typeface="Calibri"/>
              </a:rPr>
              <a:t>Rafael Silva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86ED185-A2F5-1B4A-95E1-B7D0C9058EE8}"/>
              </a:ext>
            </a:extLst>
          </p:cNvPr>
          <p:cNvSpPr txBox="1"/>
          <p:nvPr/>
        </p:nvSpPr>
        <p:spPr>
          <a:xfrm>
            <a:off x="1219200" y="5816600"/>
            <a:ext cx="5080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300" dirty="0">
                <a:solidFill>
                  <a:srgbClr val="2E3B4E"/>
                </a:solidFill>
                <a:latin typeface="Calibri"/>
                <a:cs typeface="Calibri"/>
              </a:rPr>
              <a:t>1190979</a:t>
            </a:r>
          </a:p>
        </p:txBody>
      </p:sp>
    </p:spTree>
    <p:extLst>
      <p:ext uri="{BB962C8B-B14F-4D97-AF65-F5344CB8AC3E}">
        <p14:creationId xmlns:p14="http://schemas.microsoft.com/office/powerpoint/2010/main" val="3582099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8E3E0-CA29-6D28-A872-8555C5F7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PT" sz="3200" b="1" dirty="0">
                <a:solidFill>
                  <a:srgbClr val="1A2332"/>
                </a:solidFill>
                <a:latin typeface="Georgia"/>
              </a:rPr>
              <a:t>Problema e Motivação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A677B35-D073-284C-8B83-C7095296C70B}"/>
              </a:ext>
            </a:extLst>
          </p:cNvPr>
          <p:cNvSpPr/>
          <p:nvPr/>
        </p:nvSpPr>
        <p:spPr>
          <a:xfrm>
            <a:off x="660400" y="2424719"/>
            <a:ext cx="4572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 sz="24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F1F2C28-A4D7-464C-A634-5904EB4E9B6B}"/>
              </a:ext>
            </a:extLst>
          </p:cNvPr>
          <p:cNvSpPr txBox="1"/>
          <p:nvPr/>
        </p:nvSpPr>
        <p:spPr>
          <a:xfrm>
            <a:off x="660400" y="2577119"/>
            <a:ext cx="355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b="1" dirty="0">
                <a:solidFill>
                  <a:srgbClr val="156082"/>
                </a:solidFill>
                <a:latin typeface="Calibri"/>
                <a:cs typeface="Calibri"/>
              </a:rPr>
              <a:t>DADOS GRANULARES E SENSÍVEIS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E8488C9-D99B-464D-8F9C-6B406E6A6D87}"/>
              </a:ext>
            </a:extLst>
          </p:cNvPr>
          <p:cNvSpPr txBox="1"/>
          <p:nvPr/>
        </p:nvSpPr>
        <p:spPr>
          <a:xfrm>
            <a:off x="660400" y="2983519"/>
            <a:ext cx="3556000" cy="9233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dirty="0">
                <a:solidFill>
                  <a:srgbClr val="1A2332"/>
                </a:solidFill>
                <a:latin typeface="Calibri"/>
                <a:cs typeface="Calibri"/>
              </a:rPr>
              <a:t>Padrões de ocupação, consumo energético, sinais biométricos e movimento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0EFA60F-D90D-2640-9544-D96349DDC3B0}"/>
              </a:ext>
            </a:extLst>
          </p:cNvPr>
          <p:cNvSpPr/>
          <p:nvPr/>
        </p:nvSpPr>
        <p:spPr>
          <a:xfrm>
            <a:off x="4521200" y="2424719"/>
            <a:ext cx="457200" cy="381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 sz="24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4EEB0C5-BB98-8642-B072-B21C200899EA}"/>
              </a:ext>
            </a:extLst>
          </p:cNvPr>
          <p:cNvSpPr txBox="1"/>
          <p:nvPr/>
        </p:nvSpPr>
        <p:spPr>
          <a:xfrm>
            <a:off x="4521200" y="2577119"/>
            <a:ext cx="355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b="1" dirty="0">
                <a:solidFill>
                  <a:srgbClr val="E97132"/>
                </a:solidFill>
                <a:latin typeface="Calibri"/>
                <a:cs typeface="Calibri"/>
              </a:rPr>
              <a:t>RISCOS DE PRIVACIDADE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F35ECE4-0B54-E944-A4F8-45DD2573EEA9}"/>
              </a:ext>
            </a:extLst>
          </p:cNvPr>
          <p:cNvSpPr txBox="1"/>
          <p:nvPr/>
        </p:nvSpPr>
        <p:spPr>
          <a:xfrm>
            <a:off x="4521200" y="2983519"/>
            <a:ext cx="3556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dirty="0">
                <a:solidFill>
                  <a:srgbClr val="1A2332"/>
                </a:solidFill>
                <a:latin typeface="Calibri"/>
                <a:cs typeface="Calibri"/>
              </a:rPr>
              <a:t>Sujeitos a ataques de inferência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A3CBE61-A312-914D-92A4-6E39DC84EAE6}"/>
              </a:ext>
            </a:extLst>
          </p:cNvPr>
          <p:cNvSpPr/>
          <p:nvPr/>
        </p:nvSpPr>
        <p:spPr>
          <a:xfrm>
            <a:off x="8382000" y="2424719"/>
            <a:ext cx="457200" cy="381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 sz="240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466F98B-47CA-2E45-BDE6-2A6D3D23F9CA}"/>
              </a:ext>
            </a:extLst>
          </p:cNvPr>
          <p:cNvSpPr txBox="1"/>
          <p:nvPr/>
        </p:nvSpPr>
        <p:spPr>
          <a:xfrm>
            <a:off x="8382000" y="2577119"/>
            <a:ext cx="3556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b="1">
                <a:solidFill>
                  <a:srgbClr val="196B24"/>
                </a:solidFill>
                <a:latin typeface="Calibri"/>
                <a:cs typeface="Calibri"/>
              </a:rPr>
              <a:t>OBRIGAÇÃO LEGAL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44AA3AA-BF30-EF42-9460-65E33DC8DC90}"/>
              </a:ext>
            </a:extLst>
          </p:cNvPr>
          <p:cNvSpPr txBox="1"/>
          <p:nvPr/>
        </p:nvSpPr>
        <p:spPr>
          <a:xfrm>
            <a:off x="8382000" y="2983519"/>
            <a:ext cx="3556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dirty="0">
                <a:solidFill>
                  <a:srgbClr val="1A2332"/>
                </a:solidFill>
                <a:latin typeface="Calibri"/>
                <a:cs typeface="Calibri"/>
              </a:rPr>
              <a:t>Direito ao esquecimento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E1A9396-1D6E-DD48-A8C8-60AA41A430B1}"/>
              </a:ext>
            </a:extLst>
          </p:cNvPr>
          <p:cNvSpPr/>
          <p:nvPr/>
        </p:nvSpPr>
        <p:spPr>
          <a:xfrm>
            <a:off x="457200" y="5622788"/>
            <a:ext cx="11277600" cy="711200"/>
          </a:xfrm>
          <a:prstGeom prst="rect">
            <a:avLst/>
          </a:prstGeom>
          <a:solidFill>
            <a:srgbClr val="F0EB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B68BB29-1861-844D-8DA7-B46312EDBE1D}"/>
              </a:ext>
            </a:extLst>
          </p:cNvPr>
          <p:cNvSpPr txBox="1"/>
          <p:nvPr/>
        </p:nvSpPr>
        <p:spPr>
          <a:xfrm>
            <a:off x="660400" y="5775188"/>
            <a:ext cx="4064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PT" sz="2200" b="1" dirty="0">
                <a:solidFill>
                  <a:srgbClr val="156082"/>
                </a:solidFill>
              </a:rPr>
              <a:t>→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C706087-3482-DE4C-944B-DA949279670A}"/>
              </a:ext>
            </a:extLst>
          </p:cNvPr>
          <p:cNvSpPr txBox="1"/>
          <p:nvPr/>
        </p:nvSpPr>
        <p:spPr>
          <a:xfrm>
            <a:off x="1168400" y="5724388"/>
            <a:ext cx="10414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PT" i="1" dirty="0" err="1">
                <a:solidFill>
                  <a:srgbClr val="1A2332"/>
                </a:solidFill>
                <a:latin typeface="Calibri"/>
                <a:cs typeface="Calibri"/>
              </a:rPr>
              <a:t>Machine</a:t>
            </a:r>
            <a:r>
              <a:rPr lang="pt-PT" i="1" dirty="0">
                <a:solidFill>
                  <a:srgbClr val="1A2332"/>
                </a:solidFill>
                <a:latin typeface="Calibri"/>
                <a:cs typeface="Calibri"/>
              </a:rPr>
              <a:t> </a:t>
            </a:r>
            <a:r>
              <a:rPr lang="pt-PT" i="1" dirty="0" err="1">
                <a:solidFill>
                  <a:srgbClr val="1A2332"/>
                </a:solidFill>
                <a:latin typeface="Calibri"/>
                <a:cs typeface="Calibri"/>
              </a:rPr>
              <a:t>unlearning</a:t>
            </a:r>
            <a:r>
              <a:rPr lang="pt-PT" i="1" dirty="0">
                <a:solidFill>
                  <a:srgbClr val="1A2332"/>
                </a:solidFill>
                <a:latin typeface="Calibri"/>
                <a:cs typeface="Calibri"/>
              </a:rPr>
              <a:t> surge como resposta técnica mas não para o contexto distribuído dos edifícios inteligentes.</a:t>
            </a:r>
          </a:p>
        </p:txBody>
      </p:sp>
    </p:spTree>
    <p:extLst>
      <p:ext uri="{BB962C8B-B14F-4D97-AF65-F5344CB8AC3E}">
        <p14:creationId xmlns:p14="http://schemas.microsoft.com/office/powerpoint/2010/main" val="304978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8B755-31A6-2BF2-DD43-BEC12B8E0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PT" sz="3200" b="1" dirty="0">
                <a:solidFill>
                  <a:srgbClr val="1A2332"/>
                </a:solidFill>
                <a:latin typeface="Georgia"/>
              </a:rPr>
              <a:t>Machine Unlearning: </a:t>
            </a:r>
            <a:r>
              <a:rPr lang="pt-PT" sz="3200" b="1" dirty="0" err="1">
                <a:solidFill>
                  <a:srgbClr val="1A2332"/>
                </a:solidFill>
                <a:latin typeface="Georgia"/>
              </a:rPr>
              <a:t>Exact</a:t>
            </a:r>
            <a:r>
              <a:rPr lang="pt-PT" sz="3200" b="1" dirty="0">
                <a:solidFill>
                  <a:srgbClr val="1A2332"/>
                </a:solidFill>
                <a:latin typeface="Georgia"/>
              </a:rPr>
              <a:t> vs. </a:t>
            </a:r>
            <a:r>
              <a:rPr lang="pt-PT" sz="3200" b="1" dirty="0" err="1">
                <a:solidFill>
                  <a:srgbClr val="1A2332"/>
                </a:solidFill>
                <a:latin typeface="Georgia"/>
              </a:rPr>
              <a:t>Approximate</a:t>
            </a:r>
            <a:endParaRPr lang="pt-PT" sz="3200" b="1" dirty="0">
              <a:solidFill>
                <a:srgbClr val="1A2332"/>
              </a:solidFill>
              <a:latin typeface="Georgia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8396072-EFB9-CA45-9692-0A828F64C452}"/>
              </a:ext>
            </a:extLst>
          </p:cNvPr>
          <p:cNvSpPr/>
          <p:nvPr/>
        </p:nvSpPr>
        <p:spPr>
          <a:xfrm>
            <a:off x="457200" y="2032000"/>
            <a:ext cx="1016000" cy="2794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PT" sz="1100" b="1" dirty="0">
                <a:solidFill>
                  <a:srgbClr val="FFFFFF"/>
                </a:solidFill>
                <a:latin typeface="Calibri"/>
                <a:cs typeface="Calibri"/>
              </a:rPr>
              <a:t>EXACT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6E21666-8F6B-0A46-B264-E8A341B046B3}"/>
              </a:ext>
            </a:extLst>
          </p:cNvPr>
          <p:cNvSpPr txBox="1"/>
          <p:nvPr/>
        </p:nvSpPr>
        <p:spPr>
          <a:xfrm>
            <a:off x="457200" y="2438400"/>
            <a:ext cx="5486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900" b="1">
                <a:solidFill>
                  <a:srgbClr val="1A2332"/>
                </a:solidFill>
                <a:latin typeface="Georgia"/>
              </a:rPr>
              <a:t>Garantia formal de remoção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1D83EA-169A-D44D-AE4C-EAD3BEB8ADF8}"/>
              </a:ext>
            </a:extLst>
          </p:cNvPr>
          <p:cNvSpPr txBox="1"/>
          <p:nvPr/>
        </p:nvSpPr>
        <p:spPr>
          <a:xfrm>
            <a:off x="457200" y="2946400"/>
            <a:ext cx="54864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dirty="0">
                <a:solidFill>
                  <a:srgbClr val="1A2332"/>
                </a:solidFill>
                <a:latin typeface="Calibri"/>
                <a:cs typeface="Calibri"/>
              </a:rPr>
              <a:t>Reestrutura o treino para que cada eliminação seja resolvida por </a:t>
            </a:r>
            <a:r>
              <a:rPr lang="pt-PT" sz="1600" dirty="0" err="1">
                <a:solidFill>
                  <a:srgbClr val="1A2332"/>
                </a:solidFill>
                <a:latin typeface="Calibri"/>
                <a:cs typeface="Calibri"/>
              </a:rPr>
              <a:t>retreino</a:t>
            </a:r>
            <a:r>
              <a:rPr lang="pt-PT" sz="1600" dirty="0">
                <a:solidFill>
                  <a:srgbClr val="1A2332"/>
                </a:solidFill>
                <a:latin typeface="Calibri"/>
                <a:cs typeface="Calibri"/>
              </a:rPr>
              <a:t> parcial.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E1CDA24-8C9D-CC4B-A0E1-653E231F8CD8}"/>
              </a:ext>
            </a:extLst>
          </p:cNvPr>
          <p:cNvSpPr txBox="1"/>
          <p:nvPr/>
        </p:nvSpPr>
        <p:spPr>
          <a:xfrm>
            <a:off x="457200" y="3795895"/>
            <a:ext cx="54864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100" b="1" dirty="0">
                <a:solidFill>
                  <a:srgbClr val="156082"/>
                </a:solidFill>
                <a:latin typeface="Calibri"/>
                <a:cs typeface="Calibri"/>
              </a:rPr>
              <a:t>LIMITAÇÕES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2F73D95-F8EE-7E4B-AD0B-5A342420EBBD}"/>
              </a:ext>
            </a:extLst>
          </p:cNvPr>
          <p:cNvSpPr txBox="1"/>
          <p:nvPr/>
        </p:nvSpPr>
        <p:spPr>
          <a:xfrm>
            <a:off x="457200" y="4049895"/>
            <a:ext cx="54864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i="1" dirty="0">
                <a:solidFill>
                  <a:srgbClr val="2E3B4E"/>
                </a:solidFill>
                <a:latin typeface="Calibri"/>
                <a:cs typeface="Calibri"/>
              </a:rPr>
              <a:t>Requer arquitetura específica desde o início; </a:t>
            </a:r>
          </a:p>
          <a:p>
            <a:pPr algn="l"/>
            <a:r>
              <a:rPr lang="pt-PT" sz="1600" i="1" dirty="0">
                <a:solidFill>
                  <a:srgbClr val="2E3B4E"/>
                </a:solidFill>
                <a:latin typeface="Calibri"/>
                <a:cs typeface="Calibri"/>
              </a:rPr>
              <a:t>Degrada precisão;</a:t>
            </a:r>
          </a:p>
          <a:p>
            <a:pPr algn="l"/>
            <a:r>
              <a:rPr lang="pt-PT" sz="1600" i="1" dirty="0">
                <a:solidFill>
                  <a:srgbClr val="2E3B4E"/>
                </a:solidFill>
                <a:latin typeface="Calibri"/>
                <a:cs typeface="Calibri"/>
              </a:rPr>
              <a:t>Sobrecarga em dispositivos </a:t>
            </a:r>
            <a:r>
              <a:rPr lang="pt-PT" sz="1600" i="1" dirty="0" err="1">
                <a:solidFill>
                  <a:srgbClr val="2E3B4E"/>
                </a:solidFill>
                <a:latin typeface="Calibri"/>
                <a:cs typeface="Calibri"/>
              </a:rPr>
              <a:t>edge</a:t>
            </a:r>
            <a:r>
              <a:rPr lang="pt-PT" sz="1600" i="1" dirty="0">
                <a:solidFill>
                  <a:srgbClr val="2E3B4E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701BEDE-A81F-1640-91ED-4609FBC82E35}"/>
              </a:ext>
            </a:extLst>
          </p:cNvPr>
          <p:cNvSpPr/>
          <p:nvPr/>
        </p:nvSpPr>
        <p:spPr>
          <a:xfrm>
            <a:off x="6248400" y="2032000"/>
            <a:ext cx="1016000" cy="279400"/>
          </a:xfrm>
          <a:prstGeom prst="rect">
            <a:avLst/>
          </a:prstGeom>
          <a:solidFill>
            <a:srgbClr val="B551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PT" sz="1100" b="1" dirty="0">
                <a:solidFill>
                  <a:srgbClr val="FFFFFF"/>
                </a:solidFill>
                <a:latin typeface="Calibri"/>
                <a:cs typeface="Calibri"/>
              </a:rPr>
              <a:t>APPROXIMATE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2F769AF-3817-2344-8566-F408466AB4A6}"/>
              </a:ext>
            </a:extLst>
          </p:cNvPr>
          <p:cNvSpPr txBox="1"/>
          <p:nvPr/>
        </p:nvSpPr>
        <p:spPr>
          <a:xfrm>
            <a:off x="6248400" y="2438400"/>
            <a:ext cx="5486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900" b="1">
                <a:solidFill>
                  <a:srgbClr val="1A2332"/>
                </a:solidFill>
                <a:latin typeface="Georgia"/>
              </a:rPr>
              <a:t>Redução tolerável de influência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A7A24EB-6497-164B-ADDD-1C8D815755D6}"/>
              </a:ext>
            </a:extLst>
          </p:cNvPr>
          <p:cNvSpPr txBox="1"/>
          <p:nvPr/>
        </p:nvSpPr>
        <p:spPr>
          <a:xfrm>
            <a:off x="6248400" y="2946400"/>
            <a:ext cx="54864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dirty="0">
                <a:solidFill>
                  <a:srgbClr val="1A2332"/>
                </a:solidFill>
                <a:latin typeface="Calibri"/>
                <a:cs typeface="Calibri"/>
              </a:rPr>
              <a:t>Atualiza pesos para minimizar o impacto dos dados-alvo, sem garantia de eliminação total.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BCE48C7-C383-3342-B736-8BBCBDD5B5B8}"/>
              </a:ext>
            </a:extLst>
          </p:cNvPr>
          <p:cNvSpPr txBox="1"/>
          <p:nvPr/>
        </p:nvSpPr>
        <p:spPr>
          <a:xfrm>
            <a:off x="6248400" y="3795895"/>
            <a:ext cx="54864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100" b="1" dirty="0">
                <a:solidFill>
                  <a:srgbClr val="E97132"/>
                </a:solidFill>
                <a:latin typeface="Calibri"/>
                <a:cs typeface="Calibri"/>
              </a:rPr>
              <a:t>LIMITAÇÕES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E0F17D5-7E51-944F-8BB3-90C60269DA03}"/>
              </a:ext>
            </a:extLst>
          </p:cNvPr>
          <p:cNvSpPr txBox="1"/>
          <p:nvPr/>
        </p:nvSpPr>
        <p:spPr>
          <a:xfrm>
            <a:off x="6248400" y="4049895"/>
            <a:ext cx="54864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i="1" dirty="0">
                <a:solidFill>
                  <a:srgbClr val="2E3B4E"/>
                </a:solidFill>
                <a:latin typeface="Calibri"/>
                <a:cs typeface="Calibri"/>
              </a:rPr>
              <a:t>Sem garantia da eliminação total; </a:t>
            </a:r>
          </a:p>
          <a:p>
            <a:pPr algn="l"/>
            <a:r>
              <a:rPr lang="pt-PT" sz="1600" i="1" dirty="0">
                <a:solidFill>
                  <a:srgbClr val="2E3B4E"/>
                </a:solidFill>
                <a:latin typeface="Calibri"/>
                <a:cs typeface="Calibri"/>
              </a:rPr>
              <a:t>Vulnerável a ataques de reconstrução; </a:t>
            </a:r>
          </a:p>
          <a:p>
            <a:pPr algn="l"/>
            <a:r>
              <a:rPr lang="pt-PT" sz="1600" i="1" dirty="0">
                <a:solidFill>
                  <a:srgbClr val="2E3B4E"/>
                </a:solidFill>
                <a:latin typeface="Calibri"/>
                <a:cs typeface="Calibri"/>
              </a:rPr>
              <a:t>Difícil de auditar.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74179A9-96B0-A346-9A90-E2F197B0C4A4}"/>
              </a:ext>
            </a:extLst>
          </p:cNvPr>
          <p:cNvSpPr/>
          <p:nvPr/>
        </p:nvSpPr>
        <p:spPr>
          <a:xfrm>
            <a:off x="457200" y="5842000"/>
            <a:ext cx="11277600" cy="508000"/>
          </a:xfrm>
          <a:prstGeom prst="rect">
            <a:avLst/>
          </a:prstGeom>
          <a:solidFill>
            <a:srgbClr val="F0EB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705BF2C-7CEF-8B43-ADE1-AA1175D95470}"/>
              </a:ext>
            </a:extLst>
          </p:cNvPr>
          <p:cNvSpPr txBox="1"/>
          <p:nvPr/>
        </p:nvSpPr>
        <p:spPr>
          <a:xfrm>
            <a:off x="660400" y="5892800"/>
            <a:ext cx="108712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PT" sz="1300" i="1" dirty="0" err="1">
                <a:solidFill>
                  <a:srgbClr val="1A2332"/>
                </a:solidFill>
                <a:latin typeface="Calibri"/>
                <a:cs typeface="Calibri"/>
              </a:rPr>
              <a:t>Trade-off</a:t>
            </a:r>
            <a:r>
              <a:rPr lang="pt-PT" sz="1300" i="1" dirty="0">
                <a:solidFill>
                  <a:srgbClr val="1A2332"/>
                </a:solidFill>
                <a:latin typeface="Calibri"/>
                <a:cs typeface="Calibri"/>
              </a:rPr>
              <a:t> entre garantia, custo computacional e flexibilidade de implementação.</a:t>
            </a:r>
          </a:p>
        </p:txBody>
      </p:sp>
    </p:spTree>
    <p:extLst>
      <p:ext uri="{BB962C8B-B14F-4D97-AF65-F5344CB8AC3E}">
        <p14:creationId xmlns:p14="http://schemas.microsoft.com/office/powerpoint/2010/main" val="3416219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72268-D0E6-77F2-DDC7-9A204E903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PT" sz="3200" b="1" dirty="0">
                <a:latin typeface="Georgia"/>
              </a:rPr>
              <a:t>Arquitetura IoT em Três Camadas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90B106A4-728A-3345-8B35-1E59BF5B7A6C}"/>
              </a:ext>
            </a:extLst>
          </p:cNvPr>
          <p:cNvSpPr/>
          <p:nvPr/>
        </p:nvSpPr>
        <p:spPr>
          <a:xfrm>
            <a:off x="7289801" y="1885380"/>
            <a:ext cx="4292600" cy="1325564"/>
          </a:xfrm>
          <a:prstGeom prst="rect">
            <a:avLst/>
          </a:prstGeom>
          <a:solidFill>
            <a:srgbClr val="E8E4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5C5F5A71-2E41-764C-BC76-16827DED224D}"/>
              </a:ext>
            </a:extLst>
          </p:cNvPr>
          <p:cNvSpPr txBox="1"/>
          <p:nvPr/>
        </p:nvSpPr>
        <p:spPr>
          <a:xfrm>
            <a:off x="7569200" y="2082800"/>
            <a:ext cx="3962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PT" sz="1300" b="1" dirty="0">
                <a:solidFill>
                  <a:srgbClr val="E97132"/>
                </a:solidFill>
                <a:latin typeface="Calibri"/>
              </a:rPr>
              <a:t>IMPLICAÇÃO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DFC31B3A-BFF8-F542-B160-36059BEB32C3}"/>
              </a:ext>
            </a:extLst>
          </p:cNvPr>
          <p:cNvSpPr txBox="1"/>
          <p:nvPr/>
        </p:nvSpPr>
        <p:spPr>
          <a:xfrm>
            <a:off x="7442201" y="2501901"/>
            <a:ext cx="4066476" cy="543916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pt-PT" sz="1400" dirty="0">
                <a:solidFill>
                  <a:srgbClr val="1A2332"/>
                </a:solidFill>
              </a:rPr>
              <a:t>Um pedido de esquecimento tem de se propagar pelas três camadas. </a:t>
            </a:r>
          </a:p>
        </p:txBody>
      </p:sp>
      <p:sp>
        <p:nvSpPr>
          <p:cNvPr id="3" name="Nuvem 2">
            <a:extLst>
              <a:ext uri="{FF2B5EF4-FFF2-40B4-BE49-F238E27FC236}">
                <a16:creationId xmlns:a16="http://schemas.microsoft.com/office/drawing/2014/main" id="{E6B41E85-1F4A-53D9-E9F5-B67E69310A98}"/>
              </a:ext>
            </a:extLst>
          </p:cNvPr>
          <p:cNvSpPr/>
          <p:nvPr/>
        </p:nvSpPr>
        <p:spPr>
          <a:xfrm>
            <a:off x="2538142" y="1782676"/>
            <a:ext cx="1587809" cy="1005130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Retângulo Arredondado 3">
            <a:extLst>
              <a:ext uri="{FF2B5EF4-FFF2-40B4-BE49-F238E27FC236}">
                <a16:creationId xmlns:a16="http://schemas.microsoft.com/office/drawing/2014/main" id="{D631B9D5-4BC0-E61B-872F-A1C121BC8BFF}"/>
              </a:ext>
            </a:extLst>
          </p:cNvPr>
          <p:cNvSpPr/>
          <p:nvPr/>
        </p:nvSpPr>
        <p:spPr>
          <a:xfrm>
            <a:off x="1773625" y="3315405"/>
            <a:ext cx="1133088" cy="616521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SBC1</a:t>
            </a:r>
          </a:p>
        </p:txBody>
      </p:sp>
      <p:sp>
        <p:nvSpPr>
          <p:cNvPr id="8" name="Retângulo Arredondado 7">
            <a:extLst>
              <a:ext uri="{FF2B5EF4-FFF2-40B4-BE49-F238E27FC236}">
                <a16:creationId xmlns:a16="http://schemas.microsoft.com/office/drawing/2014/main" id="{53E563E9-FDED-EE36-43CC-49168816A883}"/>
              </a:ext>
            </a:extLst>
          </p:cNvPr>
          <p:cNvSpPr/>
          <p:nvPr/>
        </p:nvSpPr>
        <p:spPr>
          <a:xfrm>
            <a:off x="4305147" y="3120739"/>
            <a:ext cx="1133088" cy="616521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SBC2</a:t>
            </a:r>
          </a:p>
        </p:txBody>
      </p: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B4507F0A-09D1-B0A4-3C81-6394EB607DDD}"/>
              </a:ext>
            </a:extLst>
          </p:cNvPr>
          <p:cNvGrpSpPr/>
          <p:nvPr/>
        </p:nvGrpSpPr>
        <p:grpSpPr>
          <a:xfrm>
            <a:off x="5717081" y="4554278"/>
            <a:ext cx="668005" cy="695844"/>
            <a:chOff x="5690913" y="3108339"/>
            <a:chExt cx="668005" cy="69584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C22C26E-55EA-9E3F-FFE9-363716707316}"/>
                </a:ext>
              </a:extLst>
            </p:cNvPr>
            <p:cNvSpPr/>
            <p:nvPr/>
          </p:nvSpPr>
          <p:spPr>
            <a:xfrm>
              <a:off x="5690913" y="3108339"/>
              <a:ext cx="668005" cy="695844"/>
            </a:xfrm>
            <a:prstGeom prst="ellipse">
              <a:avLst/>
            </a:prstGeom>
            <a:solidFill>
              <a:srgbClr val="FFFFFF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pic>
          <p:nvPicPr>
            <p:cNvPr id="19" name="Imagem 18">
              <a:extLst>
                <a:ext uri="{FF2B5EF4-FFF2-40B4-BE49-F238E27FC236}">
                  <a16:creationId xmlns:a16="http://schemas.microsoft.com/office/drawing/2014/main" id="{326C4AB2-6357-2C9C-3A3B-79388D9A3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88829" y="3272639"/>
              <a:ext cx="472171" cy="367244"/>
            </a:xfrm>
            <a:prstGeom prst="rect">
              <a:avLst/>
            </a:prstGeom>
          </p:spPr>
        </p:pic>
      </p:grpSp>
      <p:grpSp>
        <p:nvGrpSpPr>
          <p:cNvPr id="61" name="Agrupar 60">
            <a:extLst>
              <a:ext uri="{FF2B5EF4-FFF2-40B4-BE49-F238E27FC236}">
                <a16:creationId xmlns:a16="http://schemas.microsoft.com/office/drawing/2014/main" id="{407DA055-34DE-2C76-AB3D-A91B3A52B341}"/>
              </a:ext>
            </a:extLst>
          </p:cNvPr>
          <p:cNvGrpSpPr/>
          <p:nvPr/>
        </p:nvGrpSpPr>
        <p:grpSpPr>
          <a:xfrm>
            <a:off x="5049076" y="5177593"/>
            <a:ext cx="668005" cy="695844"/>
            <a:chOff x="5079342" y="3998924"/>
            <a:chExt cx="668005" cy="695844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FF61855E-5B80-E91C-2000-FE6A1258A77E}"/>
                </a:ext>
              </a:extLst>
            </p:cNvPr>
            <p:cNvSpPr/>
            <p:nvPr/>
          </p:nvSpPr>
          <p:spPr>
            <a:xfrm>
              <a:off x="5079342" y="3998924"/>
              <a:ext cx="668005" cy="695844"/>
            </a:xfrm>
            <a:prstGeom prst="ellipse">
              <a:avLst/>
            </a:prstGeom>
            <a:solidFill>
              <a:srgbClr val="FFFFFF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pic>
          <p:nvPicPr>
            <p:cNvPr id="46" name="Imagem 45">
              <a:extLst>
                <a:ext uri="{FF2B5EF4-FFF2-40B4-BE49-F238E27FC236}">
                  <a16:creationId xmlns:a16="http://schemas.microsoft.com/office/drawing/2014/main" id="{0FD73058-96C1-DD86-1879-BEE8665C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40877" y="4097823"/>
              <a:ext cx="365953" cy="478554"/>
            </a:xfrm>
            <a:prstGeom prst="rect">
              <a:avLst/>
            </a:prstGeom>
          </p:spPr>
        </p:pic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2D0E1AE6-3E5E-51E2-F903-D4CB39B54F7F}"/>
              </a:ext>
            </a:extLst>
          </p:cNvPr>
          <p:cNvGrpSpPr/>
          <p:nvPr/>
        </p:nvGrpSpPr>
        <p:grpSpPr>
          <a:xfrm>
            <a:off x="2797032" y="4666695"/>
            <a:ext cx="668005" cy="695844"/>
            <a:chOff x="2976547" y="4694768"/>
            <a:chExt cx="668005" cy="695844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B7E6879-1F53-0660-F812-890A8F108EF2}"/>
                </a:ext>
              </a:extLst>
            </p:cNvPr>
            <p:cNvSpPr/>
            <p:nvPr/>
          </p:nvSpPr>
          <p:spPr>
            <a:xfrm>
              <a:off x="2976547" y="4694768"/>
              <a:ext cx="668005" cy="695844"/>
            </a:xfrm>
            <a:prstGeom prst="ellipse">
              <a:avLst/>
            </a:prstGeom>
            <a:solidFill>
              <a:srgbClr val="FFFFFF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pic>
          <p:nvPicPr>
            <p:cNvPr id="47" name="Imagem 46">
              <a:extLst>
                <a:ext uri="{FF2B5EF4-FFF2-40B4-BE49-F238E27FC236}">
                  <a16:creationId xmlns:a16="http://schemas.microsoft.com/office/drawing/2014/main" id="{2669D873-4542-768E-2A73-070805186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01740" y="4813305"/>
              <a:ext cx="417671" cy="484119"/>
            </a:xfrm>
            <a:prstGeom prst="rect">
              <a:avLst/>
            </a:prstGeom>
          </p:spPr>
        </p:pic>
      </p:grp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044E3615-23DC-8B6B-EB09-1C189C927525}"/>
              </a:ext>
            </a:extLst>
          </p:cNvPr>
          <p:cNvGrpSpPr/>
          <p:nvPr/>
        </p:nvGrpSpPr>
        <p:grpSpPr>
          <a:xfrm>
            <a:off x="2005200" y="5257972"/>
            <a:ext cx="668005" cy="695844"/>
            <a:chOff x="2231260" y="4716098"/>
            <a:chExt cx="668005" cy="695844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631A9-CEBA-0FCA-2D9C-40863CFA2220}"/>
                </a:ext>
              </a:extLst>
            </p:cNvPr>
            <p:cNvSpPr/>
            <p:nvPr/>
          </p:nvSpPr>
          <p:spPr>
            <a:xfrm>
              <a:off x="2231260" y="4716098"/>
              <a:ext cx="668005" cy="695844"/>
            </a:xfrm>
            <a:prstGeom prst="ellipse">
              <a:avLst/>
            </a:prstGeom>
            <a:solidFill>
              <a:srgbClr val="FFFFFF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pic>
          <p:nvPicPr>
            <p:cNvPr id="48" name="Imagem 47">
              <a:extLst>
                <a:ext uri="{FF2B5EF4-FFF2-40B4-BE49-F238E27FC236}">
                  <a16:creationId xmlns:a16="http://schemas.microsoft.com/office/drawing/2014/main" id="{637265AE-91A1-40C5-8913-761B36043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16194" y="4849738"/>
              <a:ext cx="498135" cy="411251"/>
            </a:xfrm>
            <a:prstGeom prst="rect">
              <a:avLst/>
            </a:prstGeom>
          </p:spPr>
        </p:pic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736E1F05-BE88-42C4-327A-EFC12644DAA5}"/>
              </a:ext>
            </a:extLst>
          </p:cNvPr>
          <p:cNvGrpSpPr/>
          <p:nvPr/>
        </p:nvGrpSpPr>
        <p:grpSpPr>
          <a:xfrm>
            <a:off x="4212202" y="4777385"/>
            <a:ext cx="668005" cy="695844"/>
            <a:chOff x="4252472" y="3968158"/>
            <a:chExt cx="668005" cy="695844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3D2FFEF-302B-9C52-818B-4CB4DCB2F70B}"/>
                </a:ext>
              </a:extLst>
            </p:cNvPr>
            <p:cNvSpPr/>
            <p:nvPr/>
          </p:nvSpPr>
          <p:spPr>
            <a:xfrm>
              <a:off x="4252472" y="3968158"/>
              <a:ext cx="668005" cy="695844"/>
            </a:xfrm>
            <a:prstGeom prst="ellipse">
              <a:avLst/>
            </a:prstGeom>
            <a:solidFill>
              <a:srgbClr val="FFFFFF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pic>
          <p:nvPicPr>
            <p:cNvPr id="49" name="Imagem 48">
              <a:extLst>
                <a:ext uri="{FF2B5EF4-FFF2-40B4-BE49-F238E27FC236}">
                  <a16:creationId xmlns:a16="http://schemas.microsoft.com/office/drawing/2014/main" id="{49BF73B6-637F-E250-3AAE-DEFCA7CDA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85739" y="4096316"/>
              <a:ext cx="403331" cy="439528"/>
            </a:xfrm>
            <a:prstGeom prst="rect">
              <a:avLst/>
            </a:prstGeom>
          </p:spPr>
        </p:pic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83F2A707-3504-3021-BA53-F03A94DC9DB3}"/>
              </a:ext>
            </a:extLst>
          </p:cNvPr>
          <p:cNvGrpSpPr/>
          <p:nvPr/>
        </p:nvGrpSpPr>
        <p:grpSpPr>
          <a:xfrm>
            <a:off x="1320080" y="4560234"/>
            <a:ext cx="668005" cy="695844"/>
            <a:chOff x="1068687" y="4187922"/>
            <a:chExt cx="668005" cy="695844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96334C3-E0E3-5731-1A82-9EF04AD84A62}"/>
                </a:ext>
              </a:extLst>
            </p:cNvPr>
            <p:cNvSpPr/>
            <p:nvPr/>
          </p:nvSpPr>
          <p:spPr>
            <a:xfrm>
              <a:off x="1068687" y="4187922"/>
              <a:ext cx="668005" cy="695844"/>
            </a:xfrm>
            <a:prstGeom prst="ellipse">
              <a:avLst/>
            </a:prstGeom>
            <a:solidFill>
              <a:srgbClr val="FFFFFF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pic>
          <p:nvPicPr>
            <p:cNvPr id="56" name="Imagem 55">
              <a:extLst>
                <a:ext uri="{FF2B5EF4-FFF2-40B4-BE49-F238E27FC236}">
                  <a16:creationId xmlns:a16="http://schemas.microsoft.com/office/drawing/2014/main" id="{3EBB1208-3146-2793-7037-3ED57D6BFC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0222" y="4286821"/>
              <a:ext cx="365953" cy="478554"/>
            </a:xfrm>
            <a:prstGeom prst="rect">
              <a:avLst/>
            </a:prstGeom>
          </p:spPr>
        </p:pic>
      </p:grpSp>
      <p:sp>
        <p:nvSpPr>
          <p:cNvPr id="63" name="Retângulo 62">
            <a:extLst>
              <a:ext uri="{FF2B5EF4-FFF2-40B4-BE49-F238E27FC236}">
                <a16:creationId xmlns:a16="http://schemas.microsoft.com/office/drawing/2014/main" id="{4D27F77E-8F20-7B6D-6BE3-2386009F5AA9}"/>
              </a:ext>
            </a:extLst>
          </p:cNvPr>
          <p:cNvSpPr/>
          <p:nvPr/>
        </p:nvSpPr>
        <p:spPr>
          <a:xfrm>
            <a:off x="703376" y="4238765"/>
            <a:ext cx="300857" cy="189502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PT" dirty="0"/>
              <a:t>PERCEPTION</a:t>
            </a: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CC5A5EB7-13D0-E985-9764-9A1C8F5BB149}"/>
              </a:ext>
            </a:extLst>
          </p:cNvPr>
          <p:cNvSpPr/>
          <p:nvPr/>
        </p:nvSpPr>
        <p:spPr>
          <a:xfrm>
            <a:off x="703376" y="3045816"/>
            <a:ext cx="300857" cy="113425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PT" dirty="0"/>
              <a:t>EDGE</a:t>
            </a:r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3614FE79-D157-00EC-42C5-22BDD0EF34C7}"/>
              </a:ext>
            </a:extLst>
          </p:cNvPr>
          <p:cNvSpPr/>
          <p:nvPr/>
        </p:nvSpPr>
        <p:spPr>
          <a:xfrm>
            <a:off x="703376" y="1751566"/>
            <a:ext cx="300857" cy="12333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PT" dirty="0"/>
              <a:t>CLOUD</a:t>
            </a:r>
          </a:p>
        </p:txBody>
      </p:sp>
      <p:cxnSp>
        <p:nvCxnSpPr>
          <p:cNvPr id="69" name="Conexão em Ângulos Retos 68">
            <a:extLst>
              <a:ext uri="{FF2B5EF4-FFF2-40B4-BE49-F238E27FC236}">
                <a16:creationId xmlns:a16="http://schemas.microsoft.com/office/drawing/2014/main" id="{92C07DD8-A603-7DF6-654F-B8EA804F0478}"/>
              </a:ext>
            </a:extLst>
          </p:cNvPr>
          <p:cNvCxnSpPr>
            <a:stCxn id="3" idx="2"/>
            <a:endCxn id="4" idx="0"/>
          </p:cNvCxnSpPr>
          <p:nvPr/>
        </p:nvCxnSpPr>
        <p:spPr>
          <a:xfrm rot="10800000" flipV="1">
            <a:off x="2340169" y="2285241"/>
            <a:ext cx="202898" cy="103016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Conexão em Ângulos Retos 69">
            <a:extLst>
              <a:ext uri="{FF2B5EF4-FFF2-40B4-BE49-F238E27FC236}">
                <a16:creationId xmlns:a16="http://schemas.microsoft.com/office/drawing/2014/main" id="{D575F286-292B-AE24-7E10-0D133096FBDA}"/>
              </a:ext>
            </a:extLst>
          </p:cNvPr>
          <p:cNvCxnSpPr>
            <a:cxnSpLocks/>
            <a:stCxn id="3" idx="0"/>
            <a:endCxn id="8" idx="0"/>
          </p:cNvCxnSpPr>
          <p:nvPr/>
        </p:nvCxnSpPr>
        <p:spPr>
          <a:xfrm>
            <a:off x="4124628" y="2285241"/>
            <a:ext cx="747063" cy="8354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Conexão em Ângulos Retos 72">
            <a:extLst>
              <a:ext uri="{FF2B5EF4-FFF2-40B4-BE49-F238E27FC236}">
                <a16:creationId xmlns:a16="http://schemas.microsoft.com/office/drawing/2014/main" id="{54EF52F0-6159-667E-7889-EE96CFB9E552}"/>
              </a:ext>
            </a:extLst>
          </p:cNvPr>
          <p:cNvCxnSpPr>
            <a:cxnSpLocks/>
            <a:stCxn id="4" idx="2"/>
            <a:endCxn id="52" idx="2"/>
          </p:cNvCxnSpPr>
          <p:nvPr/>
        </p:nvCxnSpPr>
        <p:spPr>
          <a:xfrm rot="16200000" flipH="1">
            <a:off x="2027255" y="4244839"/>
            <a:ext cx="1082691" cy="45686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Conexão em Ângulos Retos 75">
            <a:extLst>
              <a:ext uri="{FF2B5EF4-FFF2-40B4-BE49-F238E27FC236}">
                <a16:creationId xmlns:a16="http://schemas.microsoft.com/office/drawing/2014/main" id="{0733A680-B76F-E2A3-85E3-FC5B0572FAA6}"/>
              </a:ext>
            </a:extLst>
          </p:cNvPr>
          <p:cNvCxnSpPr>
            <a:cxnSpLocks/>
            <a:stCxn id="4" idx="2"/>
            <a:endCxn id="51" idx="0"/>
          </p:cNvCxnSpPr>
          <p:nvPr/>
        </p:nvCxnSpPr>
        <p:spPr>
          <a:xfrm rot="5400000">
            <a:off x="1676663" y="4594466"/>
            <a:ext cx="1326046" cy="9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Conexão em Ângulos Retos 78">
            <a:extLst>
              <a:ext uri="{FF2B5EF4-FFF2-40B4-BE49-F238E27FC236}">
                <a16:creationId xmlns:a16="http://schemas.microsoft.com/office/drawing/2014/main" id="{254B23C3-E79E-BACA-D787-06E312BA8807}"/>
              </a:ext>
            </a:extLst>
          </p:cNvPr>
          <p:cNvCxnSpPr>
            <a:cxnSpLocks/>
            <a:stCxn id="4" idx="2"/>
            <a:endCxn id="55" idx="6"/>
          </p:cNvCxnSpPr>
          <p:nvPr/>
        </p:nvCxnSpPr>
        <p:spPr>
          <a:xfrm rot="5400000">
            <a:off x="1676012" y="4243999"/>
            <a:ext cx="976230" cy="3520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Conexão em Ângulos Retos 81">
            <a:extLst>
              <a:ext uri="{FF2B5EF4-FFF2-40B4-BE49-F238E27FC236}">
                <a16:creationId xmlns:a16="http://schemas.microsoft.com/office/drawing/2014/main" id="{8596FF15-AB31-A8B0-0525-8A3293CF472F}"/>
              </a:ext>
            </a:extLst>
          </p:cNvPr>
          <p:cNvCxnSpPr>
            <a:cxnSpLocks/>
            <a:stCxn id="8" idx="2"/>
            <a:endCxn id="53" idx="0"/>
          </p:cNvCxnSpPr>
          <p:nvPr/>
        </p:nvCxnSpPr>
        <p:spPr>
          <a:xfrm rot="5400000">
            <a:off x="4188886" y="4094579"/>
            <a:ext cx="1040125" cy="3254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Conexão em Ângulos Retos 84">
            <a:extLst>
              <a:ext uri="{FF2B5EF4-FFF2-40B4-BE49-F238E27FC236}">
                <a16:creationId xmlns:a16="http://schemas.microsoft.com/office/drawing/2014/main" id="{6871268D-EA51-5920-477E-9110DF2E1C7F}"/>
              </a:ext>
            </a:extLst>
          </p:cNvPr>
          <p:cNvCxnSpPr>
            <a:cxnSpLocks/>
            <a:stCxn id="8" idx="2"/>
            <a:endCxn id="54" idx="0"/>
          </p:cNvCxnSpPr>
          <p:nvPr/>
        </p:nvCxnSpPr>
        <p:spPr>
          <a:xfrm rot="16200000" flipH="1">
            <a:off x="4407219" y="4201732"/>
            <a:ext cx="1440333" cy="5113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Conexão em Ângulos Retos 87">
            <a:extLst>
              <a:ext uri="{FF2B5EF4-FFF2-40B4-BE49-F238E27FC236}">
                <a16:creationId xmlns:a16="http://schemas.microsoft.com/office/drawing/2014/main" id="{E36949B5-88F9-D954-EE78-B02467AEA29C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16200000" flipH="1">
            <a:off x="5052878" y="3556072"/>
            <a:ext cx="817018" cy="11793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540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CD078-7E1D-C75D-573F-D4B128CE9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PT" sz="3200" b="1" dirty="0">
                <a:solidFill>
                  <a:srgbClr val="1A2332"/>
                </a:solidFill>
                <a:latin typeface="Georgia"/>
              </a:rPr>
              <a:t>Espaços Partilhados: Consentimento e Dados Sobrepostos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673923F-3154-8848-9D73-0EEE65B65528}"/>
              </a:ext>
            </a:extLst>
          </p:cNvPr>
          <p:cNvSpPr/>
          <p:nvPr/>
        </p:nvSpPr>
        <p:spPr>
          <a:xfrm>
            <a:off x="838200" y="2032000"/>
            <a:ext cx="457200" cy="381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35919E0-B42F-264B-A441-85F8E0F22106}"/>
              </a:ext>
            </a:extLst>
          </p:cNvPr>
          <p:cNvSpPr txBox="1"/>
          <p:nvPr/>
        </p:nvSpPr>
        <p:spPr>
          <a:xfrm>
            <a:off x="838200" y="21844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PT" sz="1400" b="1" dirty="0">
                <a:solidFill>
                  <a:srgbClr val="156082"/>
                </a:solidFill>
                <a:latin typeface="Calibri"/>
                <a:cs typeface="Calibri"/>
              </a:rPr>
              <a:t>CONSENTIMENTO POR OCUPANTE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E316F12-FF2C-2F47-88BF-4C293F943D95}"/>
              </a:ext>
            </a:extLst>
          </p:cNvPr>
          <p:cNvSpPr txBox="1"/>
          <p:nvPr/>
        </p:nvSpPr>
        <p:spPr>
          <a:xfrm>
            <a:off x="838200" y="2590800"/>
            <a:ext cx="3556000" cy="589722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PT" sz="1500" dirty="0">
                <a:solidFill>
                  <a:srgbClr val="1A2332"/>
                </a:solidFill>
                <a:latin typeface="Calibri"/>
                <a:cs typeface="Calibri"/>
              </a:rPr>
              <a:t>Cada ocupante concede o seu consentimento separadamente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1D93909-060F-684A-8261-349B294CAFD3}"/>
              </a:ext>
            </a:extLst>
          </p:cNvPr>
          <p:cNvSpPr/>
          <p:nvPr/>
        </p:nvSpPr>
        <p:spPr>
          <a:xfrm>
            <a:off x="4145722" y="3632200"/>
            <a:ext cx="457200" cy="381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7C8B1BA-7A8A-AB4D-BEFF-39191BF6C5F2}"/>
              </a:ext>
            </a:extLst>
          </p:cNvPr>
          <p:cNvSpPr txBox="1"/>
          <p:nvPr/>
        </p:nvSpPr>
        <p:spPr>
          <a:xfrm>
            <a:off x="4145722" y="37846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PT" sz="1400" b="1" dirty="0">
                <a:solidFill>
                  <a:srgbClr val="156082"/>
                </a:solidFill>
                <a:latin typeface="Calibri"/>
                <a:cs typeface="Calibri"/>
              </a:rPr>
              <a:t>REGISTOS QUE SE SOBREPÕEM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F7016F-34C5-AF41-9EB5-62B0FF198476}"/>
              </a:ext>
            </a:extLst>
          </p:cNvPr>
          <p:cNvSpPr txBox="1"/>
          <p:nvPr/>
        </p:nvSpPr>
        <p:spPr>
          <a:xfrm>
            <a:off x="4145722" y="4191000"/>
            <a:ext cx="3556000" cy="838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PT" sz="1500" dirty="0">
                <a:solidFill>
                  <a:srgbClr val="1A2332"/>
                </a:solidFill>
                <a:latin typeface="Calibri"/>
                <a:cs typeface="Calibri"/>
              </a:rPr>
              <a:t>Sensores partilhados recolhem dados que pertencem simultaneamente a vários ocupantes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F912B26-2139-4249-8BD7-FA2DC48DAF69}"/>
              </a:ext>
            </a:extLst>
          </p:cNvPr>
          <p:cNvSpPr/>
          <p:nvPr/>
        </p:nvSpPr>
        <p:spPr>
          <a:xfrm>
            <a:off x="7423426" y="2484506"/>
            <a:ext cx="457200" cy="381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A97954E-F799-F34F-B194-1D948C682362}"/>
              </a:ext>
            </a:extLst>
          </p:cNvPr>
          <p:cNvSpPr txBox="1"/>
          <p:nvPr/>
        </p:nvSpPr>
        <p:spPr>
          <a:xfrm>
            <a:off x="7423426" y="2636906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PT" sz="1400" b="1" dirty="0">
                <a:solidFill>
                  <a:srgbClr val="156082"/>
                </a:solidFill>
                <a:latin typeface="Calibri"/>
                <a:cs typeface="Calibri"/>
              </a:rPr>
              <a:t>ELIMINAÇÃO ENTRELAÇADA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23E6E6F-D593-714B-B165-B28DB6003642}"/>
              </a:ext>
            </a:extLst>
          </p:cNvPr>
          <p:cNvSpPr txBox="1"/>
          <p:nvPr/>
        </p:nvSpPr>
        <p:spPr>
          <a:xfrm>
            <a:off x="7423426" y="3043306"/>
            <a:ext cx="3556000" cy="786572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PT" sz="1500" dirty="0">
                <a:solidFill>
                  <a:srgbClr val="1A2332"/>
                </a:solidFill>
                <a:latin typeface="Calibri"/>
                <a:cs typeface="Calibri"/>
              </a:rPr>
              <a:t>Eliminar limpamente os dados de um utilizador sem afetar os restantes torna-se quase impossível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EA28E24-B0CE-DB43-931E-7C3B9336C786}"/>
              </a:ext>
            </a:extLst>
          </p:cNvPr>
          <p:cNvSpPr/>
          <p:nvPr/>
        </p:nvSpPr>
        <p:spPr>
          <a:xfrm>
            <a:off x="457200" y="5689600"/>
            <a:ext cx="11277600" cy="711200"/>
          </a:xfrm>
          <a:prstGeom prst="rect">
            <a:avLst/>
          </a:prstGeom>
          <a:solidFill>
            <a:srgbClr val="E8E4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F3E2870-2329-1A40-A366-A37205668447}"/>
              </a:ext>
            </a:extLst>
          </p:cNvPr>
          <p:cNvSpPr txBox="1"/>
          <p:nvPr/>
        </p:nvSpPr>
        <p:spPr>
          <a:xfrm>
            <a:off x="660400" y="5842000"/>
            <a:ext cx="406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PT" sz="2000" b="1">
                <a:solidFill>
                  <a:srgbClr val="E97132"/>
                </a:solidFill>
                <a:latin typeface="Calibri"/>
              </a:rPr>
              <a:t>→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16F1E91-C5F6-904F-8927-EA5C720F1BB5}"/>
              </a:ext>
            </a:extLst>
          </p:cNvPr>
          <p:cNvSpPr txBox="1"/>
          <p:nvPr/>
        </p:nvSpPr>
        <p:spPr>
          <a:xfrm>
            <a:off x="1066800" y="5879348"/>
            <a:ext cx="101854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Restrição operacional fundamental: o consentimento não é uniforme nem isolável</a:t>
            </a:r>
          </a:p>
        </p:txBody>
      </p:sp>
    </p:spTree>
    <p:extLst>
      <p:ext uri="{BB962C8B-B14F-4D97-AF65-F5344CB8AC3E}">
        <p14:creationId xmlns:p14="http://schemas.microsoft.com/office/powerpoint/2010/main" val="2687980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85CD7D-EDB8-ECEE-76A5-606BBAB4F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PT" sz="3200" b="1" dirty="0">
                <a:solidFill>
                  <a:srgbClr val="1A2332"/>
                </a:solidFill>
                <a:latin typeface="Georgia"/>
              </a:rPr>
              <a:t>Soluções existentes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78E3F19-FBC5-9E4C-B1E6-3ED1C4534B79}"/>
              </a:ext>
            </a:extLst>
          </p:cNvPr>
          <p:cNvSpPr/>
          <p:nvPr/>
        </p:nvSpPr>
        <p:spPr>
          <a:xfrm>
            <a:off x="457200" y="1905000"/>
            <a:ext cx="3556000" cy="4064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PT" sz="1400" b="1">
                <a:solidFill>
                  <a:srgbClr val="FFFFFF"/>
                </a:solidFill>
                <a:latin typeface="Calibri"/>
                <a:cs typeface="Calibri"/>
              </a:rPr>
              <a:t>NA CLOUD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1D48959-1728-7347-993F-C61D0B2EDB02}"/>
              </a:ext>
            </a:extLst>
          </p:cNvPr>
          <p:cNvSpPr txBox="1"/>
          <p:nvPr/>
        </p:nvSpPr>
        <p:spPr>
          <a:xfrm>
            <a:off x="457200" y="2514600"/>
            <a:ext cx="355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 b="1">
                <a:solidFill>
                  <a:srgbClr val="6E7787"/>
                </a:solidFill>
                <a:latin typeface="Calibri"/>
                <a:cs typeface="Calibri"/>
              </a:rPr>
              <a:t>MÉTODOS TÍPICOS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184BD4-F3E7-2B48-8C4A-BFD65A8966C5}"/>
              </a:ext>
            </a:extLst>
          </p:cNvPr>
          <p:cNvSpPr txBox="1"/>
          <p:nvPr/>
        </p:nvSpPr>
        <p:spPr>
          <a:xfrm>
            <a:off x="457200" y="2794000"/>
            <a:ext cx="3556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pt-PT" sz="1600" dirty="0">
                <a:solidFill>
                  <a:srgbClr val="1A2332"/>
                </a:solidFill>
                <a:latin typeface="Calibri"/>
                <a:cs typeface="Calibri"/>
              </a:rPr>
              <a:t>SISA, </a:t>
            </a:r>
            <a:r>
              <a:rPr lang="pt-PT" sz="1600" dirty="0" err="1"/>
              <a:t>gradient-based</a:t>
            </a:r>
            <a:r>
              <a:rPr lang="pt-PT" sz="1600" dirty="0"/>
              <a:t> </a:t>
            </a:r>
            <a:r>
              <a:rPr lang="pt-PT" sz="1600" dirty="0" err="1"/>
              <a:t>corrections</a:t>
            </a:r>
            <a:r>
              <a:rPr lang="pt-PT" sz="1600" dirty="0"/>
              <a:t>, </a:t>
            </a:r>
            <a:r>
              <a:rPr lang="pt-PT" sz="1600" dirty="0" err="1"/>
              <a:t>knowledge</a:t>
            </a:r>
            <a:r>
              <a:rPr lang="pt-PT" sz="1600" dirty="0"/>
              <a:t> </a:t>
            </a:r>
            <a:r>
              <a:rPr lang="pt-PT" sz="1600" dirty="0" err="1"/>
              <a:t>distillation</a:t>
            </a:r>
            <a:endParaRPr lang="pt-PT" sz="160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D3E30D0-2599-A942-A217-9D39744850E2}"/>
              </a:ext>
            </a:extLst>
          </p:cNvPr>
          <p:cNvSpPr/>
          <p:nvPr/>
        </p:nvSpPr>
        <p:spPr>
          <a:xfrm>
            <a:off x="457200" y="3911600"/>
            <a:ext cx="3556000" cy="12700"/>
          </a:xfrm>
          <a:prstGeom prst="rect">
            <a:avLst/>
          </a:prstGeom>
          <a:solidFill>
            <a:srgbClr val="D6D2C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 sz="20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0A88EDD-D1BA-FA40-A079-2EC42A19EC6C}"/>
              </a:ext>
            </a:extLst>
          </p:cNvPr>
          <p:cNvSpPr txBox="1"/>
          <p:nvPr/>
        </p:nvSpPr>
        <p:spPr>
          <a:xfrm>
            <a:off x="457200" y="4064000"/>
            <a:ext cx="355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 b="1">
                <a:solidFill>
                  <a:srgbClr val="156082"/>
                </a:solidFill>
                <a:latin typeface="Calibri"/>
                <a:cs typeface="Calibri"/>
              </a:rPr>
              <a:t>LACUNA CENTRAL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7FBD369-B115-1C43-A393-D67DBBBEC643}"/>
              </a:ext>
            </a:extLst>
          </p:cNvPr>
          <p:cNvSpPr txBox="1"/>
          <p:nvPr/>
        </p:nvSpPr>
        <p:spPr>
          <a:xfrm>
            <a:off x="457200" y="4343400"/>
            <a:ext cx="35560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Ignora limites do </a:t>
            </a:r>
            <a:r>
              <a:rPr lang="pt-PT" sz="1600" i="1" dirty="0" err="1">
                <a:solidFill>
                  <a:srgbClr val="1A2332"/>
                </a:solidFill>
                <a:latin typeface="Calibri"/>
                <a:cs typeface="Calibri"/>
              </a:rPr>
              <a:t>edge</a:t>
            </a:r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; </a:t>
            </a:r>
          </a:p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Assume </a:t>
            </a:r>
            <a:r>
              <a:rPr lang="pt-PT" sz="1600" i="1" dirty="0" err="1">
                <a:solidFill>
                  <a:srgbClr val="1A2332"/>
                </a:solidFill>
                <a:latin typeface="Calibri"/>
                <a:cs typeface="Calibri"/>
              </a:rPr>
              <a:t>dataset</a:t>
            </a:r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 centralizado raramente Disponível em </a:t>
            </a:r>
            <a:r>
              <a:rPr lang="pt-PT" sz="1600" i="1" dirty="0" err="1">
                <a:solidFill>
                  <a:srgbClr val="1A2332"/>
                </a:solidFill>
                <a:latin typeface="Calibri"/>
                <a:cs typeface="Calibri"/>
              </a:rPr>
              <a:t>deployments</a:t>
            </a:r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 federados.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8AB6FAD-9449-CC4B-9ED6-306D44CFDD80}"/>
              </a:ext>
            </a:extLst>
          </p:cNvPr>
          <p:cNvSpPr/>
          <p:nvPr/>
        </p:nvSpPr>
        <p:spPr>
          <a:xfrm>
            <a:off x="4318000" y="1905000"/>
            <a:ext cx="3556000" cy="406400"/>
          </a:xfrm>
          <a:prstGeom prst="rect">
            <a:avLst/>
          </a:prstGeom>
          <a:solidFill>
            <a:srgbClr val="B551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PT" sz="1400" b="1" dirty="0">
                <a:solidFill>
                  <a:srgbClr val="FFFFFF"/>
                </a:solidFill>
                <a:latin typeface="Calibri"/>
                <a:cs typeface="Calibri"/>
              </a:rPr>
              <a:t>NO EDGE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CA3D0A-09EB-EB43-BF41-65E97832289D}"/>
              </a:ext>
            </a:extLst>
          </p:cNvPr>
          <p:cNvSpPr txBox="1"/>
          <p:nvPr/>
        </p:nvSpPr>
        <p:spPr>
          <a:xfrm>
            <a:off x="4318000" y="2514600"/>
            <a:ext cx="355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 b="1">
                <a:solidFill>
                  <a:srgbClr val="6E7787"/>
                </a:solidFill>
                <a:latin typeface="Calibri"/>
                <a:cs typeface="Calibri"/>
              </a:rPr>
              <a:t>MÉTODOS TÍPICOS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F40FDB3-DBD9-F649-A2F4-BCF6D6C350AB}"/>
              </a:ext>
            </a:extLst>
          </p:cNvPr>
          <p:cNvSpPr txBox="1"/>
          <p:nvPr/>
        </p:nvSpPr>
        <p:spPr>
          <a:xfrm>
            <a:off x="4318000" y="2794000"/>
            <a:ext cx="3556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pt-PT" sz="1600" dirty="0" err="1"/>
              <a:t>gradient</a:t>
            </a:r>
            <a:r>
              <a:rPr lang="pt-PT" sz="1600" dirty="0"/>
              <a:t> </a:t>
            </a:r>
            <a:r>
              <a:rPr lang="pt-PT" sz="1600" dirty="0" err="1"/>
              <a:t>ascent</a:t>
            </a:r>
            <a:r>
              <a:rPr lang="pt-PT" sz="1600" dirty="0"/>
              <a:t>, </a:t>
            </a:r>
            <a:r>
              <a:rPr lang="pt-PT" sz="1600" dirty="0" err="1"/>
              <a:t>neuron</a:t>
            </a:r>
            <a:r>
              <a:rPr lang="pt-PT" sz="1600" dirty="0"/>
              <a:t> </a:t>
            </a:r>
            <a:r>
              <a:rPr lang="pt-PT" sz="1600" dirty="0" err="1"/>
              <a:t>pruning</a:t>
            </a:r>
            <a:r>
              <a:rPr lang="pt-PT" sz="1600" dirty="0"/>
              <a:t>, local fine-</a:t>
            </a:r>
            <a:r>
              <a:rPr lang="pt-PT" sz="1600" dirty="0" err="1"/>
              <a:t>tuning</a:t>
            </a:r>
            <a:endParaRPr lang="pt-PT" sz="1600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71E99C5-B9BF-F740-A41C-3509C6C0B5ED}"/>
              </a:ext>
            </a:extLst>
          </p:cNvPr>
          <p:cNvSpPr/>
          <p:nvPr/>
        </p:nvSpPr>
        <p:spPr>
          <a:xfrm>
            <a:off x="4318000" y="3911600"/>
            <a:ext cx="3556000" cy="12700"/>
          </a:xfrm>
          <a:prstGeom prst="rect">
            <a:avLst/>
          </a:prstGeom>
          <a:solidFill>
            <a:srgbClr val="D6D2C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 sz="200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3D6DC01-D840-5D46-B87D-73F83753E4DB}"/>
              </a:ext>
            </a:extLst>
          </p:cNvPr>
          <p:cNvSpPr txBox="1"/>
          <p:nvPr/>
        </p:nvSpPr>
        <p:spPr>
          <a:xfrm>
            <a:off x="4318000" y="4064000"/>
            <a:ext cx="355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 b="1" dirty="0">
                <a:solidFill>
                  <a:srgbClr val="E97132"/>
                </a:solidFill>
                <a:latin typeface="Calibri"/>
                <a:cs typeface="Calibri"/>
              </a:rPr>
              <a:t>LACUNA CENTRAL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E351DA-16B2-F94C-B35E-85B3772D5473}"/>
              </a:ext>
            </a:extLst>
          </p:cNvPr>
          <p:cNvSpPr txBox="1"/>
          <p:nvPr/>
        </p:nvSpPr>
        <p:spPr>
          <a:xfrm>
            <a:off x="4318000" y="4343400"/>
            <a:ext cx="35560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Opera de forma isolada; </a:t>
            </a:r>
          </a:p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Sem coordenação entre camadas; </a:t>
            </a:r>
          </a:p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Não respeita fronteiras </a:t>
            </a:r>
            <a:r>
              <a:rPr lang="pt-PT" sz="1600" i="1" dirty="0" err="1">
                <a:solidFill>
                  <a:srgbClr val="1A2332"/>
                </a:solidFill>
                <a:latin typeface="Calibri"/>
                <a:cs typeface="Calibri"/>
              </a:rPr>
              <a:t>multi-tenant</a:t>
            </a:r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60CDFC9-C3CB-D94B-B2B6-115E78808852}"/>
              </a:ext>
            </a:extLst>
          </p:cNvPr>
          <p:cNvSpPr/>
          <p:nvPr/>
        </p:nvSpPr>
        <p:spPr>
          <a:xfrm>
            <a:off x="8178800" y="1905000"/>
            <a:ext cx="3556000" cy="4064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PT" sz="1400" b="1" dirty="0">
                <a:solidFill>
                  <a:srgbClr val="FFFFFF"/>
                </a:solidFill>
                <a:latin typeface="Calibri"/>
                <a:cs typeface="Calibri"/>
              </a:rPr>
              <a:t>FEDERATED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33E0559-1761-E243-B0DE-AE9A5C08EB53}"/>
              </a:ext>
            </a:extLst>
          </p:cNvPr>
          <p:cNvSpPr txBox="1"/>
          <p:nvPr/>
        </p:nvSpPr>
        <p:spPr>
          <a:xfrm>
            <a:off x="8178800" y="2514600"/>
            <a:ext cx="355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 b="1">
                <a:solidFill>
                  <a:srgbClr val="6E7787"/>
                </a:solidFill>
                <a:latin typeface="Calibri"/>
                <a:cs typeface="Calibri"/>
              </a:rPr>
              <a:t>MÉTODOS TÍPICOS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D3DD648-369B-AC40-920C-BA7E760DBFCF}"/>
              </a:ext>
            </a:extLst>
          </p:cNvPr>
          <p:cNvSpPr txBox="1"/>
          <p:nvPr/>
        </p:nvSpPr>
        <p:spPr>
          <a:xfrm>
            <a:off x="8178800" y="2794000"/>
            <a:ext cx="3556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dirty="0" err="1">
                <a:solidFill>
                  <a:srgbClr val="1A2332"/>
                </a:solidFill>
                <a:latin typeface="Calibri"/>
                <a:cs typeface="Calibri"/>
              </a:rPr>
              <a:t>FedEraser</a:t>
            </a:r>
            <a:r>
              <a:rPr lang="pt-PT" sz="1600" dirty="0">
                <a:solidFill>
                  <a:srgbClr val="1A2332"/>
                </a:solidFill>
                <a:latin typeface="Calibri"/>
                <a:cs typeface="Calibri"/>
              </a:rPr>
              <a:t>, </a:t>
            </a:r>
            <a:r>
              <a:rPr lang="pt-PT" sz="1600" dirty="0" err="1">
                <a:solidFill>
                  <a:srgbClr val="1A2332"/>
                </a:solidFill>
                <a:latin typeface="Calibri"/>
                <a:cs typeface="Calibri"/>
              </a:rPr>
              <a:t>gradient-rollback</a:t>
            </a:r>
            <a:r>
              <a:rPr lang="pt-PT" sz="1600" dirty="0">
                <a:solidFill>
                  <a:srgbClr val="1A2332"/>
                </a:solidFill>
                <a:latin typeface="Calibri"/>
                <a:cs typeface="Calibri"/>
              </a:rPr>
              <a:t>, </a:t>
            </a:r>
            <a:r>
              <a:rPr lang="pt-PT" sz="1600" dirty="0" err="1">
                <a:solidFill>
                  <a:srgbClr val="1A2332"/>
                </a:solidFill>
                <a:latin typeface="Calibri"/>
                <a:cs typeface="Calibri"/>
              </a:rPr>
              <a:t>federated</a:t>
            </a:r>
            <a:r>
              <a:rPr lang="pt-PT" sz="1600" dirty="0">
                <a:solidFill>
                  <a:srgbClr val="1A2332"/>
                </a:solidFill>
                <a:latin typeface="Calibri"/>
                <a:cs typeface="Calibri"/>
              </a:rPr>
              <a:t> SISA </a:t>
            </a:r>
            <a:r>
              <a:rPr lang="pt-PT" sz="1600" dirty="0" err="1">
                <a:solidFill>
                  <a:srgbClr val="1A2332"/>
                </a:solidFill>
                <a:latin typeface="Calibri"/>
                <a:cs typeface="Calibri"/>
              </a:rPr>
              <a:t>variant</a:t>
            </a:r>
            <a:endParaRPr lang="pt-PT" sz="1600" dirty="0">
              <a:solidFill>
                <a:srgbClr val="1A2332"/>
              </a:solidFill>
              <a:latin typeface="Calibri"/>
              <a:cs typeface="Calibri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43101C0-B100-5841-BBBF-63C6420ED9F5}"/>
              </a:ext>
            </a:extLst>
          </p:cNvPr>
          <p:cNvSpPr/>
          <p:nvPr/>
        </p:nvSpPr>
        <p:spPr>
          <a:xfrm>
            <a:off x="8178800" y="3911600"/>
            <a:ext cx="3556000" cy="12700"/>
          </a:xfrm>
          <a:prstGeom prst="rect">
            <a:avLst/>
          </a:prstGeom>
          <a:solidFill>
            <a:srgbClr val="D6D2C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 sz="200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0A9343A-0013-8448-9072-90A901859562}"/>
              </a:ext>
            </a:extLst>
          </p:cNvPr>
          <p:cNvSpPr txBox="1"/>
          <p:nvPr/>
        </p:nvSpPr>
        <p:spPr>
          <a:xfrm>
            <a:off x="8178800" y="4064000"/>
            <a:ext cx="355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 b="1">
                <a:solidFill>
                  <a:srgbClr val="196B24"/>
                </a:solidFill>
                <a:latin typeface="Calibri"/>
                <a:cs typeface="Calibri"/>
              </a:rPr>
              <a:t>LACUNA CENTRAL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16EB79D-66EF-914C-BAD3-2CC63F2054F3}"/>
              </a:ext>
            </a:extLst>
          </p:cNvPr>
          <p:cNvSpPr txBox="1"/>
          <p:nvPr/>
        </p:nvSpPr>
        <p:spPr>
          <a:xfrm>
            <a:off x="8178800" y="4343400"/>
            <a:ext cx="35560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Garantia apenas estatística, não certificada;</a:t>
            </a:r>
          </a:p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Clientes offline mantêm pesos obsoletos.</a:t>
            </a:r>
          </a:p>
        </p:txBody>
      </p:sp>
    </p:spTree>
    <p:extLst>
      <p:ext uri="{BB962C8B-B14F-4D97-AF65-F5344CB8AC3E}">
        <p14:creationId xmlns:p14="http://schemas.microsoft.com/office/powerpoint/2010/main" val="648648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AEC4D-F2AC-083B-2037-6B6CBA517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35D84E-5EBF-2086-5DAD-7847AFBD4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PT" sz="3200" b="1" dirty="0">
                <a:solidFill>
                  <a:srgbClr val="1A2332"/>
                </a:solidFill>
                <a:latin typeface="Georgia"/>
              </a:rPr>
              <a:t>Problema existente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7FEE44C-41AA-78A5-0280-E0CCC40F5132}"/>
              </a:ext>
            </a:extLst>
          </p:cNvPr>
          <p:cNvSpPr/>
          <p:nvPr/>
        </p:nvSpPr>
        <p:spPr>
          <a:xfrm>
            <a:off x="457200" y="1905000"/>
            <a:ext cx="3556000" cy="4064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PT" sz="1400" b="1">
                <a:solidFill>
                  <a:srgbClr val="FFFFFF"/>
                </a:solidFill>
                <a:latin typeface="Calibri"/>
                <a:cs typeface="Calibri"/>
              </a:rPr>
              <a:t>NA CLOUD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15C112F-D561-F1C2-8CBC-DBDEF6D7FAC8}"/>
              </a:ext>
            </a:extLst>
          </p:cNvPr>
          <p:cNvSpPr txBox="1"/>
          <p:nvPr/>
        </p:nvSpPr>
        <p:spPr>
          <a:xfrm>
            <a:off x="457200" y="2514600"/>
            <a:ext cx="355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 b="1">
                <a:solidFill>
                  <a:srgbClr val="6E7787"/>
                </a:solidFill>
                <a:latin typeface="Calibri"/>
                <a:cs typeface="Calibri"/>
              </a:rPr>
              <a:t>MÉTODOS TÍPICOS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DAB830F-6694-7B41-73E0-E654FBCE80AC}"/>
              </a:ext>
            </a:extLst>
          </p:cNvPr>
          <p:cNvSpPr txBox="1"/>
          <p:nvPr/>
        </p:nvSpPr>
        <p:spPr>
          <a:xfrm>
            <a:off x="457200" y="2794000"/>
            <a:ext cx="3556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pt-PT" sz="1600" dirty="0">
                <a:solidFill>
                  <a:srgbClr val="1A2332"/>
                </a:solidFill>
                <a:latin typeface="Calibri"/>
                <a:cs typeface="Calibri"/>
              </a:rPr>
              <a:t>SISA, </a:t>
            </a:r>
            <a:r>
              <a:rPr lang="pt-PT" sz="1600" dirty="0" err="1"/>
              <a:t>gradient-based</a:t>
            </a:r>
            <a:r>
              <a:rPr lang="pt-PT" sz="1600" dirty="0"/>
              <a:t> </a:t>
            </a:r>
            <a:r>
              <a:rPr lang="pt-PT" sz="1600" dirty="0" err="1"/>
              <a:t>corrections</a:t>
            </a:r>
            <a:r>
              <a:rPr lang="pt-PT" sz="1600" dirty="0"/>
              <a:t>, </a:t>
            </a:r>
            <a:r>
              <a:rPr lang="pt-PT" sz="1600" dirty="0" err="1"/>
              <a:t>knowledge</a:t>
            </a:r>
            <a:r>
              <a:rPr lang="pt-PT" sz="1600" dirty="0"/>
              <a:t> </a:t>
            </a:r>
            <a:r>
              <a:rPr lang="pt-PT" sz="1600" dirty="0" err="1"/>
              <a:t>distillation</a:t>
            </a:r>
            <a:endParaRPr lang="pt-PT" sz="160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91136B9-B846-667F-CC44-A0F5DA6DD1D6}"/>
              </a:ext>
            </a:extLst>
          </p:cNvPr>
          <p:cNvSpPr/>
          <p:nvPr/>
        </p:nvSpPr>
        <p:spPr>
          <a:xfrm>
            <a:off x="457200" y="3911600"/>
            <a:ext cx="3556000" cy="12700"/>
          </a:xfrm>
          <a:prstGeom prst="rect">
            <a:avLst/>
          </a:prstGeom>
          <a:solidFill>
            <a:srgbClr val="D6D2C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 sz="20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B9B4437-4FC3-F69B-C886-ECE1F4DF0D00}"/>
              </a:ext>
            </a:extLst>
          </p:cNvPr>
          <p:cNvSpPr txBox="1"/>
          <p:nvPr/>
        </p:nvSpPr>
        <p:spPr>
          <a:xfrm>
            <a:off x="457200" y="4064000"/>
            <a:ext cx="355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 b="1">
                <a:solidFill>
                  <a:srgbClr val="156082"/>
                </a:solidFill>
                <a:latin typeface="Calibri"/>
                <a:cs typeface="Calibri"/>
              </a:rPr>
              <a:t>LACUNA CENTRAL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EE4CE32-1473-89B4-D682-46EE90CB16EC}"/>
              </a:ext>
            </a:extLst>
          </p:cNvPr>
          <p:cNvSpPr txBox="1"/>
          <p:nvPr/>
        </p:nvSpPr>
        <p:spPr>
          <a:xfrm>
            <a:off x="457200" y="4343400"/>
            <a:ext cx="35560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Ignora limites do </a:t>
            </a:r>
            <a:r>
              <a:rPr lang="pt-PT" sz="1600" i="1" dirty="0" err="1">
                <a:solidFill>
                  <a:srgbClr val="1A2332"/>
                </a:solidFill>
                <a:latin typeface="Calibri"/>
                <a:cs typeface="Calibri"/>
              </a:rPr>
              <a:t>edge</a:t>
            </a:r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; </a:t>
            </a:r>
          </a:p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Assume </a:t>
            </a:r>
            <a:r>
              <a:rPr lang="pt-PT" sz="1600" i="1" dirty="0" err="1">
                <a:solidFill>
                  <a:srgbClr val="1A2332"/>
                </a:solidFill>
                <a:latin typeface="Calibri"/>
                <a:cs typeface="Calibri"/>
              </a:rPr>
              <a:t>dataset</a:t>
            </a:r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 centralizado raramente Disponível em </a:t>
            </a:r>
            <a:r>
              <a:rPr lang="pt-PT" sz="1600" i="1" dirty="0" err="1">
                <a:solidFill>
                  <a:srgbClr val="1A2332"/>
                </a:solidFill>
                <a:latin typeface="Calibri"/>
                <a:cs typeface="Calibri"/>
              </a:rPr>
              <a:t>deployments</a:t>
            </a:r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 federados.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A0E5DF6-F052-558C-D490-4304CEC6E5C9}"/>
              </a:ext>
            </a:extLst>
          </p:cNvPr>
          <p:cNvSpPr/>
          <p:nvPr/>
        </p:nvSpPr>
        <p:spPr>
          <a:xfrm>
            <a:off x="4318000" y="1905000"/>
            <a:ext cx="3556000" cy="406400"/>
          </a:xfrm>
          <a:prstGeom prst="rect">
            <a:avLst/>
          </a:prstGeom>
          <a:solidFill>
            <a:srgbClr val="B551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PT" sz="1400" b="1" dirty="0">
                <a:solidFill>
                  <a:srgbClr val="FFFFFF"/>
                </a:solidFill>
                <a:latin typeface="Calibri"/>
                <a:cs typeface="Calibri"/>
              </a:rPr>
              <a:t>NO EDGE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488BFE7-66C4-DACC-20BA-CF4DA0A68BB2}"/>
              </a:ext>
            </a:extLst>
          </p:cNvPr>
          <p:cNvSpPr txBox="1"/>
          <p:nvPr/>
        </p:nvSpPr>
        <p:spPr>
          <a:xfrm>
            <a:off x="4318000" y="2514600"/>
            <a:ext cx="355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 b="1">
                <a:solidFill>
                  <a:srgbClr val="6E7787"/>
                </a:solidFill>
                <a:latin typeface="Calibri"/>
                <a:cs typeface="Calibri"/>
              </a:rPr>
              <a:t>MÉTODOS TÍPICOS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0C4A827-6DB8-118C-93E1-1E2D263504AE}"/>
              </a:ext>
            </a:extLst>
          </p:cNvPr>
          <p:cNvSpPr txBox="1"/>
          <p:nvPr/>
        </p:nvSpPr>
        <p:spPr>
          <a:xfrm>
            <a:off x="4318000" y="2794000"/>
            <a:ext cx="3556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pt-PT" sz="1600" dirty="0" err="1"/>
              <a:t>gradient</a:t>
            </a:r>
            <a:r>
              <a:rPr lang="pt-PT" sz="1600" dirty="0"/>
              <a:t> </a:t>
            </a:r>
            <a:r>
              <a:rPr lang="pt-PT" sz="1600" dirty="0" err="1"/>
              <a:t>ascent</a:t>
            </a:r>
            <a:r>
              <a:rPr lang="pt-PT" sz="1600" dirty="0"/>
              <a:t>, </a:t>
            </a:r>
            <a:r>
              <a:rPr lang="pt-PT" sz="1600" dirty="0" err="1"/>
              <a:t>neuron</a:t>
            </a:r>
            <a:r>
              <a:rPr lang="pt-PT" sz="1600" dirty="0"/>
              <a:t> </a:t>
            </a:r>
            <a:r>
              <a:rPr lang="pt-PT" sz="1600" dirty="0" err="1"/>
              <a:t>pruning</a:t>
            </a:r>
            <a:r>
              <a:rPr lang="pt-PT" sz="1600" dirty="0"/>
              <a:t>, local fine-</a:t>
            </a:r>
            <a:r>
              <a:rPr lang="pt-PT" sz="1600" dirty="0" err="1"/>
              <a:t>tuning</a:t>
            </a:r>
            <a:endParaRPr lang="pt-PT" sz="1600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04E2E55-75C7-0CCF-C9BD-7C6E8111E0FC}"/>
              </a:ext>
            </a:extLst>
          </p:cNvPr>
          <p:cNvSpPr/>
          <p:nvPr/>
        </p:nvSpPr>
        <p:spPr>
          <a:xfrm>
            <a:off x="4318000" y="3911600"/>
            <a:ext cx="3556000" cy="12700"/>
          </a:xfrm>
          <a:prstGeom prst="rect">
            <a:avLst/>
          </a:prstGeom>
          <a:solidFill>
            <a:srgbClr val="D6D2C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 sz="200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C71D517-C2AC-1684-9CED-2485F177C8B0}"/>
              </a:ext>
            </a:extLst>
          </p:cNvPr>
          <p:cNvSpPr txBox="1"/>
          <p:nvPr/>
        </p:nvSpPr>
        <p:spPr>
          <a:xfrm>
            <a:off x="4318000" y="4064000"/>
            <a:ext cx="355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 b="1" dirty="0">
                <a:solidFill>
                  <a:srgbClr val="E97132"/>
                </a:solidFill>
                <a:latin typeface="Calibri"/>
                <a:cs typeface="Calibri"/>
              </a:rPr>
              <a:t>LACUNA CENTRAL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D388D99-E605-4958-CC52-3F081183B41C}"/>
              </a:ext>
            </a:extLst>
          </p:cNvPr>
          <p:cNvSpPr txBox="1"/>
          <p:nvPr/>
        </p:nvSpPr>
        <p:spPr>
          <a:xfrm>
            <a:off x="4318000" y="4343400"/>
            <a:ext cx="35560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Opera de forma isolada; </a:t>
            </a:r>
          </a:p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Sem coordenação entre camadas; </a:t>
            </a:r>
          </a:p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Não respeita fronteiras </a:t>
            </a:r>
            <a:r>
              <a:rPr lang="pt-PT" sz="1600" i="1" dirty="0" err="1">
                <a:solidFill>
                  <a:srgbClr val="1A2332"/>
                </a:solidFill>
                <a:latin typeface="Calibri"/>
                <a:cs typeface="Calibri"/>
              </a:rPr>
              <a:t>multi-tenant</a:t>
            </a:r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248D79A-679F-58FF-07EB-37BCCA71D82C}"/>
              </a:ext>
            </a:extLst>
          </p:cNvPr>
          <p:cNvSpPr/>
          <p:nvPr/>
        </p:nvSpPr>
        <p:spPr>
          <a:xfrm>
            <a:off x="8178800" y="1905000"/>
            <a:ext cx="3556000" cy="4064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PT" sz="1400" b="1" dirty="0">
                <a:solidFill>
                  <a:srgbClr val="FFFFFF"/>
                </a:solidFill>
                <a:latin typeface="Calibri"/>
                <a:cs typeface="Calibri"/>
              </a:rPr>
              <a:t>FEDERATED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0FABCA9-C97C-95EF-72EA-E0406A1F08DA}"/>
              </a:ext>
            </a:extLst>
          </p:cNvPr>
          <p:cNvSpPr txBox="1"/>
          <p:nvPr/>
        </p:nvSpPr>
        <p:spPr>
          <a:xfrm>
            <a:off x="8178800" y="2514600"/>
            <a:ext cx="355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 b="1">
                <a:solidFill>
                  <a:srgbClr val="6E7787"/>
                </a:solidFill>
                <a:latin typeface="Calibri"/>
                <a:cs typeface="Calibri"/>
              </a:rPr>
              <a:t>MÉTODOS TÍPICOS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AADD22A-5CA2-9A4B-E939-50A65D99D56F}"/>
              </a:ext>
            </a:extLst>
          </p:cNvPr>
          <p:cNvSpPr txBox="1"/>
          <p:nvPr/>
        </p:nvSpPr>
        <p:spPr>
          <a:xfrm>
            <a:off x="8178800" y="2794000"/>
            <a:ext cx="3556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dirty="0" err="1">
                <a:solidFill>
                  <a:srgbClr val="1A2332"/>
                </a:solidFill>
                <a:latin typeface="Calibri"/>
                <a:cs typeface="Calibri"/>
              </a:rPr>
              <a:t>FedEraser</a:t>
            </a:r>
            <a:r>
              <a:rPr lang="pt-PT" sz="1600" dirty="0">
                <a:solidFill>
                  <a:srgbClr val="1A2332"/>
                </a:solidFill>
                <a:latin typeface="Calibri"/>
                <a:cs typeface="Calibri"/>
              </a:rPr>
              <a:t>, </a:t>
            </a:r>
            <a:r>
              <a:rPr lang="pt-PT" sz="1600" dirty="0" err="1">
                <a:solidFill>
                  <a:srgbClr val="1A2332"/>
                </a:solidFill>
                <a:latin typeface="Calibri"/>
                <a:cs typeface="Calibri"/>
              </a:rPr>
              <a:t>gradient-rollback</a:t>
            </a:r>
            <a:r>
              <a:rPr lang="pt-PT" sz="1600" dirty="0">
                <a:solidFill>
                  <a:srgbClr val="1A2332"/>
                </a:solidFill>
                <a:latin typeface="Calibri"/>
                <a:cs typeface="Calibri"/>
              </a:rPr>
              <a:t>, </a:t>
            </a:r>
            <a:r>
              <a:rPr lang="pt-PT" sz="1600" dirty="0" err="1">
                <a:solidFill>
                  <a:srgbClr val="1A2332"/>
                </a:solidFill>
                <a:latin typeface="Calibri"/>
                <a:cs typeface="Calibri"/>
              </a:rPr>
              <a:t>federated</a:t>
            </a:r>
            <a:r>
              <a:rPr lang="pt-PT" sz="1600" dirty="0">
                <a:solidFill>
                  <a:srgbClr val="1A2332"/>
                </a:solidFill>
                <a:latin typeface="Calibri"/>
                <a:cs typeface="Calibri"/>
              </a:rPr>
              <a:t> SISA </a:t>
            </a:r>
            <a:r>
              <a:rPr lang="pt-PT" sz="1600" dirty="0" err="1">
                <a:solidFill>
                  <a:srgbClr val="1A2332"/>
                </a:solidFill>
                <a:latin typeface="Calibri"/>
                <a:cs typeface="Calibri"/>
              </a:rPr>
              <a:t>variant</a:t>
            </a:r>
            <a:endParaRPr lang="pt-PT" sz="1600" dirty="0">
              <a:solidFill>
                <a:srgbClr val="1A2332"/>
              </a:solidFill>
              <a:latin typeface="Calibri"/>
              <a:cs typeface="Calibri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061D867-BCFE-75A0-78D4-3A2DE9F9BC69}"/>
              </a:ext>
            </a:extLst>
          </p:cNvPr>
          <p:cNvSpPr/>
          <p:nvPr/>
        </p:nvSpPr>
        <p:spPr>
          <a:xfrm>
            <a:off x="8178800" y="3911600"/>
            <a:ext cx="3556000" cy="12700"/>
          </a:xfrm>
          <a:prstGeom prst="rect">
            <a:avLst/>
          </a:prstGeom>
          <a:solidFill>
            <a:srgbClr val="D6D2C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 sz="200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AD484A6-315A-D88B-2F64-8F8290C96CFC}"/>
              </a:ext>
            </a:extLst>
          </p:cNvPr>
          <p:cNvSpPr txBox="1"/>
          <p:nvPr/>
        </p:nvSpPr>
        <p:spPr>
          <a:xfrm>
            <a:off x="8178800" y="4064000"/>
            <a:ext cx="355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 b="1">
                <a:solidFill>
                  <a:srgbClr val="196B24"/>
                </a:solidFill>
                <a:latin typeface="Calibri"/>
                <a:cs typeface="Calibri"/>
              </a:rPr>
              <a:t>LACUNA CENTRAL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7366344-C9B6-AE96-AA00-81E1CE224B5D}"/>
              </a:ext>
            </a:extLst>
          </p:cNvPr>
          <p:cNvSpPr txBox="1"/>
          <p:nvPr/>
        </p:nvSpPr>
        <p:spPr>
          <a:xfrm>
            <a:off x="8178800" y="4343400"/>
            <a:ext cx="35560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Garantia apenas estatística, não certificada;</a:t>
            </a:r>
          </a:p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Clientes offline mantêm pesos obsoletos.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9EA5D6B-4E3C-D77C-AAD0-694E00CF440A}"/>
              </a:ext>
            </a:extLst>
          </p:cNvPr>
          <p:cNvSpPr txBox="1"/>
          <p:nvPr/>
        </p:nvSpPr>
        <p:spPr>
          <a:xfrm>
            <a:off x="3123894" y="1449269"/>
            <a:ext cx="8331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pt-PT"/>
            </a:defPPr>
            <a:lvl1pPr>
              <a:defRPr sz="1900" b="1">
                <a:solidFill>
                  <a:srgbClr val="1A2332"/>
                </a:solidFill>
                <a:latin typeface="Georgia"/>
              </a:defRPr>
            </a:lvl1pPr>
          </a:lstStyle>
          <a:p>
            <a:r>
              <a:rPr lang="pt-PT" sz="1600" b="0" dirty="0">
                <a:latin typeface="+mn-lt"/>
              </a:rPr>
              <a:t>Nenhum método atual satisfaz o envelope completo de restrições</a:t>
            </a:r>
          </a:p>
        </p:txBody>
      </p:sp>
    </p:spTree>
    <p:extLst>
      <p:ext uri="{BB962C8B-B14F-4D97-AF65-F5344CB8AC3E}">
        <p14:creationId xmlns:p14="http://schemas.microsoft.com/office/powerpoint/2010/main" val="740155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EC5FF-1ACB-2D9C-923C-DEF6A27FA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FE11AB-406D-CF9A-78CC-4BAEC0E90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PT" sz="3200" b="1" dirty="0">
                <a:solidFill>
                  <a:srgbClr val="1A2332"/>
                </a:solidFill>
                <a:latin typeface="Georgia"/>
              </a:rPr>
              <a:t>Soluções existentes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FBD6E7B-5EDD-D000-BB7E-325A4F1508DA}"/>
              </a:ext>
            </a:extLst>
          </p:cNvPr>
          <p:cNvSpPr/>
          <p:nvPr/>
        </p:nvSpPr>
        <p:spPr>
          <a:xfrm>
            <a:off x="457200" y="1905000"/>
            <a:ext cx="3556000" cy="4064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PT" sz="1400" b="1">
                <a:solidFill>
                  <a:srgbClr val="FFFFFF"/>
                </a:solidFill>
                <a:latin typeface="Calibri"/>
                <a:cs typeface="Calibri"/>
              </a:rPr>
              <a:t>NA CLOUD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7541D66-9DA3-23D7-FB7F-C5F0440BC657}"/>
              </a:ext>
            </a:extLst>
          </p:cNvPr>
          <p:cNvSpPr txBox="1"/>
          <p:nvPr/>
        </p:nvSpPr>
        <p:spPr>
          <a:xfrm>
            <a:off x="457200" y="2514600"/>
            <a:ext cx="355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 b="1">
                <a:solidFill>
                  <a:srgbClr val="6E7787"/>
                </a:solidFill>
                <a:latin typeface="Calibri"/>
                <a:cs typeface="Calibri"/>
              </a:rPr>
              <a:t>MÉTODOS TÍPICOS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3A06772-A486-6DD1-B424-28FFCE8FD1C2}"/>
              </a:ext>
            </a:extLst>
          </p:cNvPr>
          <p:cNvSpPr txBox="1"/>
          <p:nvPr/>
        </p:nvSpPr>
        <p:spPr>
          <a:xfrm>
            <a:off x="457200" y="2794000"/>
            <a:ext cx="3556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pt-PT" sz="1600" dirty="0">
                <a:solidFill>
                  <a:srgbClr val="1A2332"/>
                </a:solidFill>
                <a:latin typeface="Calibri"/>
                <a:cs typeface="Calibri"/>
              </a:rPr>
              <a:t>SISA, </a:t>
            </a:r>
            <a:r>
              <a:rPr lang="pt-PT" sz="1600" dirty="0" err="1"/>
              <a:t>gradient-based</a:t>
            </a:r>
            <a:r>
              <a:rPr lang="pt-PT" sz="1600" dirty="0"/>
              <a:t> </a:t>
            </a:r>
            <a:r>
              <a:rPr lang="pt-PT" sz="1600" dirty="0" err="1"/>
              <a:t>corrections</a:t>
            </a:r>
            <a:r>
              <a:rPr lang="pt-PT" sz="1600" dirty="0"/>
              <a:t>, </a:t>
            </a:r>
            <a:r>
              <a:rPr lang="pt-PT" sz="1600" dirty="0" err="1"/>
              <a:t>knowledge</a:t>
            </a:r>
            <a:r>
              <a:rPr lang="pt-PT" sz="1600" dirty="0"/>
              <a:t> </a:t>
            </a:r>
            <a:r>
              <a:rPr lang="pt-PT" sz="1600" dirty="0" err="1"/>
              <a:t>distillation</a:t>
            </a:r>
            <a:endParaRPr lang="pt-PT" sz="160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B6919AC-53AC-2E9F-F144-12CEC523C281}"/>
              </a:ext>
            </a:extLst>
          </p:cNvPr>
          <p:cNvSpPr/>
          <p:nvPr/>
        </p:nvSpPr>
        <p:spPr>
          <a:xfrm>
            <a:off x="457200" y="3911600"/>
            <a:ext cx="3556000" cy="12700"/>
          </a:xfrm>
          <a:prstGeom prst="rect">
            <a:avLst/>
          </a:prstGeom>
          <a:solidFill>
            <a:srgbClr val="D6D2C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 sz="20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F301A9A-890A-69F8-1104-358948CE506B}"/>
              </a:ext>
            </a:extLst>
          </p:cNvPr>
          <p:cNvSpPr txBox="1"/>
          <p:nvPr/>
        </p:nvSpPr>
        <p:spPr>
          <a:xfrm>
            <a:off x="457200" y="4064000"/>
            <a:ext cx="355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 b="1">
                <a:solidFill>
                  <a:srgbClr val="156082"/>
                </a:solidFill>
                <a:latin typeface="Calibri"/>
                <a:cs typeface="Calibri"/>
              </a:rPr>
              <a:t>LACUNA CENTRAL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73A8999-73D4-4984-D5D5-1A28B741E6C6}"/>
              </a:ext>
            </a:extLst>
          </p:cNvPr>
          <p:cNvSpPr txBox="1"/>
          <p:nvPr/>
        </p:nvSpPr>
        <p:spPr>
          <a:xfrm>
            <a:off x="457200" y="4343400"/>
            <a:ext cx="35560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Ignora limites do </a:t>
            </a:r>
            <a:r>
              <a:rPr lang="pt-PT" sz="1600" i="1" dirty="0" err="1">
                <a:solidFill>
                  <a:srgbClr val="1A2332"/>
                </a:solidFill>
                <a:latin typeface="Calibri"/>
                <a:cs typeface="Calibri"/>
              </a:rPr>
              <a:t>edge</a:t>
            </a:r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; </a:t>
            </a:r>
          </a:p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Assume </a:t>
            </a:r>
            <a:r>
              <a:rPr lang="pt-PT" sz="1600" i="1" dirty="0" err="1">
                <a:solidFill>
                  <a:srgbClr val="1A2332"/>
                </a:solidFill>
                <a:latin typeface="Calibri"/>
                <a:cs typeface="Calibri"/>
              </a:rPr>
              <a:t>dataset</a:t>
            </a:r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 centralizado raramente Disponível em </a:t>
            </a:r>
            <a:r>
              <a:rPr lang="pt-PT" sz="1600" i="1" dirty="0" err="1">
                <a:solidFill>
                  <a:srgbClr val="1A2332"/>
                </a:solidFill>
                <a:latin typeface="Calibri"/>
                <a:cs typeface="Calibri"/>
              </a:rPr>
              <a:t>deployments</a:t>
            </a:r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 federados.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1D8DECC-B825-417B-26FB-4061636D9303}"/>
              </a:ext>
            </a:extLst>
          </p:cNvPr>
          <p:cNvSpPr/>
          <p:nvPr/>
        </p:nvSpPr>
        <p:spPr>
          <a:xfrm>
            <a:off x="4318000" y="1905000"/>
            <a:ext cx="3556000" cy="406400"/>
          </a:xfrm>
          <a:prstGeom prst="rect">
            <a:avLst/>
          </a:prstGeom>
          <a:solidFill>
            <a:srgbClr val="B551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PT" sz="1400" b="1" dirty="0">
                <a:solidFill>
                  <a:srgbClr val="FFFFFF"/>
                </a:solidFill>
                <a:latin typeface="Calibri"/>
                <a:cs typeface="Calibri"/>
              </a:rPr>
              <a:t>NO EDGE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0A3F12D-3262-69C7-9886-05D017345519}"/>
              </a:ext>
            </a:extLst>
          </p:cNvPr>
          <p:cNvSpPr txBox="1"/>
          <p:nvPr/>
        </p:nvSpPr>
        <p:spPr>
          <a:xfrm>
            <a:off x="4318000" y="2514600"/>
            <a:ext cx="355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 b="1">
                <a:solidFill>
                  <a:srgbClr val="6E7787"/>
                </a:solidFill>
                <a:latin typeface="Calibri"/>
                <a:cs typeface="Calibri"/>
              </a:rPr>
              <a:t>MÉTODOS TÍPICOS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FFE374C-F630-F2B9-3C69-61EEDB44DCC4}"/>
              </a:ext>
            </a:extLst>
          </p:cNvPr>
          <p:cNvSpPr txBox="1"/>
          <p:nvPr/>
        </p:nvSpPr>
        <p:spPr>
          <a:xfrm>
            <a:off x="4318000" y="2794000"/>
            <a:ext cx="3556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pt-PT" sz="1600" dirty="0" err="1"/>
              <a:t>gradient</a:t>
            </a:r>
            <a:r>
              <a:rPr lang="pt-PT" sz="1600" dirty="0"/>
              <a:t> </a:t>
            </a:r>
            <a:r>
              <a:rPr lang="pt-PT" sz="1600" dirty="0" err="1"/>
              <a:t>ascent</a:t>
            </a:r>
            <a:r>
              <a:rPr lang="pt-PT" sz="1600" dirty="0"/>
              <a:t>, </a:t>
            </a:r>
            <a:r>
              <a:rPr lang="pt-PT" sz="1600" dirty="0" err="1"/>
              <a:t>neuron</a:t>
            </a:r>
            <a:r>
              <a:rPr lang="pt-PT" sz="1600" dirty="0"/>
              <a:t> </a:t>
            </a:r>
            <a:r>
              <a:rPr lang="pt-PT" sz="1600" dirty="0" err="1"/>
              <a:t>pruning</a:t>
            </a:r>
            <a:r>
              <a:rPr lang="pt-PT" sz="1600" dirty="0"/>
              <a:t>, local fine-</a:t>
            </a:r>
            <a:r>
              <a:rPr lang="pt-PT" sz="1600" dirty="0" err="1"/>
              <a:t>tuning</a:t>
            </a:r>
            <a:endParaRPr lang="pt-PT" sz="1600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948D374-90D4-6698-B7C3-CF5B28250A69}"/>
              </a:ext>
            </a:extLst>
          </p:cNvPr>
          <p:cNvSpPr/>
          <p:nvPr/>
        </p:nvSpPr>
        <p:spPr>
          <a:xfrm>
            <a:off x="4318000" y="3911600"/>
            <a:ext cx="3556000" cy="12700"/>
          </a:xfrm>
          <a:prstGeom prst="rect">
            <a:avLst/>
          </a:prstGeom>
          <a:solidFill>
            <a:srgbClr val="D6D2C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 sz="200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581A5A8-DAB9-EDA5-B2F7-ED87E3D10486}"/>
              </a:ext>
            </a:extLst>
          </p:cNvPr>
          <p:cNvSpPr txBox="1"/>
          <p:nvPr/>
        </p:nvSpPr>
        <p:spPr>
          <a:xfrm>
            <a:off x="4318000" y="4064000"/>
            <a:ext cx="355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 b="1" dirty="0">
                <a:solidFill>
                  <a:srgbClr val="E97132"/>
                </a:solidFill>
                <a:latin typeface="Calibri"/>
                <a:cs typeface="Calibri"/>
              </a:rPr>
              <a:t>LACUNA CENTRAL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16D1DC4-39C9-CF06-82EA-5BFC2352FB2A}"/>
              </a:ext>
            </a:extLst>
          </p:cNvPr>
          <p:cNvSpPr txBox="1"/>
          <p:nvPr/>
        </p:nvSpPr>
        <p:spPr>
          <a:xfrm>
            <a:off x="4318000" y="4343400"/>
            <a:ext cx="35560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Opera de forma isolada; </a:t>
            </a:r>
          </a:p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Sem coordenação entre camadas; </a:t>
            </a:r>
          </a:p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Não respeita fronteiras </a:t>
            </a:r>
            <a:r>
              <a:rPr lang="pt-PT" sz="1600" i="1" dirty="0" err="1">
                <a:solidFill>
                  <a:srgbClr val="1A2332"/>
                </a:solidFill>
                <a:latin typeface="Calibri"/>
                <a:cs typeface="Calibri"/>
              </a:rPr>
              <a:t>multi-tenant</a:t>
            </a:r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00A2FB6-AE59-4615-B2D1-6239F9994FAB}"/>
              </a:ext>
            </a:extLst>
          </p:cNvPr>
          <p:cNvSpPr/>
          <p:nvPr/>
        </p:nvSpPr>
        <p:spPr>
          <a:xfrm>
            <a:off x="8178800" y="1905000"/>
            <a:ext cx="3556000" cy="4064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PT" sz="1400" b="1" dirty="0">
                <a:solidFill>
                  <a:srgbClr val="FFFFFF"/>
                </a:solidFill>
                <a:latin typeface="Calibri"/>
                <a:cs typeface="Calibri"/>
              </a:rPr>
              <a:t>FEDERATED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870B2C1-DD29-6B52-FC49-85A9B3208B7B}"/>
              </a:ext>
            </a:extLst>
          </p:cNvPr>
          <p:cNvSpPr txBox="1"/>
          <p:nvPr/>
        </p:nvSpPr>
        <p:spPr>
          <a:xfrm>
            <a:off x="8178800" y="2514600"/>
            <a:ext cx="355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 b="1">
                <a:solidFill>
                  <a:srgbClr val="6E7787"/>
                </a:solidFill>
                <a:latin typeface="Calibri"/>
                <a:cs typeface="Calibri"/>
              </a:rPr>
              <a:t>MÉTODOS TÍPICOS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B82CE14-373C-3458-6F25-25A150AF36FA}"/>
              </a:ext>
            </a:extLst>
          </p:cNvPr>
          <p:cNvSpPr txBox="1"/>
          <p:nvPr/>
        </p:nvSpPr>
        <p:spPr>
          <a:xfrm>
            <a:off x="8178800" y="2794000"/>
            <a:ext cx="3556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dirty="0" err="1">
                <a:solidFill>
                  <a:srgbClr val="1A2332"/>
                </a:solidFill>
                <a:latin typeface="Calibri"/>
                <a:cs typeface="Calibri"/>
              </a:rPr>
              <a:t>FedEraser</a:t>
            </a:r>
            <a:r>
              <a:rPr lang="pt-PT" sz="1600" dirty="0">
                <a:solidFill>
                  <a:srgbClr val="1A2332"/>
                </a:solidFill>
                <a:latin typeface="Calibri"/>
                <a:cs typeface="Calibri"/>
              </a:rPr>
              <a:t>, </a:t>
            </a:r>
            <a:r>
              <a:rPr lang="pt-PT" sz="1600" dirty="0" err="1">
                <a:solidFill>
                  <a:srgbClr val="1A2332"/>
                </a:solidFill>
                <a:latin typeface="Calibri"/>
                <a:cs typeface="Calibri"/>
              </a:rPr>
              <a:t>gradient-rollback</a:t>
            </a:r>
            <a:r>
              <a:rPr lang="pt-PT" sz="1600" dirty="0">
                <a:solidFill>
                  <a:srgbClr val="1A2332"/>
                </a:solidFill>
                <a:latin typeface="Calibri"/>
                <a:cs typeface="Calibri"/>
              </a:rPr>
              <a:t>, </a:t>
            </a:r>
            <a:r>
              <a:rPr lang="pt-PT" sz="1600" dirty="0" err="1">
                <a:solidFill>
                  <a:srgbClr val="1A2332"/>
                </a:solidFill>
                <a:latin typeface="Calibri"/>
                <a:cs typeface="Calibri"/>
              </a:rPr>
              <a:t>federated</a:t>
            </a:r>
            <a:r>
              <a:rPr lang="pt-PT" sz="1600" dirty="0">
                <a:solidFill>
                  <a:srgbClr val="1A2332"/>
                </a:solidFill>
                <a:latin typeface="Calibri"/>
                <a:cs typeface="Calibri"/>
              </a:rPr>
              <a:t> SISA </a:t>
            </a:r>
            <a:r>
              <a:rPr lang="pt-PT" sz="1600" dirty="0" err="1">
                <a:solidFill>
                  <a:srgbClr val="1A2332"/>
                </a:solidFill>
                <a:latin typeface="Calibri"/>
                <a:cs typeface="Calibri"/>
              </a:rPr>
              <a:t>variant</a:t>
            </a:r>
            <a:endParaRPr lang="pt-PT" sz="1600" dirty="0">
              <a:solidFill>
                <a:srgbClr val="1A2332"/>
              </a:solidFill>
              <a:latin typeface="Calibri"/>
              <a:cs typeface="Calibri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F9F3311-745F-7AA5-C7E0-3B2E160DF849}"/>
              </a:ext>
            </a:extLst>
          </p:cNvPr>
          <p:cNvSpPr/>
          <p:nvPr/>
        </p:nvSpPr>
        <p:spPr>
          <a:xfrm>
            <a:off x="8178800" y="3911600"/>
            <a:ext cx="3556000" cy="12700"/>
          </a:xfrm>
          <a:prstGeom prst="rect">
            <a:avLst/>
          </a:prstGeom>
          <a:solidFill>
            <a:srgbClr val="D6D2C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 sz="200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00D152E-CFF2-476D-FA77-EBCEF39EE5F8}"/>
              </a:ext>
            </a:extLst>
          </p:cNvPr>
          <p:cNvSpPr txBox="1"/>
          <p:nvPr/>
        </p:nvSpPr>
        <p:spPr>
          <a:xfrm>
            <a:off x="8178800" y="4064000"/>
            <a:ext cx="3556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 b="1">
                <a:solidFill>
                  <a:srgbClr val="196B24"/>
                </a:solidFill>
                <a:latin typeface="Calibri"/>
                <a:cs typeface="Calibri"/>
              </a:rPr>
              <a:t>LACUNA CENTRAL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5FF84B5-6FA7-F286-D97C-EB2549867B2B}"/>
              </a:ext>
            </a:extLst>
          </p:cNvPr>
          <p:cNvSpPr txBox="1"/>
          <p:nvPr/>
        </p:nvSpPr>
        <p:spPr>
          <a:xfrm>
            <a:off x="8178800" y="4343400"/>
            <a:ext cx="35560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Garantia apenas estatística, não certificada;</a:t>
            </a:r>
          </a:p>
          <a:p>
            <a:pPr algn="l"/>
            <a:r>
              <a:rPr lang="pt-PT" sz="1600" i="1" dirty="0">
                <a:solidFill>
                  <a:srgbClr val="1A2332"/>
                </a:solidFill>
                <a:latin typeface="Calibri"/>
                <a:cs typeface="Calibri"/>
              </a:rPr>
              <a:t>Clientes offline mantêm pesos obsoletos.</a:t>
            </a:r>
          </a:p>
        </p:txBody>
      </p:sp>
      <p:sp>
        <p:nvSpPr>
          <p:cNvPr id="22" name="Retângulo Arredondado 21">
            <a:extLst>
              <a:ext uri="{FF2B5EF4-FFF2-40B4-BE49-F238E27FC236}">
                <a16:creationId xmlns:a16="http://schemas.microsoft.com/office/drawing/2014/main" id="{93B3F76E-30F3-CF44-0EEA-09CAAB3039B2}"/>
              </a:ext>
            </a:extLst>
          </p:cNvPr>
          <p:cNvSpPr/>
          <p:nvPr/>
        </p:nvSpPr>
        <p:spPr>
          <a:xfrm>
            <a:off x="457200" y="5318704"/>
            <a:ext cx="3556000" cy="830997"/>
          </a:xfrm>
          <a:prstGeom prst="roundRect">
            <a:avLst/>
          </a:prstGeom>
          <a:solidFill>
            <a:srgbClr val="F0EB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70D9323D-5155-3B6B-6A7E-CD347F551F6F}"/>
              </a:ext>
            </a:extLst>
          </p:cNvPr>
          <p:cNvSpPr txBox="1"/>
          <p:nvPr/>
        </p:nvSpPr>
        <p:spPr>
          <a:xfrm>
            <a:off x="609600" y="5435024"/>
            <a:ext cx="3251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300" dirty="0">
                <a:solidFill>
                  <a:srgbClr val="8B1A1A"/>
                </a:solidFill>
                <a:latin typeface="Calibri"/>
                <a:cs typeface="Calibri"/>
              </a:rPr>
              <a:t>Ignora: Limites de recursos </a:t>
            </a:r>
            <a:r>
              <a:rPr lang="pt-PT" sz="1300" dirty="0" err="1">
                <a:solidFill>
                  <a:srgbClr val="8B1A1A"/>
                </a:solidFill>
                <a:latin typeface="Calibri"/>
                <a:cs typeface="Calibri"/>
              </a:rPr>
              <a:t>edge</a:t>
            </a:r>
            <a:r>
              <a:rPr lang="pt-PT" sz="1300" dirty="0">
                <a:solidFill>
                  <a:srgbClr val="8B1A1A"/>
                </a:solidFill>
                <a:latin typeface="Calibri"/>
                <a:cs typeface="Calibri"/>
              </a:rPr>
              <a:t>, federação, replicação </a:t>
            </a:r>
            <a:r>
              <a:rPr lang="pt-PT" sz="1300" dirty="0" err="1">
                <a:solidFill>
                  <a:srgbClr val="8B1A1A"/>
                </a:solidFill>
                <a:latin typeface="Calibri"/>
                <a:cs typeface="Calibri"/>
              </a:rPr>
              <a:t>multi-camada</a:t>
            </a:r>
            <a:endParaRPr lang="pt-PT" sz="1300" dirty="0">
              <a:solidFill>
                <a:srgbClr val="8B1A1A"/>
              </a:solidFill>
              <a:latin typeface="Calibri"/>
              <a:cs typeface="Calibri"/>
            </a:endParaRPr>
          </a:p>
        </p:txBody>
      </p:sp>
      <p:sp>
        <p:nvSpPr>
          <p:cNvPr id="24" name="Retângulo Arredondado 23">
            <a:extLst>
              <a:ext uri="{FF2B5EF4-FFF2-40B4-BE49-F238E27FC236}">
                <a16:creationId xmlns:a16="http://schemas.microsoft.com/office/drawing/2014/main" id="{CB77ECA3-AEC1-B419-4031-F675E2BE669B}"/>
              </a:ext>
            </a:extLst>
          </p:cNvPr>
          <p:cNvSpPr/>
          <p:nvPr/>
        </p:nvSpPr>
        <p:spPr>
          <a:xfrm>
            <a:off x="4318000" y="5315227"/>
            <a:ext cx="3556000" cy="830997"/>
          </a:xfrm>
          <a:prstGeom prst="roundRect">
            <a:avLst/>
          </a:prstGeom>
          <a:solidFill>
            <a:srgbClr val="F0EB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8340FE7-47ED-4419-59E0-5D35191F7841}"/>
              </a:ext>
            </a:extLst>
          </p:cNvPr>
          <p:cNvSpPr txBox="1"/>
          <p:nvPr/>
        </p:nvSpPr>
        <p:spPr>
          <a:xfrm>
            <a:off x="4407971" y="5435025"/>
            <a:ext cx="3251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300" dirty="0">
                <a:solidFill>
                  <a:srgbClr val="8B1A1A"/>
                </a:solidFill>
                <a:latin typeface="Calibri"/>
                <a:cs typeface="Calibri"/>
              </a:rPr>
              <a:t>Ignora: </a:t>
            </a:r>
            <a:r>
              <a:rPr lang="pt-PT" sz="1300" dirty="0" err="1">
                <a:solidFill>
                  <a:srgbClr val="8B1A1A"/>
                </a:solidFill>
                <a:latin typeface="Calibri"/>
                <a:cs typeface="Calibri"/>
              </a:rPr>
              <a:t>Multi-tenancy</a:t>
            </a:r>
            <a:r>
              <a:rPr lang="pt-PT" sz="1300" dirty="0">
                <a:solidFill>
                  <a:srgbClr val="8B1A1A"/>
                </a:solidFill>
                <a:latin typeface="Calibri"/>
                <a:cs typeface="Calibri"/>
              </a:rPr>
              <a:t>, coordenação entre camadas, modelos partilhados</a:t>
            </a:r>
          </a:p>
        </p:txBody>
      </p:sp>
      <p:sp>
        <p:nvSpPr>
          <p:cNvPr id="26" name="Retângulo Arredondado 25">
            <a:extLst>
              <a:ext uri="{FF2B5EF4-FFF2-40B4-BE49-F238E27FC236}">
                <a16:creationId xmlns:a16="http://schemas.microsoft.com/office/drawing/2014/main" id="{F01F6660-9CF3-E87F-E92C-1B1034ECC300}"/>
              </a:ext>
            </a:extLst>
          </p:cNvPr>
          <p:cNvSpPr/>
          <p:nvPr/>
        </p:nvSpPr>
        <p:spPr>
          <a:xfrm>
            <a:off x="8178800" y="5318704"/>
            <a:ext cx="3556000" cy="830997"/>
          </a:xfrm>
          <a:prstGeom prst="roundRect">
            <a:avLst/>
          </a:prstGeom>
          <a:solidFill>
            <a:srgbClr val="F0EB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54F4A8A-241B-E1F9-B460-A8A238E0F36F}"/>
              </a:ext>
            </a:extLst>
          </p:cNvPr>
          <p:cNvSpPr txBox="1"/>
          <p:nvPr/>
        </p:nvSpPr>
        <p:spPr>
          <a:xfrm>
            <a:off x="8331200" y="5416699"/>
            <a:ext cx="3251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300" dirty="0">
                <a:solidFill>
                  <a:srgbClr val="8B1A1A"/>
                </a:solidFill>
                <a:latin typeface="Calibri"/>
                <a:cs typeface="Calibri"/>
              </a:rPr>
              <a:t>Ignora: Garantia de </a:t>
            </a:r>
            <a:r>
              <a:rPr lang="pt-PT" sz="1300" dirty="0" err="1">
                <a:solidFill>
                  <a:srgbClr val="8B1A1A"/>
                </a:solidFill>
                <a:latin typeface="Calibri"/>
                <a:cs typeface="Calibri"/>
              </a:rPr>
              <a:t>erasure</a:t>
            </a:r>
            <a:r>
              <a:rPr lang="pt-PT" sz="1300" dirty="0">
                <a:solidFill>
                  <a:srgbClr val="8B1A1A"/>
                </a:solidFill>
                <a:latin typeface="Calibri"/>
                <a:cs typeface="Calibri"/>
              </a:rPr>
              <a:t> enfraquecida, clientes offline, sem certificação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611D3C2-38A0-026A-B4A1-5741595A8E1C}"/>
              </a:ext>
            </a:extLst>
          </p:cNvPr>
          <p:cNvSpPr txBox="1"/>
          <p:nvPr/>
        </p:nvSpPr>
        <p:spPr>
          <a:xfrm>
            <a:off x="1867971" y="1445667"/>
            <a:ext cx="8331200" cy="3847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pt-PT"/>
            </a:defPPr>
            <a:lvl1pPr>
              <a:defRPr sz="1900" b="1">
                <a:solidFill>
                  <a:srgbClr val="1A2332"/>
                </a:solidFill>
                <a:latin typeface="Georgia"/>
              </a:defRPr>
            </a:lvl1pPr>
          </a:lstStyle>
          <a:p>
            <a:r>
              <a:rPr lang="pt-PT" dirty="0"/>
              <a:t>Nenhum método atual satisfaz o envelope completo de restrições</a:t>
            </a:r>
          </a:p>
        </p:txBody>
      </p:sp>
    </p:spTree>
    <p:extLst>
      <p:ext uri="{BB962C8B-B14F-4D97-AF65-F5344CB8AC3E}">
        <p14:creationId xmlns:p14="http://schemas.microsoft.com/office/powerpoint/2010/main" val="3825193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012911-82BC-6872-3E14-EDE88C23B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PT" sz="3200" b="1" dirty="0">
                <a:solidFill>
                  <a:srgbClr val="1A2332"/>
                </a:solidFill>
                <a:latin typeface="Georgia"/>
              </a:rPr>
              <a:t>Direções de Investigação</a:t>
            </a:r>
          </a:p>
        </p:txBody>
      </p:sp>
      <p:sp>
        <p:nvSpPr>
          <p:cNvPr id="3" name="Retângulo Arredondado 2">
            <a:extLst>
              <a:ext uri="{FF2B5EF4-FFF2-40B4-BE49-F238E27FC236}">
                <a16:creationId xmlns:a16="http://schemas.microsoft.com/office/drawing/2014/main" id="{7D1CE6D4-71C4-9C42-BDFC-0EA3A6E33AED}"/>
              </a:ext>
            </a:extLst>
          </p:cNvPr>
          <p:cNvSpPr/>
          <p:nvPr/>
        </p:nvSpPr>
        <p:spPr>
          <a:xfrm>
            <a:off x="457200" y="1905000"/>
            <a:ext cx="5334000" cy="4572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PT" sz="1400" b="1">
                <a:solidFill>
                  <a:srgbClr val="FFFFFF"/>
                </a:solidFill>
                <a:latin typeface="Calibri"/>
                <a:cs typeface="Calibri"/>
              </a:rPr>
              <a:t>ESCALABILIDADE NO EDGE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F90BDEB-842A-7447-9EC7-BD08DF512EBF}"/>
              </a:ext>
            </a:extLst>
          </p:cNvPr>
          <p:cNvSpPr/>
          <p:nvPr/>
        </p:nvSpPr>
        <p:spPr>
          <a:xfrm>
            <a:off x="508000" y="2565400"/>
            <a:ext cx="101600" cy="1016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5F96323-26F3-154E-8893-F751AAC2F7E1}"/>
              </a:ext>
            </a:extLst>
          </p:cNvPr>
          <p:cNvSpPr txBox="1"/>
          <p:nvPr/>
        </p:nvSpPr>
        <p:spPr>
          <a:xfrm>
            <a:off x="711200" y="2489200"/>
            <a:ext cx="50292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400" b="1">
                <a:solidFill>
                  <a:srgbClr val="1A2332"/>
                </a:solidFill>
                <a:latin typeface="Calibri"/>
              </a:rPr>
              <a:t>Atualizações incrementais e esparsas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C9D78B-35FC-A74A-B525-F1735188B3EC}"/>
              </a:ext>
            </a:extLst>
          </p:cNvPr>
          <p:cNvSpPr txBox="1"/>
          <p:nvPr/>
        </p:nvSpPr>
        <p:spPr>
          <a:xfrm>
            <a:off x="711200" y="2768600"/>
            <a:ext cx="50292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>
                <a:solidFill>
                  <a:srgbClr val="2E3B4E"/>
                </a:solidFill>
                <a:latin typeface="Calibri"/>
              </a:rPr>
              <a:t>Evitar re-treino completo do modelo a cada pedido de eliminação.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0FC41A-626A-2344-A1C4-68330BFA68CB}"/>
              </a:ext>
            </a:extLst>
          </p:cNvPr>
          <p:cNvSpPr/>
          <p:nvPr/>
        </p:nvSpPr>
        <p:spPr>
          <a:xfrm>
            <a:off x="508000" y="3403600"/>
            <a:ext cx="101600" cy="1016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69C9886-0420-0C4B-B968-6E06FABAED99}"/>
              </a:ext>
            </a:extLst>
          </p:cNvPr>
          <p:cNvSpPr txBox="1"/>
          <p:nvPr/>
        </p:nvSpPr>
        <p:spPr>
          <a:xfrm>
            <a:off x="711200" y="3327400"/>
            <a:ext cx="50292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400" b="1">
                <a:solidFill>
                  <a:srgbClr val="1A2332"/>
                </a:solidFill>
                <a:latin typeface="Calibri"/>
              </a:rPr>
              <a:t>Adaptadores tipo LoRA  </a:t>
            </a:r>
            <a:r>
              <a:rPr lang="pt-PT" sz="1000" b="1">
                <a:solidFill>
                  <a:srgbClr val="E97132"/>
                </a:solidFill>
                <a:latin typeface="Calibri"/>
              </a:rPr>
              <a:t>[EXTERNO]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0BEBC2F-0F7B-6D46-A944-63692DB51C7B}"/>
              </a:ext>
            </a:extLst>
          </p:cNvPr>
          <p:cNvSpPr txBox="1"/>
          <p:nvPr/>
        </p:nvSpPr>
        <p:spPr>
          <a:xfrm>
            <a:off x="711200" y="3606800"/>
            <a:ext cx="50292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>
                <a:solidFill>
                  <a:srgbClr val="2E3B4E"/>
                </a:solidFill>
                <a:latin typeface="Calibri"/>
              </a:rPr>
              <a:t>Primitivas leves não referidas no artigo; sugestão para tornar o esquecimento praticável no edge.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194CC9C-176A-0F47-ACE1-5066FA21ABD3}"/>
              </a:ext>
            </a:extLst>
          </p:cNvPr>
          <p:cNvSpPr/>
          <p:nvPr/>
        </p:nvSpPr>
        <p:spPr>
          <a:xfrm>
            <a:off x="508000" y="4114800"/>
            <a:ext cx="101600" cy="1016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1BA7C17-2C74-A14C-8178-C5434B60B050}"/>
              </a:ext>
            </a:extLst>
          </p:cNvPr>
          <p:cNvSpPr txBox="1"/>
          <p:nvPr/>
        </p:nvSpPr>
        <p:spPr>
          <a:xfrm>
            <a:off x="711200" y="4038600"/>
            <a:ext cx="50292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400" b="1">
                <a:solidFill>
                  <a:srgbClr val="1A2332"/>
                </a:solidFill>
                <a:latin typeface="Calibri"/>
              </a:rPr>
              <a:t>Runtimes para microcontroladores  </a:t>
            </a:r>
            <a:r>
              <a:rPr lang="pt-PT" sz="1000" b="1">
                <a:solidFill>
                  <a:srgbClr val="E97132"/>
                </a:solidFill>
                <a:latin typeface="Calibri"/>
              </a:rPr>
              <a:t>[EXTERNO]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A75184F-0B43-C24F-A1BB-A7F042B0AB41}"/>
              </a:ext>
            </a:extLst>
          </p:cNvPr>
          <p:cNvSpPr txBox="1"/>
          <p:nvPr/>
        </p:nvSpPr>
        <p:spPr>
          <a:xfrm>
            <a:off x="711200" y="4318000"/>
            <a:ext cx="50292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>
                <a:solidFill>
                  <a:srgbClr val="2E3B4E"/>
                </a:solidFill>
                <a:latin typeface="Calibri"/>
              </a:rPr>
              <a:t>TF Lite Micro, microTVM — tecnologias não citadas no artigo.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2D3475D-927E-DD49-8C65-A2D20442782D}"/>
              </a:ext>
            </a:extLst>
          </p:cNvPr>
          <p:cNvSpPr/>
          <p:nvPr/>
        </p:nvSpPr>
        <p:spPr>
          <a:xfrm>
            <a:off x="508000" y="4826000"/>
            <a:ext cx="101600" cy="1016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67C310F-F11F-B545-AD9E-9E44A55CA2BE}"/>
              </a:ext>
            </a:extLst>
          </p:cNvPr>
          <p:cNvSpPr txBox="1"/>
          <p:nvPr/>
        </p:nvSpPr>
        <p:spPr>
          <a:xfrm>
            <a:off x="711200" y="4749800"/>
            <a:ext cx="50292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400" b="1">
                <a:solidFill>
                  <a:srgbClr val="1A2332"/>
                </a:solidFill>
                <a:latin typeface="Calibri"/>
              </a:rPr>
              <a:t>Aceleradores NPU / DSP  </a:t>
            </a:r>
            <a:r>
              <a:rPr lang="pt-PT" sz="1000" b="1">
                <a:solidFill>
                  <a:srgbClr val="E97132"/>
                </a:solidFill>
                <a:latin typeface="Calibri"/>
              </a:rPr>
              <a:t>[EXTERNO]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AF1A083-6C0D-3343-A247-98FC91AF480A}"/>
              </a:ext>
            </a:extLst>
          </p:cNvPr>
          <p:cNvSpPr txBox="1"/>
          <p:nvPr/>
        </p:nvSpPr>
        <p:spPr>
          <a:xfrm>
            <a:off x="711200" y="5029200"/>
            <a:ext cx="50292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>
                <a:solidFill>
                  <a:srgbClr val="2E3B4E"/>
                </a:solidFill>
                <a:latin typeface="Calibri"/>
              </a:rPr>
              <a:t>Hardware específico para inferência no terreno; fora do âmbito do artigo.</a:t>
            </a:r>
          </a:p>
        </p:txBody>
      </p:sp>
      <p:sp>
        <p:nvSpPr>
          <p:cNvPr id="16" name="Retângulo Arredondado 15">
            <a:extLst>
              <a:ext uri="{FF2B5EF4-FFF2-40B4-BE49-F238E27FC236}">
                <a16:creationId xmlns:a16="http://schemas.microsoft.com/office/drawing/2014/main" id="{6B874A69-8707-494F-96CD-B4A7BC8D1714}"/>
              </a:ext>
            </a:extLst>
          </p:cNvPr>
          <p:cNvSpPr/>
          <p:nvPr/>
        </p:nvSpPr>
        <p:spPr>
          <a:xfrm>
            <a:off x="6096000" y="1905000"/>
            <a:ext cx="5334000" cy="457200"/>
          </a:xfrm>
          <a:prstGeom prst="roundRect">
            <a:avLst/>
          </a:prstGeom>
          <a:solidFill>
            <a:srgbClr val="B551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PT" sz="1400" b="1">
                <a:solidFill>
                  <a:srgbClr val="FFFFFF"/>
                </a:solidFill>
                <a:latin typeface="Calibri"/>
                <a:cs typeface="Calibri"/>
              </a:rPr>
              <a:t>VERIFICAÇÃO E GARANTIAS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60A62C-0446-2944-B6BC-2130A92C8C9E}"/>
              </a:ext>
            </a:extLst>
          </p:cNvPr>
          <p:cNvSpPr/>
          <p:nvPr/>
        </p:nvSpPr>
        <p:spPr>
          <a:xfrm>
            <a:off x="6146800" y="2565400"/>
            <a:ext cx="101600" cy="101600"/>
          </a:xfrm>
          <a:prstGeom prst="ellipse">
            <a:avLst/>
          </a:prstGeom>
          <a:solidFill>
            <a:srgbClr val="B551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460F763-94A9-C640-AD72-8B7D81739510}"/>
              </a:ext>
            </a:extLst>
          </p:cNvPr>
          <p:cNvSpPr txBox="1"/>
          <p:nvPr/>
        </p:nvSpPr>
        <p:spPr>
          <a:xfrm>
            <a:off x="6350000" y="2489200"/>
            <a:ext cx="50292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400" b="1">
                <a:solidFill>
                  <a:srgbClr val="1A2332"/>
                </a:solidFill>
                <a:latin typeface="Calibri"/>
              </a:rPr>
              <a:t>Verificabilidade da eliminação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B712AE0-AB66-2F41-9682-D4DA6813FA03}"/>
              </a:ext>
            </a:extLst>
          </p:cNvPr>
          <p:cNvSpPr txBox="1"/>
          <p:nvPr/>
        </p:nvSpPr>
        <p:spPr>
          <a:xfrm>
            <a:off x="6350000" y="2768600"/>
            <a:ext cx="50292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>
                <a:solidFill>
                  <a:srgbClr val="2E3B4E"/>
                </a:solidFill>
                <a:latin typeface="Calibri"/>
              </a:rPr>
              <a:t>O artigo identifica a falta de provas formais de esquecimento como lacuna central.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780F56-6DB4-3644-9525-1E80A52B239A}"/>
              </a:ext>
            </a:extLst>
          </p:cNvPr>
          <p:cNvSpPr/>
          <p:nvPr/>
        </p:nvSpPr>
        <p:spPr>
          <a:xfrm>
            <a:off x="6146800" y="3403600"/>
            <a:ext cx="101600" cy="101600"/>
          </a:xfrm>
          <a:prstGeom prst="ellipse">
            <a:avLst/>
          </a:prstGeom>
          <a:solidFill>
            <a:srgbClr val="B551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9FE33ED-72D8-E64B-825A-C229569C3503}"/>
              </a:ext>
            </a:extLst>
          </p:cNvPr>
          <p:cNvSpPr txBox="1"/>
          <p:nvPr/>
        </p:nvSpPr>
        <p:spPr>
          <a:xfrm>
            <a:off x="6350000" y="3327400"/>
            <a:ext cx="50292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400" b="1">
                <a:solidFill>
                  <a:srgbClr val="1A2332"/>
                </a:solidFill>
                <a:latin typeface="Calibri"/>
              </a:rPr>
              <a:t>Ambientes de execução confiáveis (TEE)  </a:t>
            </a:r>
            <a:r>
              <a:rPr lang="pt-PT" sz="1000" b="1">
                <a:solidFill>
                  <a:srgbClr val="E97132"/>
                </a:solidFill>
                <a:latin typeface="Calibri"/>
              </a:rPr>
              <a:t>[EXTERNO]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2D647A6-EE07-C245-B24D-7DB07C228C1F}"/>
              </a:ext>
            </a:extLst>
          </p:cNvPr>
          <p:cNvSpPr txBox="1"/>
          <p:nvPr/>
        </p:nvSpPr>
        <p:spPr>
          <a:xfrm>
            <a:off x="6350000" y="3606800"/>
            <a:ext cx="50292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>
                <a:solidFill>
                  <a:srgbClr val="2E3B4E"/>
                </a:solidFill>
                <a:latin typeface="Calibri"/>
              </a:rPr>
              <a:t>SGX, TrustZone, SEV — primitivas de hardware sugeridas, não discutidas no artigo.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DAF54C8-C787-2340-8D3C-AA6942ECF560}"/>
              </a:ext>
            </a:extLst>
          </p:cNvPr>
          <p:cNvSpPr/>
          <p:nvPr/>
        </p:nvSpPr>
        <p:spPr>
          <a:xfrm>
            <a:off x="6146800" y="4114800"/>
            <a:ext cx="101600" cy="101600"/>
          </a:xfrm>
          <a:prstGeom prst="ellipse">
            <a:avLst/>
          </a:prstGeom>
          <a:solidFill>
            <a:srgbClr val="B551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42D99DD-F348-D44F-AD3E-4378D0E3F0AF}"/>
              </a:ext>
            </a:extLst>
          </p:cNvPr>
          <p:cNvSpPr txBox="1"/>
          <p:nvPr/>
        </p:nvSpPr>
        <p:spPr>
          <a:xfrm>
            <a:off x="6350000" y="4038600"/>
            <a:ext cx="50292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400" b="1">
                <a:solidFill>
                  <a:srgbClr val="1A2332"/>
                </a:solidFill>
                <a:latin typeface="Calibri"/>
              </a:rPr>
              <a:t>Provas de conhecimento-zero (ZKP)  </a:t>
            </a:r>
            <a:r>
              <a:rPr lang="pt-PT" sz="1000" b="1">
                <a:solidFill>
                  <a:srgbClr val="E97132"/>
                </a:solidFill>
                <a:latin typeface="Calibri"/>
              </a:rPr>
              <a:t>[EXTERNO]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564B44C-F642-E549-8EA9-4A4011F88FD3}"/>
              </a:ext>
            </a:extLst>
          </p:cNvPr>
          <p:cNvSpPr txBox="1"/>
          <p:nvPr/>
        </p:nvSpPr>
        <p:spPr>
          <a:xfrm>
            <a:off x="6350000" y="4318000"/>
            <a:ext cx="50292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>
                <a:solidFill>
                  <a:srgbClr val="2E3B4E"/>
                </a:solidFill>
                <a:latin typeface="Calibri"/>
              </a:rPr>
              <a:t>Atestação criptográfica da eliminação; ideia exógena ao texto.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45A6D58-6CE1-1146-806B-6E8C3878CF7A}"/>
              </a:ext>
            </a:extLst>
          </p:cNvPr>
          <p:cNvSpPr/>
          <p:nvPr/>
        </p:nvSpPr>
        <p:spPr>
          <a:xfrm>
            <a:off x="6146800" y="4826000"/>
            <a:ext cx="101600" cy="101600"/>
          </a:xfrm>
          <a:prstGeom prst="ellipse">
            <a:avLst/>
          </a:prstGeom>
          <a:solidFill>
            <a:srgbClr val="B551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9165D0D-A27D-FD47-8D9E-EF7D09BEB984}"/>
              </a:ext>
            </a:extLst>
          </p:cNvPr>
          <p:cNvSpPr txBox="1"/>
          <p:nvPr/>
        </p:nvSpPr>
        <p:spPr>
          <a:xfrm>
            <a:off x="6350000" y="4749800"/>
            <a:ext cx="50292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400" b="1">
                <a:solidFill>
                  <a:srgbClr val="1A2332"/>
                </a:solidFill>
                <a:latin typeface="Calibri"/>
              </a:rPr>
              <a:t>Contabilidade de orçamento de DP  </a:t>
            </a:r>
            <a:r>
              <a:rPr lang="pt-PT" sz="1000" b="1">
                <a:solidFill>
                  <a:srgbClr val="E97132"/>
                </a:solidFill>
                <a:latin typeface="Calibri"/>
              </a:rPr>
              <a:t>[EXTERNO]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A5963ADC-BD6D-5C47-8417-9D5C7B143767}"/>
              </a:ext>
            </a:extLst>
          </p:cNvPr>
          <p:cNvSpPr txBox="1"/>
          <p:nvPr/>
        </p:nvSpPr>
        <p:spPr>
          <a:xfrm>
            <a:off x="6350000" y="5029200"/>
            <a:ext cx="50292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200">
                <a:solidFill>
                  <a:srgbClr val="2E3B4E"/>
                </a:solidFill>
                <a:latin typeface="Calibri"/>
              </a:rPr>
              <a:t>Privacidade diferencial composta ao longo do tempo; não tratado pelo artigo.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AF5AE9F-4083-AA47-83D7-316C7DC19454}"/>
              </a:ext>
            </a:extLst>
          </p:cNvPr>
          <p:cNvSpPr/>
          <p:nvPr/>
        </p:nvSpPr>
        <p:spPr>
          <a:xfrm>
            <a:off x="457200" y="5562600"/>
            <a:ext cx="11277600" cy="711200"/>
          </a:xfrm>
          <a:prstGeom prst="rect">
            <a:avLst/>
          </a:prstGeom>
          <a:solidFill>
            <a:srgbClr val="F0EB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27BEB23-DF31-AD44-8C62-B93FBA6D43C8}"/>
              </a:ext>
            </a:extLst>
          </p:cNvPr>
          <p:cNvSpPr txBox="1"/>
          <p:nvPr/>
        </p:nvSpPr>
        <p:spPr>
          <a:xfrm>
            <a:off x="711200" y="5689600"/>
            <a:ext cx="1076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pt-PT" sz="1300" i="1">
                <a:solidFill>
                  <a:srgbClr val="1A2332"/>
                </a:solidFill>
                <a:latin typeface="Calibri"/>
              </a:rPr>
              <a:t>Itens marcados </a:t>
            </a:r>
            <a:r>
              <a:rPr lang="pt-PT" sz="1300" b="1">
                <a:solidFill>
                  <a:srgbClr val="E97132"/>
                </a:solidFill>
                <a:latin typeface="Calibri"/>
              </a:rPr>
              <a:t>[EXTERNO]</a:t>
            </a:r>
            <a:r>
              <a:rPr lang="pt-PT" sz="1300" i="1">
                <a:solidFill>
                  <a:srgbClr val="1A2332"/>
                </a:solidFill>
                <a:latin typeface="Calibri"/>
              </a:rPr>
              <a:t> são tecnologias sugeridas pelo apresentador, não afirmações do artigo.</a:t>
            </a:r>
          </a:p>
        </p:txBody>
      </p:sp>
    </p:spTree>
    <p:extLst>
      <p:ext uri="{BB962C8B-B14F-4D97-AF65-F5344CB8AC3E}">
        <p14:creationId xmlns:p14="http://schemas.microsoft.com/office/powerpoint/2010/main" val="2132655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D52685-EEDA-3D69-3E46-D4D43E2F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PT" sz="3200" b="1" dirty="0">
                <a:solidFill>
                  <a:srgbClr val="1A2332"/>
                </a:solidFill>
                <a:latin typeface="Georgia"/>
              </a:rPr>
              <a:t>Conclusão</a:t>
            </a:r>
          </a:p>
        </p:txBody>
      </p:sp>
      <p:sp>
        <p:nvSpPr>
          <p:cNvPr id="3" name="Retângulo Arredondado 2">
            <a:extLst>
              <a:ext uri="{FF2B5EF4-FFF2-40B4-BE49-F238E27FC236}">
                <a16:creationId xmlns:a16="http://schemas.microsoft.com/office/drawing/2014/main" id="{B81E05F5-3FF2-CC4A-8BA5-2622CA841F19}"/>
              </a:ext>
            </a:extLst>
          </p:cNvPr>
          <p:cNvSpPr/>
          <p:nvPr/>
        </p:nvSpPr>
        <p:spPr>
          <a:xfrm>
            <a:off x="457200" y="1905000"/>
            <a:ext cx="11277600" cy="8890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PT" dirty="0">
                <a:solidFill>
                  <a:srgbClr val="FFFFFF"/>
                </a:solidFill>
                <a:latin typeface="Georgia"/>
              </a:rPr>
              <a:t>Três eixos interdependentes devem avançar em conjunto para alcançar </a:t>
            </a:r>
            <a:r>
              <a:rPr lang="pt-PT" dirty="0" err="1">
                <a:solidFill>
                  <a:srgbClr val="FFFFFF"/>
                </a:solidFill>
                <a:latin typeface="Georgia"/>
              </a:rPr>
              <a:t>unlearning</a:t>
            </a:r>
            <a:r>
              <a:rPr lang="pt-PT" dirty="0">
                <a:solidFill>
                  <a:srgbClr val="FFFFFF"/>
                </a:solidFill>
                <a:latin typeface="Georgia"/>
              </a:rPr>
              <a:t> responsável em edifícios inteligentes.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9680A7-A798-EB4F-9A16-720894964DB0}"/>
              </a:ext>
            </a:extLst>
          </p:cNvPr>
          <p:cNvSpPr/>
          <p:nvPr/>
        </p:nvSpPr>
        <p:spPr>
          <a:xfrm>
            <a:off x="1905000" y="3149600"/>
            <a:ext cx="660400" cy="6604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PT" sz="2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ACB55E4-8882-B34D-AA4C-D5C13B32944F}"/>
              </a:ext>
            </a:extLst>
          </p:cNvPr>
          <p:cNvSpPr txBox="1"/>
          <p:nvPr/>
        </p:nvSpPr>
        <p:spPr>
          <a:xfrm>
            <a:off x="457200" y="3911600"/>
            <a:ext cx="355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b="1">
                <a:solidFill>
                  <a:srgbClr val="156082"/>
                </a:solidFill>
                <a:latin typeface="Georgia"/>
              </a:rPr>
              <a:t>Escalabilidade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1B271A0-DCA7-144A-B43F-8F2AFE211EEE}"/>
              </a:ext>
            </a:extLst>
          </p:cNvPr>
          <p:cNvSpPr txBox="1"/>
          <p:nvPr/>
        </p:nvSpPr>
        <p:spPr>
          <a:xfrm>
            <a:off x="457200" y="4318000"/>
            <a:ext cx="355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400" dirty="0">
                <a:solidFill>
                  <a:srgbClr val="1A2332"/>
                </a:solidFill>
                <a:latin typeface="Calibri"/>
                <a:cs typeface="Calibri"/>
              </a:rPr>
              <a:t>Primitivas de </a:t>
            </a:r>
            <a:r>
              <a:rPr lang="pt-PT" sz="1400" dirty="0" err="1">
                <a:solidFill>
                  <a:srgbClr val="1A2332"/>
                </a:solidFill>
                <a:latin typeface="Calibri"/>
                <a:cs typeface="Calibri"/>
              </a:rPr>
              <a:t>erasure</a:t>
            </a:r>
            <a:r>
              <a:rPr lang="pt-PT" sz="1400" dirty="0">
                <a:solidFill>
                  <a:srgbClr val="1A2332"/>
                </a:solidFill>
                <a:latin typeface="Calibri"/>
                <a:cs typeface="Calibri"/>
              </a:rPr>
              <a:t> </a:t>
            </a:r>
            <a:r>
              <a:rPr lang="pt-PT" sz="1400" dirty="0" err="1">
                <a:solidFill>
                  <a:srgbClr val="1A2332"/>
                </a:solidFill>
                <a:latin typeface="Calibri"/>
                <a:cs typeface="Calibri"/>
              </a:rPr>
              <a:t>on-device</a:t>
            </a:r>
            <a:r>
              <a:rPr lang="pt-PT" sz="1400" dirty="0">
                <a:solidFill>
                  <a:srgbClr val="1A2332"/>
                </a:solidFill>
                <a:latin typeface="Calibri"/>
                <a:cs typeface="Calibri"/>
              </a:rPr>
              <a:t> (</a:t>
            </a:r>
            <a:r>
              <a:rPr lang="pt-PT" sz="1400" dirty="0" err="1">
                <a:solidFill>
                  <a:srgbClr val="1A2332"/>
                </a:solidFill>
                <a:latin typeface="Calibri"/>
                <a:cs typeface="Calibri"/>
              </a:rPr>
              <a:t>TinyML</a:t>
            </a:r>
            <a:r>
              <a:rPr lang="pt-PT" sz="1400" dirty="0">
                <a:solidFill>
                  <a:srgbClr val="1A2332"/>
                </a:solidFill>
                <a:latin typeface="Calibri"/>
                <a:cs typeface="Calibri"/>
              </a:rPr>
              <a:t>, </a:t>
            </a:r>
            <a:r>
              <a:rPr lang="pt-PT" sz="1400" dirty="0" err="1">
                <a:solidFill>
                  <a:srgbClr val="1A2332"/>
                </a:solidFill>
                <a:latin typeface="Calibri"/>
                <a:cs typeface="Calibri"/>
              </a:rPr>
              <a:t>sparse</a:t>
            </a:r>
            <a:r>
              <a:rPr lang="pt-PT" sz="1400" dirty="0">
                <a:solidFill>
                  <a:srgbClr val="1A2332"/>
                </a:solidFill>
                <a:latin typeface="Calibri"/>
                <a:cs typeface="Calibri"/>
              </a:rPr>
              <a:t> </a:t>
            </a:r>
            <a:r>
              <a:rPr lang="pt-PT" sz="1400" dirty="0" err="1">
                <a:solidFill>
                  <a:srgbClr val="1A2332"/>
                </a:solidFill>
                <a:latin typeface="Calibri"/>
                <a:cs typeface="Calibri"/>
              </a:rPr>
              <a:t>updates</a:t>
            </a:r>
            <a:r>
              <a:rPr lang="pt-PT" sz="1400" dirty="0">
                <a:solidFill>
                  <a:srgbClr val="1A2332"/>
                </a:solidFill>
                <a:latin typeface="Calibri"/>
                <a:cs typeface="Calibri"/>
              </a:rPr>
              <a:t>) que caibam em </a:t>
            </a:r>
            <a:r>
              <a:rPr lang="pt-PT" sz="1400" dirty="0" err="1">
                <a:solidFill>
                  <a:srgbClr val="1A2332"/>
                </a:solidFill>
                <a:latin typeface="Calibri"/>
                <a:cs typeface="Calibri"/>
              </a:rPr>
              <a:t>MCUs</a:t>
            </a:r>
            <a:endParaRPr lang="pt-PT" sz="1400" dirty="0">
              <a:solidFill>
                <a:srgbClr val="1A2332"/>
              </a:solidFill>
              <a:latin typeface="Calibri"/>
              <a:cs typeface="Calibr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15DE8B-DDC7-1C45-BB89-29C411889968}"/>
              </a:ext>
            </a:extLst>
          </p:cNvPr>
          <p:cNvSpPr/>
          <p:nvPr/>
        </p:nvSpPr>
        <p:spPr>
          <a:xfrm>
            <a:off x="5765800" y="3149600"/>
            <a:ext cx="660400" cy="660400"/>
          </a:xfrm>
          <a:prstGeom prst="ellipse">
            <a:avLst/>
          </a:prstGeom>
          <a:solidFill>
            <a:srgbClr val="B5511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PT" sz="2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5D6C62E-2312-B342-A6C3-075830E885C8}"/>
              </a:ext>
            </a:extLst>
          </p:cNvPr>
          <p:cNvSpPr txBox="1"/>
          <p:nvPr/>
        </p:nvSpPr>
        <p:spPr>
          <a:xfrm>
            <a:off x="4318000" y="3911600"/>
            <a:ext cx="355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b="1">
                <a:solidFill>
                  <a:srgbClr val="E97132"/>
                </a:solidFill>
                <a:latin typeface="Georgia"/>
              </a:rPr>
              <a:t>Verificação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6523AA0-022C-154C-8804-9E925EF75963}"/>
              </a:ext>
            </a:extLst>
          </p:cNvPr>
          <p:cNvSpPr txBox="1"/>
          <p:nvPr/>
        </p:nvSpPr>
        <p:spPr>
          <a:xfrm>
            <a:off x="4318000" y="4318000"/>
            <a:ext cx="355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400" dirty="0">
                <a:solidFill>
                  <a:srgbClr val="1A2332"/>
                </a:solidFill>
                <a:latin typeface="Calibri"/>
                <a:cs typeface="Calibri"/>
              </a:rPr>
              <a:t>Provas auditáveis via TEE + ZKP + contabilização de privacidade diferencial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A8477AF-7D99-C44C-B184-6DE4F3C85E0B}"/>
              </a:ext>
            </a:extLst>
          </p:cNvPr>
          <p:cNvSpPr/>
          <p:nvPr/>
        </p:nvSpPr>
        <p:spPr>
          <a:xfrm>
            <a:off x="9626600" y="3149600"/>
            <a:ext cx="660400" cy="6604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PT" sz="2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2B5A08D-2BC6-294D-8D85-7A577EFF5507}"/>
              </a:ext>
            </a:extLst>
          </p:cNvPr>
          <p:cNvSpPr txBox="1"/>
          <p:nvPr/>
        </p:nvSpPr>
        <p:spPr>
          <a:xfrm>
            <a:off x="8178800" y="3911600"/>
            <a:ext cx="355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b="1">
                <a:solidFill>
                  <a:srgbClr val="196B24"/>
                </a:solidFill>
                <a:latin typeface="Georgia"/>
              </a:rPr>
              <a:t>Regulação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934ED8C-06A1-2348-B7E1-FE5CFEE7AEA2}"/>
              </a:ext>
            </a:extLst>
          </p:cNvPr>
          <p:cNvSpPr txBox="1"/>
          <p:nvPr/>
        </p:nvSpPr>
        <p:spPr>
          <a:xfrm>
            <a:off x="8178800" y="4318000"/>
            <a:ext cx="355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400" dirty="0">
                <a:solidFill>
                  <a:srgbClr val="1A2332"/>
                </a:solidFill>
                <a:latin typeface="Calibri"/>
                <a:cs typeface="Calibri"/>
              </a:rPr>
              <a:t>Alinhamento entre mecanismos técnicos e requisitos legais (RGPD </a:t>
            </a:r>
            <a:r>
              <a:rPr lang="pt-PT" sz="1400" dirty="0" err="1">
                <a:solidFill>
                  <a:srgbClr val="1A2332"/>
                </a:solidFill>
                <a:latin typeface="Calibri"/>
                <a:cs typeface="Calibri"/>
              </a:rPr>
              <a:t>Art</a:t>
            </a:r>
            <a:r>
              <a:rPr lang="pt-PT" sz="1400" dirty="0">
                <a:solidFill>
                  <a:srgbClr val="1A2332"/>
                </a:solidFill>
                <a:latin typeface="Calibri"/>
                <a:cs typeface="Calibri"/>
              </a:rPr>
              <a:t>. 17)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4774E2B-6863-4649-94A2-F0F2BB120D50}"/>
              </a:ext>
            </a:extLst>
          </p:cNvPr>
          <p:cNvSpPr/>
          <p:nvPr/>
        </p:nvSpPr>
        <p:spPr>
          <a:xfrm>
            <a:off x="4064000" y="5334000"/>
            <a:ext cx="4064000" cy="25400"/>
          </a:xfrm>
          <a:prstGeom prst="rect">
            <a:avLst/>
          </a:prstGeom>
          <a:solidFill>
            <a:srgbClr val="D0C9C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57545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0112FC-735B-DE07-E10D-52F9E6204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118" y="2766218"/>
            <a:ext cx="2671763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PT" b="1" dirty="0"/>
              <a:t>Obrigado</a:t>
            </a:r>
            <a:br>
              <a:rPr lang="pt-PT" b="1" dirty="0"/>
            </a:br>
            <a:br>
              <a:rPr lang="pt-PT" b="1" dirty="0"/>
            </a:br>
            <a:r>
              <a:rPr lang="pt-PT" sz="3600" dirty="0"/>
              <a:t>Questões?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8888709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[1779718173466]">
  <a:themeElements>
    <a:clrScheme name="Office">
      <a:dk1>
        <a:srgbClr val="1A2332"/>
      </a:dk1>
      <a:lt1>
        <a:srgbClr val="FBFAF7"/>
      </a:lt1>
      <a:dk2>
        <a:srgbClr val="2E3B4E"/>
      </a:dk2>
      <a:lt2>
        <a:srgbClr val="E8E4DC"/>
      </a:lt2>
      <a:accent1>
        <a:srgbClr val="156082"/>
      </a:accent1>
      <a:accent2>
        <a:srgbClr val="E97132"/>
      </a:accent2>
      <a:accent3>
        <a:srgbClr val="196B24"/>
      </a:accent3>
      <a:accent4>
        <a:srgbClr val="7A4E8C"/>
      </a:accent4>
      <a:accent5>
        <a:srgbClr val="B8860B"/>
      </a:accent5>
      <a:accent6>
        <a:srgbClr val="8B4513"/>
      </a:accent6>
      <a:hlink>
        <a:srgbClr val="467886"/>
      </a:hlink>
      <a:folHlink>
        <a:srgbClr val="96607D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1CE2C77-F620-F547-99C6-2EEF7B5FAC64}">
  <we:reference id="11d7cf85-ae5a-43b8-bc58-1e1a151cce24" version="1.0.0.1" store="EXCatalog" storeType="EXCatalog"/>
  <we:alternateReferences>
    <we:reference id="WA200010725" version="1.0.0.1" store="pt-PT" storeType="OMEX"/>
  </we:alternateReferences>
  <we:properties>
    <we:property name="claude.fileId" value="&quot;c1f9e5a0-4d89-4212-b866-1f5e0a1d0afa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F2E3F5B-923C-1B49-8DAC-8DEAA4592786}">
  <we:reference id="cba9fc06-6fc9-492e-9525-923870a3b909" version="2.0.0.0" store="EXCatalog" storeType="EXCatalog"/>
  <we:alternateReferences>
    <we:reference id="WA200010215" version="2.0.0.0" store="pt-PT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1224</Words>
  <Application>Microsoft Macintosh PowerPoint</Application>
  <PresentationFormat>Ecrã Panorâmico</PresentationFormat>
  <Paragraphs>182</Paragraphs>
  <Slides>11</Slides>
  <Notes>7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Georgia</vt:lpstr>
      <vt:lpstr>Tema do Office [1779718173466]</vt:lpstr>
      <vt:lpstr>Apresentação do PowerPoint</vt:lpstr>
      <vt:lpstr>Problema e Motivação</vt:lpstr>
      <vt:lpstr>Machine Unlearning: Exact vs. Approximate</vt:lpstr>
      <vt:lpstr>Arquitetura IoT em Três Camadas</vt:lpstr>
      <vt:lpstr>Espaços Partilhados: Consentimento e Dados Sobrepostos</vt:lpstr>
      <vt:lpstr>Soluções existentes</vt:lpstr>
      <vt:lpstr>Problema existente</vt:lpstr>
      <vt:lpstr>Soluções existentes</vt:lpstr>
      <vt:lpstr>Direções de Investigação</vt:lpstr>
      <vt:lpstr>Conclusão</vt:lpstr>
      <vt:lpstr>Obrigado  Questões?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Duarte Pereira Da Silva</dc:creator>
  <cp:lastModifiedBy>Rafael Duarte Pereira Da Silva</cp:lastModifiedBy>
  <cp:revision>6</cp:revision>
  <dcterms:created xsi:type="dcterms:W3CDTF">2026-05-25T14:03:45Z</dcterms:created>
  <dcterms:modified xsi:type="dcterms:W3CDTF">2026-05-25T21:13:44Z</dcterms:modified>
</cp:coreProperties>
</file>