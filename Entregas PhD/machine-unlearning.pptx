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9" r:id="rId3"/>
    <p:sldId id="261" r:id="rId4"/>
    <p:sldId id="263" r:id="rId5"/>
    <p:sldId id="265" r:id="rId6"/>
    <p:sldId id="267" r:id="rId7"/>
    <p:sldId id="269" r:id="rId8"/>
    <p:sldId id="273" r:id="rId9"/>
    <p:sldId id="271" r:id="rId10"/>
    <p:sldId id="274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40"/>
    <p:restoredTop sz="94676"/>
  </p:normalViewPr>
  <p:slideViewPr>
    <p:cSldViewPr snapToGrid="0">
      <p:cViewPr varScale="1">
        <p:scale>
          <a:sx n="90" d="100"/>
          <a:sy n="90" d="100"/>
        </p:scale>
        <p:origin x="216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C4004-5EB7-8F82-9FA1-51870C921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D1FA2F-264C-8199-2BAF-7A63B63A0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2B5CFB3-FBBC-E8DC-F7D3-2E7C095A7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EEDBD6-9314-0D24-970A-39415BE05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140160F-A29B-3B2D-2ED8-9F7BE856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994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2AC52-350E-8A5B-B5E1-05068891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4CB173A-A059-59EA-C636-4285A5A3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31B52EE-E82F-79CB-773F-2E41B043B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0C42516-F37E-3D30-1C66-6085A51D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06C1483-E9C9-8A38-E980-EB8F22F0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743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E2FFE9-5306-D8FF-1F46-F0CF9421B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7AFABB86-5B46-1EE3-7FAA-8B262A550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20896B6-47CA-43EA-B7A4-1FD11EAF8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2E3E3AB-9027-54B7-3FAD-2E501AD72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B841980-35F0-0860-3E92-A60FEEAF8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8483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1B61E-F47C-F5C1-47E9-2DD18472E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A90CD87-D2FF-2F94-F644-42D4B4EDC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582ACD0-B8AF-1976-DB14-5E374ABA8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27E7870-2C2C-4404-7E84-ACFB00415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A8ACC74-DC67-CDE2-9215-7B52D8AEE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0C38FEC-B9D4-512C-DAE0-B41AE8329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7588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E101-2890-514E-117F-6EA8C46F1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A64D669-EE30-82EE-3723-BDC610BC4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3F916BD-D456-3A41-1B90-7A9EBBA66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A056534-3125-9535-A885-3A0E916449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D11076E-52F9-0140-74BD-985D468B9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430E094-5E62-3657-1386-A1160960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23DEC4A8-ACC9-CB99-1D9C-94E988A3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71851E2-07DD-93D6-475C-38205D8B8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9223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EC81BE-C16E-743B-568E-0194FA3F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58017996-EE0D-C4BF-4D4D-5DBBCEC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492B1E0-9840-D60C-1FC3-B1F19A514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78CD853-1BC6-6A09-4B2C-48887E72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5157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04904ADD-AD99-C386-E701-9CF843740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8C4085EA-49E0-48A1-2CCF-7C885EB3B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36ECF43-2588-4C58-23EF-1602B8FCD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590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1D283-76DE-99E1-46C5-382F199FC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90F956B-DCA5-7641-1B35-90B88094B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FA1CCA8-A3A0-283D-B922-26DB65EE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170836A-E026-F447-C622-338EED1E1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F553D68-0E53-B3F7-731B-500C14CBF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CE3C1EA-22A5-9037-BC74-C0F38394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0517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E17B70-4C2C-7583-7A2B-AB93C90A5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ED7FAC65-068B-1736-ABA7-9696E9CED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7250701-83B3-B341-E7D5-33B010EAB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BE4B126-F02B-0191-8713-6A8804944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D6F09F4-FF2D-F00A-1021-F7FE0D10B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A8AC654-9949-DE74-3373-018F01AC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709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151B20-90A7-5000-DA57-5B225D812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D6D453C-2007-19CE-AF7B-712989536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B630E08-70F5-F8A3-25B5-CD95CE05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FE31C2B-F9D9-CDA5-34C0-DA2946F8F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58FDEB2-DC07-F3A9-D954-838AF14A7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755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5438DC4-B376-0867-B1E2-8E9C7E6780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649BBCE-A9B5-4FD6-3D64-1157831BE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F2CA0CE-FF86-D700-CAF1-5A8663644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DF77788-83DE-AC87-8379-58B3FAD8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07D0ED4-E9C7-2334-9E13-332441BCA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68625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EAF48B5A-1D12-03CC-535C-D3FE51D8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0FCE4A8-883B-A88E-2196-F3AE8158F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00D5CBC-A19A-8C5F-4D64-C6E5707C50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6E56A5E-C608-618F-01EE-4E4D7DD48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CD875FA-9F7C-B703-9174-9830C211E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  <p:sp>
        <p:nvSpPr>
          <p:cNvPr id="900" name="AccentBar"/>
          <p:cNvSpPr/>
          <p:nvPr userDrawn="1"/>
        </p:nvSpPr>
        <p:spPr>
          <a:xfrm>
            <a:off x="457200" y="6477000"/>
            <a:ext cx="1127760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02724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233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ACE8F31-782D-6D41-890F-B864B112E5C2}"/>
              </a:ext>
            </a:extLst>
          </p:cNvPr>
          <p:cNvSpPr/>
          <p:nvPr/>
        </p:nvSpPr>
        <p:spPr>
          <a:xfrm>
            <a:off x="914400" y="1905000"/>
            <a:ext cx="50800" cy="304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6967D3-5CC0-A34C-8253-65A7B45962C4}"/>
              </a:ext>
            </a:extLst>
          </p:cNvPr>
          <p:cNvSpPr txBox="1"/>
          <p:nvPr/>
        </p:nvSpPr>
        <p:spPr>
          <a:xfrm>
            <a:off x="1219200" y="1930400"/>
            <a:ext cx="8890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200" b="1" dirty="0">
                <a:solidFill>
                  <a:srgbClr val="156082"/>
                </a:solidFill>
                <a:latin typeface="Calibri"/>
                <a:cs typeface="Calibri"/>
              </a:rPr>
              <a:t>DIAESI-PDCSI ·  2026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6B162B3-2FA2-F241-BF9E-3A43D1486104}"/>
              </a:ext>
            </a:extLst>
          </p:cNvPr>
          <p:cNvSpPr txBox="1"/>
          <p:nvPr/>
        </p:nvSpPr>
        <p:spPr>
          <a:xfrm>
            <a:off x="1219200" y="2387600"/>
            <a:ext cx="9906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Machine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Unlearning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para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IoT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em Edifícios Inteligentes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84519AA-1181-C74A-B364-8A00130F1660}"/>
              </a:ext>
            </a:extLst>
          </p:cNvPr>
          <p:cNvSpPr txBox="1"/>
          <p:nvPr/>
        </p:nvSpPr>
        <p:spPr>
          <a:xfrm>
            <a:off x="1219200" y="3613329"/>
            <a:ext cx="990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i="1" dirty="0">
                <a:solidFill>
                  <a:srgbClr val="2E3B4E"/>
                </a:solidFill>
                <a:latin typeface="Calibri"/>
                <a:cs typeface="Calibri"/>
              </a:rPr>
              <a:t>Restrições operacionais, lacunas dos métodos atuais e direções de investigação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ABCE9B-8A87-DD49-BFA4-4A5DB4CFFA5B}"/>
              </a:ext>
            </a:extLst>
          </p:cNvPr>
          <p:cNvSpPr txBox="1"/>
          <p:nvPr/>
        </p:nvSpPr>
        <p:spPr>
          <a:xfrm>
            <a:off x="1219200" y="54864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A2332"/>
                </a:solidFill>
                <a:latin typeface="Calibri"/>
                <a:cs typeface="Calibri"/>
              </a:rPr>
              <a:t>Rafael Silva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6ED185-A2F5-1B4A-95E1-B7D0C9058EE8}"/>
              </a:ext>
            </a:extLst>
          </p:cNvPr>
          <p:cNvSpPr txBox="1"/>
          <p:nvPr/>
        </p:nvSpPr>
        <p:spPr>
          <a:xfrm>
            <a:off x="1219200" y="5816600"/>
            <a:ext cx="508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2E3B4E"/>
                </a:solidFill>
                <a:latin typeface="Calibri"/>
                <a:cs typeface="Calibri"/>
              </a:rPr>
              <a:t>1190979</a:t>
            </a:r>
          </a:p>
        </p:txBody>
      </p:sp>
    </p:spTree>
    <p:extLst>
      <p:ext uri="{BB962C8B-B14F-4D97-AF65-F5344CB8AC3E}">
        <p14:creationId xmlns:p14="http://schemas.microsoft.com/office/powerpoint/2010/main" val="3582099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8E3E0-CA29-6D28-A872-8555C5F7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 Motivação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A677B35-D073-284C-8B83-C7095296C70B}"/>
              </a:ext>
            </a:extLst>
          </p:cNvPr>
          <p:cNvSpPr/>
          <p:nvPr/>
        </p:nvSpPr>
        <p:spPr>
          <a:xfrm>
            <a:off x="457200" y="2032000"/>
            <a:ext cx="457200" cy="381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F1F2C28-A4D7-464C-A634-5904EB4E9B6B}"/>
              </a:ext>
            </a:extLst>
          </p:cNvPr>
          <p:cNvSpPr txBox="1"/>
          <p:nvPr/>
        </p:nvSpPr>
        <p:spPr>
          <a:xfrm>
            <a:off x="4572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156082"/>
                </a:solidFill>
                <a:latin typeface="Calibri"/>
                <a:cs typeface="Calibri"/>
              </a:rPr>
              <a:t>DADOS GRANULARES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E8488C9-D99B-464D-8F9C-6B406E6A6D87}"/>
              </a:ext>
            </a:extLst>
          </p:cNvPr>
          <p:cNvSpPr txBox="1"/>
          <p:nvPr/>
        </p:nvSpPr>
        <p:spPr>
          <a:xfrm>
            <a:off x="457200" y="2590800"/>
            <a:ext cx="3556000" cy="2616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500">
                <a:solidFill>
                  <a:srgbClr val="1A2332"/>
                </a:solidFill>
                <a:latin typeface="Calibri"/>
                <a:cs typeface="Calibri"/>
              </a:rPr>
              <a:t>Dispositivos IoT recolhem padrões de ocupação, consumo energético, sinais biométricos e movimento, criando um histórico longitudinal detalhado dos ocupantes.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0EFA60F-D90D-2640-9544-D96349DDC3B0}"/>
              </a:ext>
            </a:extLst>
          </p:cNvPr>
          <p:cNvSpPr/>
          <p:nvPr/>
        </p:nvSpPr>
        <p:spPr>
          <a:xfrm>
            <a:off x="4318000" y="20320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EEB0C5-BB98-8642-B072-B21C200899EA}"/>
              </a:ext>
            </a:extLst>
          </p:cNvPr>
          <p:cNvSpPr txBox="1"/>
          <p:nvPr/>
        </p:nvSpPr>
        <p:spPr>
          <a:xfrm>
            <a:off x="43180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E97132"/>
                </a:solidFill>
                <a:latin typeface="Calibri"/>
                <a:cs typeface="Calibri"/>
              </a:rPr>
              <a:t>RISCOS DE PRIVACIDADE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35ECE4-0B54-E944-A4F8-45DD2573EEA9}"/>
              </a:ext>
            </a:extLst>
          </p:cNvPr>
          <p:cNvSpPr txBox="1"/>
          <p:nvPr/>
        </p:nvSpPr>
        <p:spPr>
          <a:xfrm>
            <a:off x="4318000" y="2590800"/>
            <a:ext cx="3556000" cy="2616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500">
                <a:solidFill>
                  <a:srgbClr val="1A2332"/>
                </a:solidFill>
                <a:latin typeface="Calibri"/>
                <a:cs typeface="Calibri"/>
              </a:rPr>
              <a:t>Modelos treinados retêm traços estatísticos exploráveis por ataques de inferência de pertença e inversão de modelo, mesmo após eliminar os dados originais.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A3CBE61-A312-914D-92A4-6E39DC84EAE6}"/>
              </a:ext>
            </a:extLst>
          </p:cNvPr>
          <p:cNvSpPr/>
          <p:nvPr/>
        </p:nvSpPr>
        <p:spPr>
          <a:xfrm>
            <a:off x="8178800" y="2032000"/>
            <a:ext cx="457200" cy="381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466F98B-47CA-2E45-BDE6-2A6D3D23F9CA}"/>
              </a:ext>
            </a:extLst>
          </p:cNvPr>
          <p:cNvSpPr txBox="1"/>
          <p:nvPr/>
        </p:nvSpPr>
        <p:spPr>
          <a:xfrm>
            <a:off x="81788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196B24"/>
                </a:solidFill>
                <a:latin typeface="Calibri"/>
                <a:cs typeface="Calibri"/>
              </a:rPr>
              <a:t>OBRIGAÇÃO LEGAL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44AA3AA-BF30-EF42-9460-65E33DC8DC90}"/>
              </a:ext>
            </a:extLst>
          </p:cNvPr>
          <p:cNvSpPr txBox="1"/>
          <p:nvPr/>
        </p:nvSpPr>
        <p:spPr>
          <a:xfrm>
            <a:off x="8178800" y="2590800"/>
            <a:ext cx="3556000" cy="2616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500">
                <a:solidFill>
                  <a:srgbClr val="1A2332"/>
                </a:solidFill>
                <a:latin typeface="Calibri"/>
                <a:cs typeface="Calibri"/>
              </a:rPr>
              <a:t>RGPD Art. 17 (direito ao esquecimento) exige eliminar não só os dados, mas a sua influência nos modelos derivados — não basta apagar a fonte.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E1A9396-1D6E-DD48-A8C8-60AA41A430B1}"/>
              </a:ext>
            </a:extLst>
          </p:cNvPr>
          <p:cNvSpPr/>
          <p:nvPr/>
        </p:nvSpPr>
        <p:spPr>
          <a:xfrm>
            <a:off x="457200" y="5588000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68BB29-1861-844D-8DA7-B46312EDBE1D}"/>
              </a:ext>
            </a:extLst>
          </p:cNvPr>
          <p:cNvSpPr txBox="1"/>
          <p:nvPr/>
        </p:nvSpPr>
        <p:spPr>
          <a:xfrm>
            <a:off x="660400" y="57404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2200" b="1">
                <a:solidFill>
                  <a:srgbClr val="156082"/>
                </a:solidFill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C706087-3482-DE4C-944B-DA949279670A}"/>
              </a:ext>
            </a:extLst>
          </p:cNvPr>
          <p:cNvSpPr txBox="1"/>
          <p:nvPr/>
        </p:nvSpPr>
        <p:spPr>
          <a:xfrm>
            <a:off x="1168400" y="56896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400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sz="1400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sz="1400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sz="1400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— mas foi concebido para cenários centralizados e estáticos, não para o contexto distribuído dos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049788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28B755-31A6-2BF2-DD43-BEC12B8E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Machine Unlearning: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Exact</a:t>
            </a:r>
            <a:r>
              <a:rPr lang="pt-PT" sz="3200" b="1" dirty="0">
                <a:solidFill>
                  <a:srgbClr val="1A2332"/>
                </a:solidFill>
                <a:latin typeface="Georgia"/>
              </a:rPr>
              <a:t> vs.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Approximate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396072-EFB9-CA45-9692-0A828F64C452}"/>
              </a:ext>
            </a:extLst>
          </p:cNvPr>
          <p:cNvSpPr/>
          <p:nvPr/>
        </p:nvSpPr>
        <p:spPr>
          <a:xfrm>
            <a:off x="457200" y="2032000"/>
            <a:ext cx="1016000" cy="279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EXACT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6E21666-8F6B-0A46-B264-E8A341B046B3}"/>
              </a:ext>
            </a:extLst>
          </p:cNvPr>
          <p:cNvSpPr txBox="1"/>
          <p:nvPr/>
        </p:nvSpPr>
        <p:spPr>
          <a:xfrm>
            <a:off x="4572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Garantia formal de remoção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1D83EA-169A-D44D-AE4C-EAD3BEB8ADF8}"/>
              </a:ext>
            </a:extLst>
          </p:cNvPr>
          <p:cNvSpPr txBox="1"/>
          <p:nvPr/>
        </p:nvSpPr>
        <p:spPr>
          <a:xfrm>
            <a:off x="457200" y="2946400"/>
            <a:ext cx="5486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parcial. SISA divide o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em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shards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isolados — só o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shard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afetado precisa de reestruturação.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E1CDA24-8C9D-CC4B-A0E1-653E231F8CD8}"/>
              </a:ext>
            </a:extLst>
          </p:cNvPr>
          <p:cNvSpPr txBox="1"/>
          <p:nvPr/>
        </p:nvSpPr>
        <p:spPr>
          <a:xfrm>
            <a:off x="457200" y="4419600"/>
            <a:ext cx="54864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000" b="1">
                <a:solidFill>
                  <a:srgbClr val="15608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2F73D95-F8EE-7E4B-AD0B-5A342420EBBD}"/>
              </a:ext>
            </a:extLst>
          </p:cNvPr>
          <p:cNvSpPr txBox="1"/>
          <p:nvPr/>
        </p:nvSpPr>
        <p:spPr>
          <a:xfrm>
            <a:off x="457200" y="4673600"/>
            <a:ext cx="54864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i="1">
                <a:solidFill>
                  <a:srgbClr val="2E3B4E"/>
                </a:solidFill>
                <a:latin typeface="Calibri"/>
                <a:cs typeface="Calibri"/>
              </a:rPr>
              <a:t>Requer arquitetura específica desde o início; degrada precisão; sobrecarga inviável em gateways edge.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701BEDE-A81F-1640-91ED-4609FBC82E35}"/>
              </a:ext>
            </a:extLst>
          </p:cNvPr>
          <p:cNvSpPr/>
          <p:nvPr/>
        </p:nvSpPr>
        <p:spPr>
          <a:xfrm>
            <a:off x="6248400" y="2032000"/>
            <a:ext cx="1016000" cy="279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APPROXIMATE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2F769AF-3817-2344-8566-F408466AB4A6}"/>
              </a:ext>
            </a:extLst>
          </p:cNvPr>
          <p:cNvSpPr txBox="1"/>
          <p:nvPr/>
        </p:nvSpPr>
        <p:spPr>
          <a:xfrm>
            <a:off x="62484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Redução tolerável de influência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A7A24EB-6497-164B-ADDD-1C8D815755D6}"/>
              </a:ext>
            </a:extLst>
          </p:cNvPr>
          <p:cNvSpPr txBox="1"/>
          <p:nvPr/>
        </p:nvSpPr>
        <p:spPr>
          <a:xfrm>
            <a:off x="6248400" y="2946400"/>
            <a:ext cx="5486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 Inclui métodos baseados em gradiente, funções de influência, destilação e refinamento.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CE48C7-C383-3342-B736-8BBCBDD5B5B8}"/>
              </a:ext>
            </a:extLst>
          </p:cNvPr>
          <p:cNvSpPr txBox="1"/>
          <p:nvPr/>
        </p:nvSpPr>
        <p:spPr>
          <a:xfrm>
            <a:off x="6248400" y="4419600"/>
            <a:ext cx="54864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000" b="1">
                <a:solidFill>
                  <a:srgbClr val="E9713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E0F17D5-7E51-944F-8BB3-90C60269DA03}"/>
              </a:ext>
            </a:extLst>
          </p:cNvPr>
          <p:cNvSpPr txBox="1"/>
          <p:nvPr/>
        </p:nvSpPr>
        <p:spPr>
          <a:xfrm>
            <a:off x="6248400" y="4673600"/>
            <a:ext cx="54864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i="1" dirty="0">
                <a:solidFill>
                  <a:srgbClr val="2E3B4E"/>
                </a:solidFill>
                <a:latin typeface="Calibri"/>
                <a:cs typeface="Calibri"/>
              </a:rPr>
              <a:t>Sem certificado de </a:t>
            </a:r>
            <a:r>
              <a:rPr lang="pt-PT" sz="1300" i="1" dirty="0" err="1">
                <a:solidFill>
                  <a:srgbClr val="2E3B4E"/>
                </a:solidFill>
                <a:latin typeface="Calibri"/>
                <a:cs typeface="Calibri"/>
              </a:rPr>
              <a:t>erasure</a:t>
            </a:r>
            <a:r>
              <a:rPr lang="pt-PT" sz="1300" i="1" dirty="0">
                <a:solidFill>
                  <a:srgbClr val="2E3B4E"/>
                </a:solidFill>
                <a:latin typeface="Calibri"/>
                <a:cs typeface="Calibri"/>
              </a:rPr>
              <a:t>; vulnerável a ataques de reconstrução; difícil de auditar.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74179A9-96B0-A346-9A90-E2F197B0C4A4}"/>
              </a:ext>
            </a:extLst>
          </p:cNvPr>
          <p:cNvSpPr/>
          <p:nvPr/>
        </p:nvSpPr>
        <p:spPr>
          <a:xfrm>
            <a:off x="457200" y="5842000"/>
            <a:ext cx="11277600" cy="5080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705BF2C-7CEF-8B43-ADE1-AA1175D95470}"/>
              </a:ext>
            </a:extLst>
          </p:cNvPr>
          <p:cNvSpPr txBox="1"/>
          <p:nvPr/>
        </p:nvSpPr>
        <p:spPr>
          <a:xfrm>
            <a:off x="660400" y="5892800"/>
            <a:ext cx="108712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300" i="1">
                <a:solidFill>
                  <a:srgbClr val="1A2332"/>
                </a:solidFill>
                <a:latin typeface="Calibri"/>
                <a:cs typeface="Calibri"/>
              </a:rPr>
              <a:t>Trade-off entre garantia, custo computacional e flexibilidade de implementação — crítico em hardware com recursos limitados.</a:t>
            </a:r>
          </a:p>
        </p:txBody>
      </p:sp>
    </p:spTree>
    <p:extLst>
      <p:ext uri="{BB962C8B-B14F-4D97-AF65-F5344CB8AC3E}">
        <p14:creationId xmlns:p14="http://schemas.microsoft.com/office/powerpoint/2010/main" val="3663762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672268-D0E6-77F2-DDC7-9A204E903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latin typeface="Georgia"/>
              </a:rPr>
              <a:t>Arquitetura IoT em Três Camadas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D37B8BD-09B6-2947-AA82-0CDA2D9DEFB6}"/>
              </a:ext>
            </a:extLst>
          </p:cNvPr>
          <p:cNvSpPr/>
          <p:nvPr/>
        </p:nvSpPr>
        <p:spPr>
          <a:xfrm>
            <a:off x="457200" y="1905000"/>
            <a:ext cx="7620000" cy="889000"/>
          </a:xfrm>
          <a:prstGeom prst="rect">
            <a:avLst/>
          </a:prstGeom>
          <a:solidFill>
            <a:srgbClr val="E5EEF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C20CDB1-F0C1-DA4C-8869-F6179F338094}"/>
              </a:ext>
            </a:extLst>
          </p:cNvPr>
          <p:cNvSpPr/>
          <p:nvPr/>
        </p:nvSpPr>
        <p:spPr>
          <a:xfrm>
            <a:off x="457200" y="1905000"/>
            <a:ext cx="76200" cy="889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5432F02-38AA-9C4D-90CD-17D52323FE9A}"/>
              </a:ext>
            </a:extLst>
          </p:cNvPr>
          <p:cNvSpPr txBox="1"/>
          <p:nvPr/>
        </p:nvSpPr>
        <p:spPr>
          <a:xfrm>
            <a:off x="762000" y="20320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56082"/>
                </a:solidFill>
                <a:latin typeface="Calibri"/>
                <a:cs typeface="Calibri"/>
              </a:rPr>
              <a:t>CLOUD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FE63C26-8B35-8244-902F-E851747A9B22}"/>
              </a:ext>
            </a:extLst>
          </p:cNvPr>
          <p:cNvSpPr txBox="1"/>
          <p:nvPr/>
        </p:nvSpPr>
        <p:spPr>
          <a:xfrm>
            <a:off x="762000" y="2311400"/>
            <a:ext cx="711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1A2332"/>
                </a:solidFill>
                <a:latin typeface="Calibri"/>
                <a:cs typeface="Calibri"/>
              </a:rPr>
              <a:t>Treino de modelos globais, armazenamento histórico, dashboards e analítica entre edifícios.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8F1108F-4368-3D4F-A839-C9E9CB861F13}"/>
              </a:ext>
            </a:extLst>
          </p:cNvPr>
          <p:cNvSpPr/>
          <p:nvPr/>
        </p:nvSpPr>
        <p:spPr>
          <a:xfrm>
            <a:off x="457200" y="2946400"/>
            <a:ext cx="7620000" cy="889000"/>
          </a:xfrm>
          <a:prstGeom prst="rect">
            <a:avLst/>
          </a:prstGeom>
          <a:solidFill>
            <a:srgbClr val="FBE8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A8354A7-72FA-1A44-BB50-BD08EB01B18E}"/>
              </a:ext>
            </a:extLst>
          </p:cNvPr>
          <p:cNvSpPr/>
          <p:nvPr/>
        </p:nvSpPr>
        <p:spPr>
          <a:xfrm>
            <a:off x="457200" y="2946400"/>
            <a:ext cx="76200" cy="8890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07E9E0D-D724-754B-9771-734C32928A67}"/>
              </a:ext>
            </a:extLst>
          </p:cNvPr>
          <p:cNvSpPr txBox="1"/>
          <p:nvPr/>
        </p:nvSpPr>
        <p:spPr>
          <a:xfrm>
            <a:off x="762000" y="30734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E97132"/>
                </a:solidFill>
                <a:latin typeface="Calibri"/>
                <a:cs typeface="Calibri"/>
              </a:rPr>
              <a:t>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AC4A517-70A7-8247-9264-6B839C8C4105}"/>
              </a:ext>
            </a:extLst>
          </p:cNvPr>
          <p:cNvSpPr txBox="1"/>
          <p:nvPr/>
        </p:nvSpPr>
        <p:spPr>
          <a:xfrm>
            <a:off x="762000" y="3352800"/>
            <a:ext cx="711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1A2332"/>
                </a:solidFill>
                <a:latin typeface="Calibri"/>
                <a:cs typeface="Calibri"/>
              </a:rPr>
              <a:t>Agregação de tráfego, pré-processamento e execução de modelos leves entre sensores e a nuvem.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DA2CE5E-9D58-6C40-9F80-87132B45549B}"/>
              </a:ext>
            </a:extLst>
          </p:cNvPr>
          <p:cNvSpPr/>
          <p:nvPr/>
        </p:nvSpPr>
        <p:spPr>
          <a:xfrm>
            <a:off x="457200" y="3987800"/>
            <a:ext cx="7620000" cy="889000"/>
          </a:xfrm>
          <a:prstGeom prst="rect">
            <a:avLst/>
          </a:prstGeom>
          <a:solidFill>
            <a:srgbClr val="DDEA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1BB0CD5-A30E-5C48-96B8-100D00E151D4}"/>
              </a:ext>
            </a:extLst>
          </p:cNvPr>
          <p:cNvSpPr/>
          <p:nvPr/>
        </p:nvSpPr>
        <p:spPr>
          <a:xfrm>
            <a:off x="457200" y="3987800"/>
            <a:ext cx="76200" cy="889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DA4E191-21B2-A244-83F2-2B124688FC12}"/>
              </a:ext>
            </a:extLst>
          </p:cNvPr>
          <p:cNvSpPr txBox="1"/>
          <p:nvPr/>
        </p:nvSpPr>
        <p:spPr>
          <a:xfrm>
            <a:off x="762000" y="41148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 dirty="0">
                <a:solidFill>
                  <a:srgbClr val="196B24"/>
                </a:solidFill>
                <a:latin typeface="Calibri"/>
                <a:cs typeface="Calibri"/>
              </a:rPr>
              <a:t>PERCEÇÃO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10A11B5-F430-D34E-BA42-504409D630B7}"/>
              </a:ext>
            </a:extLst>
          </p:cNvPr>
          <p:cNvSpPr txBox="1"/>
          <p:nvPr/>
        </p:nvSpPr>
        <p:spPr>
          <a:xfrm>
            <a:off x="762000" y="4394200"/>
            <a:ext cx="711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1A2332"/>
                </a:solidFill>
                <a:latin typeface="Calibri"/>
                <a:cs typeface="Calibri"/>
              </a:rPr>
              <a:t>Sensores e atuadores no terreno: ocupação, ambiente, contadores inteligentes, wearables.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881326D-A636-5948-ADDB-0B1DE4F995DE}"/>
              </a:ext>
            </a:extLst>
          </p:cNvPr>
          <p:cNvSpPr/>
          <p:nvPr/>
        </p:nvSpPr>
        <p:spPr>
          <a:xfrm>
            <a:off x="8382000" y="1905000"/>
            <a:ext cx="3352800" cy="29718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C7B35EA-E19B-AC4A-8C9D-36712454AE64}"/>
              </a:ext>
            </a:extLst>
          </p:cNvPr>
          <p:cNvSpPr txBox="1"/>
          <p:nvPr/>
        </p:nvSpPr>
        <p:spPr>
          <a:xfrm>
            <a:off x="8585200" y="2082800"/>
            <a:ext cx="2946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IMPLICAÇÃO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A74E775-9FDB-D543-820F-6C33246EFCB7}"/>
              </a:ext>
            </a:extLst>
          </p:cNvPr>
          <p:cNvSpPr txBox="1"/>
          <p:nvPr/>
        </p:nvSpPr>
        <p:spPr>
          <a:xfrm>
            <a:off x="8585200" y="2413000"/>
            <a:ext cx="29464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Um pedido de eliminação tem de propagar-se pelas três camadas. Estados parciais — em que apenas uma camada "esquece" — violam o direito ao apagamento.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7B05918F-3BAF-0845-9101-04DBDD7C985D}"/>
              </a:ext>
            </a:extLst>
          </p:cNvPr>
          <p:cNvSpPr/>
          <p:nvPr/>
        </p:nvSpPr>
        <p:spPr>
          <a:xfrm>
            <a:off x="457200" y="5486400"/>
            <a:ext cx="11277600" cy="711200"/>
          </a:xfrm>
          <a:prstGeom prst="rect">
            <a:avLst/>
          </a:prstGeom>
          <a:solidFill>
            <a:srgbClr val="FBFAF7"/>
          </a:solidFill>
          <a:ln w="9525" cap="flat" cmpd="sng" algn="ctr">
            <a:solidFill>
              <a:srgbClr val="15608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F51C087-7611-DA41-B0D1-FB43B15184B3}"/>
              </a:ext>
            </a:extLst>
          </p:cNvPr>
          <p:cNvSpPr txBox="1"/>
          <p:nvPr/>
        </p:nvSpPr>
        <p:spPr>
          <a:xfrm>
            <a:off x="660400" y="5588000"/>
            <a:ext cx="203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156082"/>
                </a:solidFill>
                <a:latin typeface="Calibri"/>
                <a:cs typeface="Calibri"/>
              </a:rPr>
              <a:t>DADOS SENSÍVEIS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4D5F2574-96BD-694D-86DB-92B3E63926A6}"/>
              </a:ext>
            </a:extLst>
          </p:cNvPr>
          <p:cNvSpPr txBox="1"/>
          <p:nvPr/>
        </p:nvSpPr>
        <p:spPr>
          <a:xfrm>
            <a:off x="660400" y="5842000"/>
            <a:ext cx="1092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Ocupação  ·  Consumo energético  ·  Sinais ambientais  ·  Inferências derivadas (perfis comportamentais)</a:t>
            </a:r>
          </a:p>
        </p:txBody>
      </p:sp>
    </p:spTree>
    <p:extLst>
      <p:ext uri="{BB962C8B-B14F-4D97-AF65-F5344CB8AC3E}">
        <p14:creationId xmlns:p14="http://schemas.microsoft.com/office/powerpoint/2010/main" val="1592711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19C913-8A15-6BF8-D950-8EFF0C83B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Regimes de Treino Incompatíveis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D44ACE3-1567-B340-A530-2D15AA01A71C}"/>
              </a:ext>
            </a:extLst>
          </p:cNvPr>
          <p:cNvSpPr/>
          <p:nvPr/>
        </p:nvSpPr>
        <p:spPr>
          <a:xfrm>
            <a:off x="457200" y="1905000"/>
            <a:ext cx="5486400" cy="3556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>
                <a:solidFill>
                  <a:srgbClr val="FFFFFF"/>
                </a:solidFill>
                <a:latin typeface="Calibri"/>
                <a:cs typeface="Calibri"/>
              </a:rPr>
              <a:t>ONLINE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DDF9406-2E37-5E45-8E73-80FE2328FCED}"/>
              </a:ext>
            </a:extLst>
          </p:cNvPr>
          <p:cNvSpPr txBox="1"/>
          <p:nvPr/>
        </p:nvSpPr>
        <p:spPr>
          <a:xfrm>
            <a:off x="457200" y="2362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Atualização contínua dos pesos a partir de telemetria em tempo real. Cada amostra entrelaça-se com milhões de outras — sem snapshot limpo para reverter.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0BE7C5D-6E5B-7141-90A2-5ED5548F8C5A}"/>
              </a:ext>
            </a:extLst>
          </p:cNvPr>
          <p:cNvSpPr/>
          <p:nvPr/>
        </p:nvSpPr>
        <p:spPr>
          <a:xfrm>
            <a:off x="6248400" y="1905000"/>
            <a:ext cx="5486400" cy="3556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>
                <a:solidFill>
                  <a:srgbClr val="FFFFFF"/>
                </a:solidFill>
                <a:latin typeface="Calibri"/>
                <a:cs typeface="Calibri"/>
              </a:rPr>
              <a:t>BATCH PERIÓDICO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6430ED9-A62A-1847-8637-14CBA63CF954}"/>
              </a:ext>
            </a:extLst>
          </p:cNvPr>
          <p:cNvSpPr txBox="1"/>
          <p:nvPr/>
        </p:nvSpPr>
        <p:spPr>
          <a:xfrm>
            <a:off x="6248400" y="2362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Retreino noturno ou semanal sobre janelas acumuladas. O custo de retreinar é elevado e os ataques de membership inference operam entre versões.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34335D8-7859-C94F-BA6B-639F99855AD3}"/>
              </a:ext>
            </a:extLst>
          </p:cNvPr>
          <p:cNvSpPr/>
          <p:nvPr/>
        </p:nvSpPr>
        <p:spPr>
          <a:xfrm>
            <a:off x="457200" y="3683000"/>
            <a:ext cx="5486400" cy="3556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3F1AB34-4019-0248-AD4F-7CFF7B18C6F6}"/>
              </a:ext>
            </a:extLst>
          </p:cNvPr>
          <p:cNvSpPr txBox="1"/>
          <p:nvPr/>
        </p:nvSpPr>
        <p:spPr>
          <a:xfrm>
            <a:off x="457200" y="4140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Dados ficam nos dispositivos; só gradientes vão ao agregador. Remove o dataset central que métodos como SISA assumem; reverter uma contribuição é estatístico, não certificado.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42B6564-0D31-5047-8384-A6ED271EE259}"/>
              </a:ext>
            </a:extLst>
          </p:cNvPr>
          <p:cNvSpPr/>
          <p:nvPr/>
        </p:nvSpPr>
        <p:spPr>
          <a:xfrm>
            <a:off x="6248400" y="3683000"/>
            <a:ext cx="5486400" cy="355600"/>
          </a:xfrm>
          <a:prstGeom prst="rect">
            <a:avLst/>
          </a:prstGeom>
          <a:solidFill>
            <a:srgbClr val="7A3B6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>
                <a:solidFill>
                  <a:srgbClr val="FFFFFF"/>
                </a:solidFill>
                <a:latin typeface="Calibri"/>
                <a:cs typeface="Calibri"/>
              </a:rPr>
              <a:t>CONTÍNUO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1696A7E-0D31-364F-B94D-9D92B9AAE25F}"/>
              </a:ext>
            </a:extLst>
          </p:cNvPr>
          <p:cNvSpPr txBox="1"/>
          <p:nvPr/>
        </p:nvSpPr>
        <p:spPr>
          <a:xfrm>
            <a:off x="6248400" y="4140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O modelo expande-se à medida que surgem novos ocupantes, sensores ou espaços. Não existe um estado inicial limpo a que regressar.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9051105-4E07-FB4B-A689-FD4DC5DAEC62}"/>
              </a:ext>
            </a:extLst>
          </p:cNvPr>
          <p:cNvSpPr/>
          <p:nvPr/>
        </p:nvSpPr>
        <p:spPr>
          <a:xfrm>
            <a:off x="457200" y="5588000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775909-2BC1-2948-9499-1FD2A5E8BFAB}"/>
              </a:ext>
            </a:extLst>
          </p:cNvPr>
          <p:cNvSpPr txBox="1"/>
          <p:nvPr/>
        </p:nvSpPr>
        <p:spPr>
          <a:xfrm>
            <a:off x="660400" y="5715000"/>
            <a:ext cx="4064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2200" b="1">
                <a:solidFill>
                  <a:srgbClr val="E97132"/>
                </a:solidFill>
              </a:rPr>
              <a:t>⚠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47909AB-7B0C-684C-8E15-B0DDEB4AE389}"/>
              </a:ext>
            </a:extLst>
          </p:cNvPr>
          <p:cNvSpPr txBox="1"/>
          <p:nvPr/>
        </p:nvSpPr>
        <p:spPr>
          <a:xfrm>
            <a:off x="1168400" y="56896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O pressuposto fundamental — uma baseline limpa para comparar — falha em todos os regimes dominantes nos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1907332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CD7D-EDB8-ECEE-76A5-606BBAB4F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Estado da Arte por Camada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8E3F19-FBC5-9E4C-B1E6-3ED1C4534B79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CLOUD-SIDE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D48959-1728-7347-993F-C61D0B2EDB02}"/>
              </a:ext>
            </a:extLst>
          </p:cNvPr>
          <p:cNvSpPr txBox="1"/>
          <p:nvPr/>
        </p:nvSpPr>
        <p:spPr>
          <a:xfrm>
            <a:off x="457200" y="25146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184BD4-F3E7-2B48-8C4A-BFD65A8966C5}"/>
              </a:ext>
            </a:extLst>
          </p:cNvPr>
          <p:cNvSpPr txBox="1"/>
          <p:nvPr/>
        </p:nvSpPr>
        <p:spPr>
          <a:xfrm>
            <a:off x="457200" y="2794000"/>
            <a:ext cx="355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SISA, correções por gradiente, destilação de conhecimento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D3E30D0-2599-A942-A217-9D39744850E2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88EDD-D1BA-FA40-A079-2EC42A19EC6C}"/>
              </a:ext>
            </a:extLst>
          </p:cNvPr>
          <p:cNvSpPr txBox="1"/>
          <p:nvPr/>
        </p:nvSpPr>
        <p:spPr>
          <a:xfrm>
            <a:off x="457200" y="40640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FBD369-B115-1C43-A393-D67DBBBEC643}"/>
              </a:ext>
            </a:extLst>
          </p:cNvPr>
          <p:cNvSpPr txBox="1"/>
          <p:nvPr/>
        </p:nvSpPr>
        <p:spPr>
          <a:xfrm>
            <a:off x="457200" y="4343400"/>
            <a:ext cx="355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Ignora limites do edge; assume dataset centralizado raramente disponível em deployments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8AB6FAD-9449-CC4B-9ED6-306D44CFDD80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EDGE-SIDE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9CA3D0A-09EB-EB43-BF41-65E97832289D}"/>
              </a:ext>
            </a:extLst>
          </p:cNvPr>
          <p:cNvSpPr txBox="1"/>
          <p:nvPr/>
        </p:nvSpPr>
        <p:spPr>
          <a:xfrm>
            <a:off x="4318000" y="25146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F40FDB3-DBD9-F649-A2F4-BCF6D6C350AB}"/>
              </a:ext>
            </a:extLst>
          </p:cNvPr>
          <p:cNvSpPr txBox="1"/>
          <p:nvPr/>
        </p:nvSpPr>
        <p:spPr>
          <a:xfrm>
            <a:off x="4318000" y="2794000"/>
            <a:ext cx="355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Ascensão de gradiente, poda neuronal, fine-tuning local com replay buffer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71E99C5-B9BF-F740-A41C-3509C6C0B5ED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D6DC01-D840-5D46-B87D-73F83753E4DB}"/>
              </a:ext>
            </a:extLst>
          </p:cNvPr>
          <p:cNvSpPr txBox="1"/>
          <p:nvPr/>
        </p:nvSpPr>
        <p:spPr>
          <a:xfrm>
            <a:off x="4318000" y="40640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E351DA-16B2-F94C-B35E-85B3772D5473}"/>
              </a:ext>
            </a:extLst>
          </p:cNvPr>
          <p:cNvSpPr txBox="1"/>
          <p:nvPr/>
        </p:nvSpPr>
        <p:spPr>
          <a:xfrm>
            <a:off x="4318000" y="4343400"/>
            <a:ext cx="355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Opera de forma isolada; sem coordenação entre camadas; não respeita fronteiras multi-tenant.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60CDFC9-C3CB-D94B-B2B6-115E7880885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33E0559-1761-E243-B0DE-AE9A5C08EB53}"/>
              </a:ext>
            </a:extLst>
          </p:cNvPr>
          <p:cNvSpPr txBox="1"/>
          <p:nvPr/>
        </p:nvSpPr>
        <p:spPr>
          <a:xfrm>
            <a:off x="8178800" y="25146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D3DD648-369B-AC40-920C-BA7E760DBFCF}"/>
              </a:ext>
            </a:extLst>
          </p:cNvPr>
          <p:cNvSpPr txBox="1"/>
          <p:nvPr/>
        </p:nvSpPr>
        <p:spPr>
          <a:xfrm>
            <a:off x="8178800" y="2794000"/>
            <a:ext cx="355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FedEraser, gradient-rollback, variantes SISA federadas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43101C0-B100-5841-BBBF-63C6420ED9F5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0A9343A-0013-8448-9072-90A901859562}"/>
              </a:ext>
            </a:extLst>
          </p:cNvPr>
          <p:cNvSpPr txBox="1"/>
          <p:nvPr/>
        </p:nvSpPr>
        <p:spPr>
          <a:xfrm>
            <a:off x="8178800" y="40640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16EB79D-66EF-914C-BAD3-2CC63F2054F3}"/>
              </a:ext>
            </a:extLst>
          </p:cNvPr>
          <p:cNvSpPr txBox="1"/>
          <p:nvPr/>
        </p:nvSpPr>
        <p:spPr>
          <a:xfrm>
            <a:off x="8178800" y="4343400"/>
            <a:ext cx="355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 clientes offline mantêm pesos obsoletos.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43B1581-E290-BE46-90DD-59D34F703B42}"/>
              </a:ext>
            </a:extLst>
          </p:cNvPr>
          <p:cNvSpPr/>
          <p:nvPr/>
        </p:nvSpPr>
        <p:spPr>
          <a:xfrm>
            <a:off x="457200" y="5816600"/>
            <a:ext cx="11277600" cy="5080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8B8366B-75F9-AC4C-A142-72AC9CB33423}"/>
              </a:ext>
            </a:extLst>
          </p:cNvPr>
          <p:cNvSpPr txBox="1"/>
          <p:nvPr/>
        </p:nvSpPr>
        <p:spPr>
          <a:xfrm>
            <a:off x="711200" y="5867400"/>
            <a:ext cx="107696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300" i="1">
                <a:solidFill>
                  <a:srgbClr val="1A2332"/>
                </a:solidFill>
                <a:latin typeface="Calibri"/>
                <a:cs typeface="Calibri"/>
              </a:rPr>
              <a:t>Sem benchmark partilhado: cada estudo usa as suas próprias métricas, datasets e modelos de ameaça — impossível comparar soluções parciais.</a:t>
            </a:r>
          </a:p>
        </p:txBody>
      </p:sp>
    </p:spTree>
    <p:extLst>
      <p:ext uri="{BB962C8B-B14F-4D97-AF65-F5344CB8AC3E}">
        <p14:creationId xmlns:p14="http://schemas.microsoft.com/office/powerpoint/2010/main" val="2479857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11A50-9B6A-8B3B-CFC3-4B8D702C1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Lacuna Central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3F63C08-D268-7F42-93DA-9815B2560F61}"/>
              </a:ext>
            </a:extLst>
          </p:cNvPr>
          <p:cNvSpPr txBox="1"/>
          <p:nvPr/>
        </p:nvSpPr>
        <p:spPr>
          <a:xfrm>
            <a:off x="711200" y="1981200"/>
            <a:ext cx="10769600" cy="7112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dirty="0"/>
              <a:t>Nenhum método atual satisfaz o envelope completo de restrições</a:t>
            </a:r>
          </a:p>
        </p:txBody>
      </p:sp>
      <p:sp>
        <p:nvSpPr>
          <p:cNvPr id="5" name="Retângulo Arredondado 4">
            <a:extLst>
              <a:ext uri="{FF2B5EF4-FFF2-40B4-BE49-F238E27FC236}">
                <a16:creationId xmlns:a16="http://schemas.microsoft.com/office/drawing/2014/main" id="{813B3A02-336F-E04A-A3F6-FA32BCFFA336}"/>
              </a:ext>
            </a:extLst>
          </p:cNvPr>
          <p:cNvSpPr/>
          <p:nvPr/>
        </p:nvSpPr>
        <p:spPr>
          <a:xfrm>
            <a:off x="457200" y="3098800"/>
            <a:ext cx="3556000" cy="2159000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85AEF21-182B-744C-8AA0-4B2137A9F7B7}"/>
              </a:ext>
            </a:extLst>
          </p:cNvPr>
          <p:cNvSpPr/>
          <p:nvPr/>
        </p:nvSpPr>
        <p:spPr>
          <a:xfrm>
            <a:off x="457200" y="3098800"/>
            <a:ext cx="3556000" cy="508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4ED811E-44F9-BB4B-BEC5-3F8A63DE9E54}"/>
              </a:ext>
            </a:extLst>
          </p:cNvPr>
          <p:cNvSpPr txBox="1"/>
          <p:nvPr/>
        </p:nvSpPr>
        <p:spPr>
          <a:xfrm>
            <a:off x="609600" y="32766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156082"/>
                </a:solidFill>
                <a:latin typeface="Calibri"/>
                <a:cs typeface="Calibri"/>
              </a:rPr>
              <a:t>CLOUD-SIDE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DB8897C-17F3-1C4D-8A08-F81EE2D24CD6}"/>
              </a:ext>
            </a:extLst>
          </p:cNvPr>
          <p:cNvSpPr txBox="1"/>
          <p:nvPr/>
        </p:nvSpPr>
        <p:spPr>
          <a:xfrm>
            <a:off x="609600" y="3632200"/>
            <a:ext cx="32512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2E3B4E"/>
                </a:solidFill>
                <a:latin typeface="Calibri"/>
                <a:cs typeface="Calibri"/>
              </a:rPr>
              <a:t>Aborda: SISA, correções de gradiente, destilação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DFB537D-B5CD-FC46-A115-09FC7C22B619}"/>
              </a:ext>
            </a:extLst>
          </p:cNvPr>
          <p:cNvSpPr txBox="1"/>
          <p:nvPr/>
        </p:nvSpPr>
        <p:spPr>
          <a:xfrm>
            <a:off x="609600" y="4368800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8B1A1A"/>
                </a:solidFill>
                <a:latin typeface="Calibri"/>
                <a:cs typeface="Calibri"/>
              </a:rPr>
              <a:t>Ignora: Limites de recursos edge, federação, replicação multi-camada</a:t>
            </a:r>
          </a:p>
        </p:txBody>
      </p:sp>
      <p:sp>
        <p:nvSpPr>
          <p:cNvPr id="10" name="Retângulo Arredondado 9">
            <a:extLst>
              <a:ext uri="{FF2B5EF4-FFF2-40B4-BE49-F238E27FC236}">
                <a16:creationId xmlns:a16="http://schemas.microsoft.com/office/drawing/2014/main" id="{D35E0D7F-D128-F042-BDB4-AF746B64CA1E}"/>
              </a:ext>
            </a:extLst>
          </p:cNvPr>
          <p:cNvSpPr/>
          <p:nvPr/>
        </p:nvSpPr>
        <p:spPr>
          <a:xfrm>
            <a:off x="4318000" y="3098800"/>
            <a:ext cx="3556000" cy="2159000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1CC8072-9731-7A40-B478-17497E9FD07E}"/>
              </a:ext>
            </a:extLst>
          </p:cNvPr>
          <p:cNvSpPr/>
          <p:nvPr/>
        </p:nvSpPr>
        <p:spPr>
          <a:xfrm>
            <a:off x="4318000" y="3098800"/>
            <a:ext cx="3556000" cy="508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6DBE496-3740-FB48-8B07-B288BA369590}"/>
              </a:ext>
            </a:extLst>
          </p:cNvPr>
          <p:cNvSpPr txBox="1"/>
          <p:nvPr/>
        </p:nvSpPr>
        <p:spPr>
          <a:xfrm>
            <a:off x="4470400" y="32766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E97132"/>
                </a:solidFill>
                <a:latin typeface="Calibri"/>
                <a:cs typeface="Calibri"/>
              </a:rPr>
              <a:t>EDGE-SIDE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8AA3A50-3542-6740-8E62-D628AD9B3E78}"/>
              </a:ext>
            </a:extLst>
          </p:cNvPr>
          <p:cNvSpPr txBox="1"/>
          <p:nvPr/>
        </p:nvSpPr>
        <p:spPr>
          <a:xfrm>
            <a:off x="4470400" y="3632200"/>
            <a:ext cx="32512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Aborda: Gradient ascent, pruning, fine-tuning local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EC05898-F06C-864A-954B-BDDCDABE7CCC}"/>
              </a:ext>
            </a:extLst>
          </p:cNvPr>
          <p:cNvSpPr txBox="1"/>
          <p:nvPr/>
        </p:nvSpPr>
        <p:spPr>
          <a:xfrm>
            <a:off x="4470400" y="4368800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8B1A1A"/>
                </a:solidFill>
                <a:latin typeface="Calibri"/>
                <a:cs typeface="Calibri"/>
              </a:rPr>
              <a:t>Ignora: Multi-tenancy, coordenação entre camadas, modelos partilhados</a:t>
            </a:r>
          </a:p>
        </p:txBody>
      </p:sp>
      <p:sp>
        <p:nvSpPr>
          <p:cNvPr id="15" name="Retângulo Arredondado 14">
            <a:extLst>
              <a:ext uri="{FF2B5EF4-FFF2-40B4-BE49-F238E27FC236}">
                <a16:creationId xmlns:a16="http://schemas.microsoft.com/office/drawing/2014/main" id="{1DA7E1C0-BB64-A040-A6AE-A8371F92BA2A}"/>
              </a:ext>
            </a:extLst>
          </p:cNvPr>
          <p:cNvSpPr/>
          <p:nvPr/>
        </p:nvSpPr>
        <p:spPr>
          <a:xfrm>
            <a:off x="8178800" y="3098800"/>
            <a:ext cx="3556000" cy="2159000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C4D5D16-511B-9C49-995F-64F0E0D37797}"/>
              </a:ext>
            </a:extLst>
          </p:cNvPr>
          <p:cNvSpPr/>
          <p:nvPr/>
        </p:nvSpPr>
        <p:spPr>
          <a:xfrm>
            <a:off x="8178800" y="3098800"/>
            <a:ext cx="3556000" cy="508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A5C0CE0-B3D4-F944-A628-FE8DF1F21C28}"/>
              </a:ext>
            </a:extLst>
          </p:cNvPr>
          <p:cNvSpPr txBox="1"/>
          <p:nvPr/>
        </p:nvSpPr>
        <p:spPr>
          <a:xfrm>
            <a:off x="8331200" y="32766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196B24"/>
                </a:solidFill>
                <a:latin typeface="Calibri"/>
                <a:cs typeface="Calibri"/>
              </a:rPr>
              <a:t>FEDERADO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314D25-9FEF-4449-9E76-45C173BD16E8}"/>
              </a:ext>
            </a:extLst>
          </p:cNvPr>
          <p:cNvSpPr txBox="1"/>
          <p:nvPr/>
        </p:nvSpPr>
        <p:spPr>
          <a:xfrm>
            <a:off x="8331200" y="3632200"/>
            <a:ext cx="32512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Aborda: FedEraser, rollback de gradientes, SISA federado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EB8A28B-530F-4B4C-A326-8660C6E9052C}"/>
              </a:ext>
            </a:extLst>
          </p:cNvPr>
          <p:cNvSpPr txBox="1"/>
          <p:nvPr/>
        </p:nvSpPr>
        <p:spPr>
          <a:xfrm>
            <a:off x="8331200" y="4368800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8B1A1A"/>
                </a:solidFill>
                <a:latin typeface="Calibri"/>
                <a:cs typeface="Calibri"/>
              </a:rPr>
              <a:t>Ignora: Garantia de erasure enfraquecida, clientes offline, sem certificação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5ADD662-1CC8-7045-8564-D8ACBBBE3DA6}"/>
              </a:ext>
            </a:extLst>
          </p:cNvPr>
          <p:cNvSpPr txBox="1"/>
          <p:nvPr/>
        </p:nvSpPr>
        <p:spPr>
          <a:xfrm>
            <a:off x="711200" y="2365921"/>
            <a:ext cx="53848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400">
                <a:solidFill>
                  <a:srgbClr val="1A2332"/>
                </a:solidFill>
                <a:latin typeface="Calibri"/>
                <a:cs typeface="Calibri"/>
              </a:defRPr>
            </a:lvl1pPr>
          </a:lstStyle>
          <a:p>
            <a:r>
              <a:rPr lang="pt-PT" dirty="0"/>
              <a:t>não existe </a:t>
            </a:r>
            <a:r>
              <a:rPr lang="pt-PT" dirty="0" err="1"/>
              <a:t>benchmark</a:t>
            </a:r>
            <a:r>
              <a:rPr lang="pt-PT" dirty="0"/>
              <a:t> standard — cada estudo usa métricas, </a:t>
            </a:r>
            <a:r>
              <a:rPr lang="pt-PT" dirty="0" err="1"/>
              <a:t>datasets</a:t>
            </a:r>
            <a:r>
              <a:rPr lang="pt-PT" dirty="0"/>
              <a:t> e modelos de ameaça distintos.</a:t>
            </a:r>
          </a:p>
        </p:txBody>
      </p:sp>
    </p:spTree>
    <p:extLst>
      <p:ext uri="{BB962C8B-B14F-4D97-AF65-F5344CB8AC3E}">
        <p14:creationId xmlns:p14="http://schemas.microsoft.com/office/powerpoint/2010/main" val="2608838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012911-82BC-6872-3E14-EDE88C23B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Direções de Investigação</a:t>
            </a:r>
          </a:p>
        </p:txBody>
      </p:sp>
      <p:sp>
        <p:nvSpPr>
          <p:cNvPr id="3" name="Retângulo Arredondado 2">
            <a:extLst>
              <a:ext uri="{FF2B5EF4-FFF2-40B4-BE49-F238E27FC236}">
                <a16:creationId xmlns:a16="http://schemas.microsoft.com/office/drawing/2014/main" id="{7D1CE6D4-71C4-9C42-BDFC-0EA3A6E33AED}"/>
              </a:ext>
            </a:extLst>
          </p:cNvPr>
          <p:cNvSpPr/>
          <p:nvPr/>
        </p:nvSpPr>
        <p:spPr>
          <a:xfrm>
            <a:off x="457200" y="1905000"/>
            <a:ext cx="5334000" cy="457200"/>
          </a:xfrm>
          <a:prstGeom prst="round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ESCALABILIDADE NO EDGE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F90BDEB-842A-7447-9EC7-BD08DF512EBF}"/>
              </a:ext>
            </a:extLst>
          </p:cNvPr>
          <p:cNvSpPr/>
          <p:nvPr/>
        </p:nvSpPr>
        <p:spPr>
          <a:xfrm>
            <a:off x="508000" y="2565400"/>
            <a:ext cx="101600" cy="1016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5F96323-26F3-154E-8893-F751AAC2F7E1}"/>
              </a:ext>
            </a:extLst>
          </p:cNvPr>
          <p:cNvSpPr txBox="1"/>
          <p:nvPr/>
        </p:nvSpPr>
        <p:spPr>
          <a:xfrm>
            <a:off x="711200" y="24892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Atualizações esparsas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8C9D78B-35FC-A74A-B525-F1735188B3EC}"/>
              </a:ext>
            </a:extLst>
          </p:cNvPr>
          <p:cNvSpPr txBox="1"/>
          <p:nvPr/>
        </p:nvSpPr>
        <p:spPr>
          <a:xfrm>
            <a:off x="711200" y="27686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Primitivas LoRA-style que restringem unlearning a fração mínima de parâmetros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30FC41A-626A-2344-A1C4-68330BFA68CB}"/>
              </a:ext>
            </a:extLst>
          </p:cNvPr>
          <p:cNvSpPr/>
          <p:nvPr/>
        </p:nvSpPr>
        <p:spPr>
          <a:xfrm>
            <a:off x="508000" y="3403600"/>
            <a:ext cx="101600" cy="1016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69C9886-0420-0C4B-B968-6E06FABAED99}"/>
              </a:ext>
            </a:extLst>
          </p:cNvPr>
          <p:cNvSpPr txBox="1"/>
          <p:nvPr/>
        </p:nvSpPr>
        <p:spPr>
          <a:xfrm>
            <a:off x="711200" y="33274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Kernels TinyML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0BEBC2F-0F7B-6D46-A944-63692DB51C7B}"/>
              </a:ext>
            </a:extLst>
          </p:cNvPr>
          <p:cNvSpPr txBox="1"/>
          <p:nvPr/>
        </p:nvSpPr>
        <p:spPr>
          <a:xfrm>
            <a:off x="711200" y="36068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Compilar operações de erasure para MCU (TF Lite Micro, microTVM)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194CC9C-176A-0F47-ACE1-5066FA21ABD3}"/>
              </a:ext>
            </a:extLst>
          </p:cNvPr>
          <p:cNvSpPr/>
          <p:nvPr/>
        </p:nvSpPr>
        <p:spPr>
          <a:xfrm>
            <a:off x="508000" y="4114800"/>
            <a:ext cx="101600" cy="1016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1BA7C17-2C74-A14C-8178-C5434B60B050}"/>
              </a:ext>
            </a:extLst>
          </p:cNvPr>
          <p:cNvSpPr txBox="1"/>
          <p:nvPr/>
        </p:nvSpPr>
        <p:spPr>
          <a:xfrm>
            <a:off x="711200" y="40386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Aceleração NPU/DSP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A75184F-0B43-C24F-A1BB-A7F042B0AB41}"/>
              </a:ext>
            </a:extLst>
          </p:cNvPr>
          <p:cNvSpPr txBox="1"/>
          <p:nvPr/>
        </p:nvSpPr>
        <p:spPr>
          <a:xfrm>
            <a:off x="711200" y="43180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Explorar unidades de processamento neural disponíveis no edge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D3475D-927E-DD49-8C65-A2D20442782D}"/>
              </a:ext>
            </a:extLst>
          </p:cNvPr>
          <p:cNvSpPr/>
          <p:nvPr/>
        </p:nvSpPr>
        <p:spPr>
          <a:xfrm>
            <a:off x="508000" y="4826000"/>
            <a:ext cx="101600" cy="1016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67C310F-F11F-B545-AD9E-9E44A55CA2BE}"/>
              </a:ext>
            </a:extLst>
          </p:cNvPr>
          <p:cNvSpPr txBox="1"/>
          <p:nvPr/>
        </p:nvSpPr>
        <p:spPr>
          <a:xfrm>
            <a:off x="711200" y="47498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Patch cloud→edge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AF1A083-6C0D-3343-A247-98FC91AF480A}"/>
              </a:ext>
            </a:extLst>
          </p:cNvPr>
          <p:cNvSpPr txBox="1"/>
          <p:nvPr/>
        </p:nvSpPr>
        <p:spPr>
          <a:xfrm>
            <a:off x="711200" y="50292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Cloud faz retrain pesado e envia patch residual leve ao edge</a:t>
            </a:r>
          </a:p>
        </p:txBody>
      </p:sp>
      <p:sp>
        <p:nvSpPr>
          <p:cNvPr id="16" name="Retângulo Arredondado 15">
            <a:extLst>
              <a:ext uri="{FF2B5EF4-FFF2-40B4-BE49-F238E27FC236}">
                <a16:creationId xmlns:a16="http://schemas.microsoft.com/office/drawing/2014/main" id="{6B874A69-8707-494F-96CD-B4A7BC8D1714}"/>
              </a:ext>
            </a:extLst>
          </p:cNvPr>
          <p:cNvSpPr/>
          <p:nvPr/>
        </p:nvSpPr>
        <p:spPr>
          <a:xfrm>
            <a:off x="6096000" y="1905000"/>
            <a:ext cx="5334000" cy="457200"/>
          </a:xfrm>
          <a:prstGeom prst="round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VERIFICAÇÃO E GARANTIAS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660A62C-0446-2944-B6BC-2130A92C8C9E}"/>
              </a:ext>
            </a:extLst>
          </p:cNvPr>
          <p:cNvSpPr/>
          <p:nvPr/>
        </p:nvSpPr>
        <p:spPr>
          <a:xfrm>
            <a:off x="6146800" y="2565400"/>
            <a:ext cx="101600" cy="1016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4460F763-94A9-C640-AD72-8B7D81739510}"/>
              </a:ext>
            </a:extLst>
          </p:cNvPr>
          <p:cNvSpPr txBox="1"/>
          <p:nvPr/>
        </p:nvSpPr>
        <p:spPr>
          <a:xfrm>
            <a:off x="6350000" y="24892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TEEs (SGX, TrustZone, SEV)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B712AE0-AB66-2F41-9682-D4DA6813FA03}"/>
              </a:ext>
            </a:extLst>
          </p:cNvPr>
          <p:cNvSpPr txBox="1"/>
          <p:nvPr/>
        </p:nvSpPr>
        <p:spPr>
          <a:xfrm>
            <a:off x="6350000" y="27686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Executar unlearning em enclave → atestação criptográfica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780F56-6DB4-3644-9525-1E80A52B239A}"/>
              </a:ext>
            </a:extLst>
          </p:cNvPr>
          <p:cNvSpPr/>
          <p:nvPr/>
        </p:nvSpPr>
        <p:spPr>
          <a:xfrm>
            <a:off x="6146800" y="3403600"/>
            <a:ext cx="101600" cy="1016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9FE33ED-72D8-E64B-825A-C229569C3503}"/>
              </a:ext>
            </a:extLst>
          </p:cNvPr>
          <p:cNvSpPr txBox="1"/>
          <p:nvPr/>
        </p:nvSpPr>
        <p:spPr>
          <a:xfrm>
            <a:off x="6350000" y="33274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Zero-knowledge proofs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2D647A6-EE07-C245-B24D-7DB07C228C1F}"/>
              </a:ext>
            </a:extLst>
          </p:cNvPr>
          <p:cNvSpPr txBox="1"/>
          <p:nvPr/>
        </p:nvSpPr>
        <p:spPr>
          <a:xfrm>
            <a:off x="6350000" y="36068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Provar que pesos resultam da função declarada, sem revelar modelo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DAF54C8-C787-2340-8D3C-AA6942ECF560}"/>
              </a:ext>
            </a:extLst>
          </p:cNvPr>
          <p:cNvSpPr/>
          <p:nvPr/>
        </p:nvSpPr>
        <p:spPr>
          <a:xfrm>
            <a:off x="6146800" y="4114800"/>
            <a:ext cx="101600" cy="1016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42D99DD-F348-D44F-AD3E-4378D0E3F0AF}"/>
              </a:ext>
            </a:extLst>
          </p:cNvPr>
          <p:cNvSpPr txBox="1"/>
          <p:nvPr/>
        </p:nvSpPr>
        <p:spPr>
          <a:xfrm>
            <a:off x="6350000" y="40386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DP budget tracking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5564B44C-F642-E549-8EA9-4A4011F88FD3}"/>
              </a:ext>
            </a:extLst>
          </p:cNvPr>
          <p:cNvSpPr txBox="1"/>
          <p:nvPr/>
        </p:nvSpPr>
        <p:spPr>
          <a:xfrm>
            <a:off x="6350000" y="43180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Cada evento de erasure consome orçamento de privacidade auditável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45A6D58-6CE1-1146-806B-6E8C3878CF7A}"/>
              </a:ext>
            </a:extLst>
          </p:cNvPr>
          <p:cNvSpPr/>
          <p:nvPr/>
        </p:nvSpPr>
        <p:spPr>
          <a:xfrm>
            <a:off x="6146800" y="4826000"/>
            <a:ext cx="101600" cy="1016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29165D0D-A27D-FD47-8D9E-EF7D09BEB984}"/>
              </a:ext>
            </a:extLst>
          </p:cNvPr>
          <p:cNvSpPr txBox="1"/>
          <p:nvPr/>
        </p:nvSpPr>
        <p:spPr>
          <a:xfrm>
            <a:off x="6350000" y="4749800"/>
            <a:ext cx="5029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A2332"/>
                </a:solidFill>
                <a:latin typeface="Calibri"/>
                <a:cs typeface="Calibri"/>
              </a:rPr>
              <a:t>Abordagem híbrida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5963ADC-BD6D-5C47-8417-9D5C7B143767}"/>
              </a:ext>
            </a:extLst>
          </p:cNvPr>
          <p:cNvSpPr txBox="1"/>
          <p:nvPr/>
        </p:nvSpPr>
        <p:spPr>
          <a:xfrm>
            <a:off x="6350000" y="5029200"/>
            <a:ext cx="5029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2E3B4E"/>
                </a:solidFill>
                <a:latin typeface="Calibri"/>
                <a:cs typeface="Calibri"/>
              </a:rPr>
              <a:t>TEE (runtime) + ZKP (pós-hoc) + DP (cumulativo) em camadas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3AF5AE9F-4083-AA47-83D7-316C7DC19454}"/>
              </a:ext>
            </a:extLst>
          </p:cNvPr>
          <p:cNvSpPr/>
          <p:nvPr/>
        </p:nvSpPr>
        <p:spPr>
          <a:xfrm>
            <a:off x="457200" y="5562600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427BEB23-DF31-AD44-8C62-B93FBA6D43C8}"/>
              </a:ext>
            </a:extLst>
          </p:cNvPr>
          <p:cNvSpPr txBox="1"/>
          <p:nvPr/>
        </p:nvSpPr>
        <p:spPr>
          <a:xfrm>
            <a:off x="711200" y="5689600"/>
            <a:ext cx="1076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400" i="1">
                <a:solidFill>
                  <a:srgbClr val="8B1A1A"/>
                </a:solidFill>
                <a:latin typeface="Calibri"/>
                <a:cs typeface="Calibri"/>
              </a:rPr>
              <a:t>⚠  Sem benchmarks para MCU, sem limites formais de erro residual, sem mapeamento jurídico TEE/ZKP → RGPD Art. 17</a:t>
            </a:r>
          </a:p>
        </p:txBody>
      </p:sp>
    </p:spTree>
    <p:extLst>
      <p:ext uri="{BB962C8B-B14F-4D97-AF65-F5344CB8AC3E}">
        <p14:creationId xmlns:p14="http://schemas.microsoft.com/office/powerpoint/2010/main" val="18148119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52685-EEDA-3D69-3E46-D4D43E2FE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Conclusão</a:t>
            </a:r>
          </a:p>
        </p:txBody>
      </p:sp>
      <p:sp>
        <p:nvSpPr>
          <p:cNvPr id="3" name="Retângulo Arredondado 2">
            <a:extLst>
              <a:ext uri="{FF2B5EF4-FFF2-40B4-BE49-F238E27FC236}">
                <a16:creationId xmlns:a16="http://schemas.microsoft.com/office/drawing/2014/main" id="{B81E05F5-3FF2-CC4A-8BA5-2622CA841F19}"/>
              </a:ext>
            </a:extLst>
          </p:cNvPr>
          <p:cNvSpPr/>
          <p:nvPr/>
        </p:nvSpPr>
        <p:spPr>
          <a:xfrm>
            <a:off x="457200" y="1905000"/>
            <a:ext cx="11277600" cy="889000"/>
          </a:xfrm>
          <a:prstGeom prst="round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PT" dirty="0">
                <a:solidFill>
                  <a:srgbClr val="FFFFFF"/>
                </a:solidFill>
                <a:latin typeface="Georgia"/>
              </a:rPr>
              <a:t>Três eixos interdependentes devem avançar em conjunto para alcançar </a:t>
            </a:r>
            <a:r>
              <a:rPr lang="pt-PT" dirty="0" err="1">
                <a:solidFill>
                  <a:srgbClr val="FFFFFF"/>
                </a:solidFill>
                <a:latin typeface="Georgia"/>
              </a:rPr>
              <a:t>unlearning</a:t>
            </a:r>
            <a:r>
              <a:rPr lang="pt-PT" dirty="0">
                <a:solidFill>
                  <a:srgbClr val="FFFFFF"/>
                </a:solidFill>
                <a:latin typeface="Georgia"/>
              </a:rPr>
              <a:t> responsável em edifícios inteligentes.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E9680A7-A798-EB4F-9A16-720894964DB0}"/>
              </a:ext>
            </a:extLst>
          </p:cNvPr>
          <p:cNvSpPr/>
          <p:nvPr/>
        </p:nvSpPr>
        <p:spPr>
          <a:xfrm>
            <a:off x="1905000" y="3149600"/>
            <a:ext cx="660400" cy="6604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ACB55E4-8882-B34D-AA4C-D5C13B32944F}"/>
              </a:ext>
            </a:extLst>
          </p:cNvPr>
          <p:cNvSpPr txBox="1"/>
          <p:nvPr/>
        </p:nvSpPr>
        <p:spPr>
          <a:xfrm>
            <a:off x="4572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56082"/>
                </a:solidFill>
                <a:latin typeface="Georgia"/>
              </a:rPr>
              <a:t>Escalabilidade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1B271A0-DCA7-144A-B43F-8F2AFE211EEE}"/>
              </a:ext>
            </a:extLst>
          </p:cNvPr>
          <p:cNvSpPr txBox="1"/>
          <p:nvPr/>
        </p:nvSpPr>
        <p:spPr>
          <a:xfrm>
            <a:off x="457200" y="4318000"/>
            <a:ext cx="355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Primitivas de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erasure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on-device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(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TinyML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sparse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updates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) que caibam em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MCUs</a:t>
            </a:r>
            <a:endParaRPr lang="pt-PT" sz="14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15DE8B-DDC7-1C45-BB89-29C411889968}"/>
              </a:ext>
            </a:extLst>
          </p:cNvPr>
          <p:cNvSpPr/>
          <p:nvPr/>
        </p:nvSpPr>
        <p:spPr>
          <a:xfrm>
            <a:off x="5765800" y="3149600"/>
            <a:ext cx="660400" cy="6604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5D6C62E-2312-B342-A6C3-075830E885C8}"/>
              </a:ext>
            </a:extLst>
          </p:cNvPr>
          <p:cNvSpPr txBox="1"/>
          <p:nvPr/>
        </p:nvSpPr>
        <p:spPr>
          <a:xfrm>
            <a:off x="43180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E97132"/>
                </a:solidFill>
                <a:latin typeface="Georgia"/>
              </a:rPr>
              <a:t>Verificação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6523AA0-022C-154C-8804-9E925EF75963}"/>
              </a:ext>
            </a:extLst>
          </p:cNvPr>
          <p:cNvSpPr txBox="1"/>
          <p:nvPr/>
        </p:nvSpPr>
        <p:spPr>
          <a:xfrm>
            <a:off x="4318000" y="4318000"/>
            <a:ext cx="355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Provas auditáveis via TEE + ZKP + contabilização de privacidade diferencial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A8477AF-7D99-C44C-B184-6DE4F3C85E0B}"/>
              </a:ext>
            </a:extLst>
          </p:cNvPr>
          <p:cNvSpPr/>
          <p:nvPr/>
        </p:nvSpPr>
        <p:spPr>
          <a:xfrm>
            <a:off x="9626600" y="3149600"/>
            <a:ext cx="660400" cy="660400"/>
          </a:xfrm>
          <a:prstGeom prst="ellipse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2B5A08D-2BC6-294D-8D85-7A577EFF5507}"/>
              </a:ext>
            </a:extLst>
          </p:cNvPr>
          <p:cNvSpPr txBox="1"/>
          <p:nvPr/>
        </p:nvSpPr>
        <p:spPr>
          <a:xfrm>
            <a:off x="81788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96B24"/>
                </a:solidFill>
                <a:latin typeface="Georgia"/>
              </a:rPr>
              <a:t>Regulação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934ED8C-06A1-2348-B7E1-FE5CFEE7AEA2}"/>
              </a:ext>
            </a:extLst>
          </p:cNvPr>
          <p:cNvSpPr txBox="1"/>
          <p:nvPr/>
        </p:nvSpPr>
        <p:spPr>
          <a:xfrm>
            <a:off x="8178800" y="4318000"/>
            <a:ext cx="3556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Alinhamento entre mecanismos técnicos e requisitos legais (RGPD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Art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. 17)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4774E2B-6863-4649-94A2-F0F2BB120D50}"/>
              </a:ext>
            </a:extLst>
          </p:cNvPr>
          <p:cNvSpPr/>
          <p:nvPr/>
        </p:nvSpPr>
        <p:spPr>
          <a:xfrm>
            <a:off x="4064000" y="5334000"/>
            <a:ext cx="4064000" cy="25400"/>
          </a:xfrm>
          <a:prstGeom prst="rect">
            <a:avLst/>
          </a:prstGeom>
          <a:solidFill>
            <a:srgbClr val="D0C9C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57545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0112FC-735B-DE07-E10D-52F9E6204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118" y="2766218"/>
            <a:ext cx="267176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pt-PT" b="1" dirty="0"/>
              <a:t>Obrigado</a:t>
            </a:r>
            <a:br>
              <a:rPr lang="pt-PT" b="1" dirty="0"/>
            </a:br>
            <a:br>
              <a:rPr lang="pt-PT" b="1" dirty="0"/>
            </a:br>
            <a:r>
              <a:rPr lang="pt-PT" sz="3600" dirty="0"/>
              <a:t>Questões?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888709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9718173466]">
  <a:themeElements>
    <a:clrScheme name="Office">
      <a:dk1>
        <a:srgbClr val="1A2332"/>
      </a:dk1>
      <a:lt1>
        <a:srgbClr val="FBFAF7"/>
      </a:lt1>
      <a:dk2>
        <a:srgbClr val="2E3B4E"/>
      </a:dk2>
      <a:lt2>
        <a:srgbClr val="E8E4DC"/>
      </a:lt2>
      <a:accent1>
        <a:srgbClr val="156082"/>
      </a:accent1>
      <a:accent2>
        <a:srgbClr val="E97132"/>
      </a:accent2>
      <a:accent3>
        <a:srgbClr val="196B24"/>
      </a:accent3>
      <a:accent4>
        <a:srgbClr val="7A4E8C"/>
      </a:accent4>
      <a:accent5>
        <a:srgbClr val="B8860B"/>
      </a:accent5>
      <a:accent6>
        <a:srgbClr val="8B4513"/>
      </a:accent6>
      <a:hlink>
        <a:srgbClr val="467886"/>
      </a:hlink>
      <a:folHlink>
        <a:srgbClr val="96607D"/>
      </a:folHlink>
    </a:clrScheme>
    <a:fontScheme name="Office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1CE2C77-F620-F547-99C6-2EEF7B5FAC64}">
  <we:reference id="11d7cf85-ae5a-43b8-bc58-1e1a151cce24" version="1.0.0.1" store="EXCatalog" storeType="EXCatalog"/>
  <we:alternateReferences>
    <we:reference id="WA200010725" version="1.0.0.1" store="pt-PT" storeType="OMEX"/>
  </we:alternateReferences>
  <we:properties>
    <we:property name="claude.fileId" value="&quot;c1f9e5a0-4d89-4212-b866-1f5e0a1d0af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911</Words>
  <Application>Microsoft Macintosh PowerPoint</Application>
  <PresentationFormat>Ecrã Panorâmico</PresentationFormat>
  <Paragraphs>109</Paragraphs>
  <Slides>10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Tema do Office [1779718173466]</vt:lpstr>
      <vt:lpstr>Apresentação do PowerPoint</vt:lpstr>
      <vt:lpstr>Problema e Motivação</vt:lpstr>
      <vt:lpstr>Machine Unlearning: Exact vs. Approximate</vt:lpstr>
      <vt:lpstr>Arquitetura IoT em Três Camadas</vt:lpstr>
      <vt:lpstr>Regimes de Treino Incompatíveis</vt:lpstr>
      <vt:lpstr>Estado da Arte por Camada</vt:lpstr>
      <vt:lpstr>Lacuna Central</vt:lpstr>
      <vt:lpstr>Direções de Investigação</vt:lpstr>
      <vt:lpstr>Conclusão</vt:lpstr>
      <vt:lpstr>Obrigado  Questões?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Rafael Duarte Pereira Da Silva</dc:creator>
  <cp:lastModifiedBy>Rafael Duarte Pereira Da Silva</cp:lastModifiedBy>
  <cp:revision>5</cp:revision>
  <dcterms:created xsi:type="dcterms:W3CDTF">2026-05-25T14:03:45Z</dcterms:created>
  <dcterms:modified xsi:type="dcterms:W3CDTF">2026-05-25T19:39:18Z</dcterms:modified>
</cp:coreProperties>
</file>