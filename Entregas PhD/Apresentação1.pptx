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9" r:id="rId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99" d="100"/>
          <a:sy n="99" d="100"/>
        </p:scale>
        <p:origin x="192" y="6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o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0C4004-5EB7-8F82-9FA1-51870C9212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BD1FA2F-264C-8199-2BAF-7A63B63A0D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PT"/>
              <a:t>Clique para editar o estilo de subtítulo do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12B5CFB3-FBBC-E8DC-F7D3-2E7C095A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C3EEDBD6-9314-0D24-970A-39415BE052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9140160F-A29B-3B2D-2ED8-9F7BE8562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43994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Obje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12AC52-350E-8A5B-B5E1-05068891B8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D4CB173A-A059-59EA-C636-4285A5A3FF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31B52EE-E82F-79CB-773F-2E41B043B1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90C42516-F37E-3D30-1C66-6085A51D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506C1483-E9C9-8A38-E980-EB8F22F081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1147433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Cabeçalho da Sec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3E2FFE9-5306-D8FF-1F46-F0CF9421B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7AFABB86-5B46-1EE3-7FAA-8B262A5504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020896B6-47CA-43EA-B7A4-1FD11EAF8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2E3E3AB-9027-54B7-3FAD-2E501AD727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1B841980-35F0-0860-3E92-A60FEEAF8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8884839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Conteúdo Dup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01B61E-F47C-F5C1-47E9-2DD18472EC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FA90CD87-D2FF-2F94-F644-42D4B4EDC60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2582ACD0-B8AF-1976-DB14-5E374ABA817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D27E7870-2C2C-4404-7E84-ACFB004155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2A8ACC74-DC67-CDE2-9215-7B52D8AEE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F0C38FEC-B9D4-512C-DAE0-B41AE83299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375880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77E101-2890-514E-117F-6EA8C46F1C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5A64D669-EE30-82EE-3723-BDC610BC4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4" name="Marcador de Posição de Conteúdo 3">
            <a:extLst>
              <a:ext uri="{FF2B5EF4-FFF2-40B4-BE49-F238E27FC236}">
                <a16:creationId xmlns:a16="http://schemas.microsoft.com/office/drawing/2014/main" id="{43F916BD-D456-3A41-1B90-7A9EBBA66A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5" name="Marcador de Posição do Texto 4">
            <a:extLst>
              <a:ext uri="{FF2B5EF4-FFF2-40B4-BE49-F238E27FC236}">
                <a16:creationId xmlns:a16="http://schemas.microsoft.com/office/drawing/2014/main" id="{6A056534-3125-9535-A885-3A0E916449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6" name="Marcador de Posição de Conteúdo 5">
            <a:extLst>
              <a:ext uri="{FF2B5EF4-FFF2-40B4-BE49-F238E27FC236}">
                <a16:creationId xmlns:a16="http://schemas.microsoft.com/office/drawing/2014/main" id="{FD11076E-52F9-0140-74BD-985D468B96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7" name="Marcador de Posição da Data 6">
            <a:extLst>
              <a:ext uri="{FF2B5EF4-FFF2-40B4-BE49-F238E27FC236}">
                <a16:creationId xmlns:a16="http://schemas.microsoft.com/office/drawing/2014/main" id="{F430E094-5E62-3657-1386-A1160960F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8" name="Marcador de Posição do Rodapé 7">
            <a:extLst>
              <a:ext uri="{FF2B5EF4-FFF2-40B4-BE49-F238E27FC236}">
                <a16:creationId xmlns:a16="http://schemas.microsoft.com/office/drawing/2014/main" id="{23DEC4A8-ACC9-CB99-1D9C-94E988A37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9" name="Marcador de Posição do Número do Diapositivo 8">
            <a:extLst>
              <a:ext uri="{FF2B5EF4-FFF2-40B4-BE49-F238E27FC236}">
                <a16:creationId xmlns:a16="http://schemas.microsoft.com/office/drawing/2014/main" id="{671851E2-07DD-93D6-475C-38205D8B8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592230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Só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6EC81BE-C16E-743B-568E-0194FA3F9D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Data 2">
            <a:extLst>
              <a:ext uri="{FF2B5EF4-FFF2-40B4-BE49-F238E27FC236}">
                <a16:creationId xmlns:a16="http://schemas.microsoft.com/office/drawing/2014/main" id="{58017996-EE0D-C4BF-4D4D-5DBBCEC3C9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4" name="Marcador de Posição do Rodapé 3">
            <a:extLst>
              <a:ext uri="{FF2B5EF4-FFF2-40B4-BE49-F238E27FC236}">
                <a16:creationId xmlns:a16="http://schemas.microsoft.com/office/drawing/2014/main" id="{B492B1E0-9840-D60C-1FC3-B1F19A5147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5" name="Marcador de Posição do Número do Diapositivo 4">
            <a:extLst>
              <a:ext uri="{FF2B5EF4-FFF2-40B4-BE49-F238E27FC236}">
                <a16:creationId xmlns:a16="http://schemas.microsoft.com/office/drawing/2014/main" id="{978CD853-1BC6-6A09-4B2C-48887E72D0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551575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a Data 1">
            <a:extLst>
              <a:ext uri="{FF2B5EF4-FFF2-40B4-BE49-F238E27FC236}">
                <a16:creationId xmlns:a16="http://schemas.microsoft.com/office/drawing/2014/main" id="{04904ADD-AD99-C386-E701-9CF843740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3" name="Marcador de Posição do Rodapé 2">
            <a:extLst>
              <a:ext uri="{FF2B5EF4-FFF2-40B4-BE49-F238E27FC236}">
                <a16:creationId xmlns:a16="http://schemas.microsoft.com/office/drawing/2014/main" id="{8C4085EA-49E0-48A1-2CCF-7C885EB3BD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4" name="Marcador de Posição do Número do Diapositivo 3">
            <a:extLst>
              <a:ext uri="{FF2B5EF4-FFF2-40B4-BE49-F238E27FC236}">
                <a16:creationId xmlns:a16="http://schemas.microsoft.com/office/drawing/2014/main" id="{A36ECF43-2588-4C58-23EF-1602B8FCD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65907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71D283-76DE-99E1-46C5-382F199FC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Conteúdo 2">
            <a:extLst>
              <a:ext uri="{FF2B5EF4-FFF2-40B4-BE49-F238E27FC236}">
                <a16:creationId xmlns:a16="http://schemas.microsoft.com/office/drawing/2014/main" id="{A90F956B-DCA5-7641-1B35-90B88094B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1FA1CCA8-A3A0-283D-B922-26DB65EE03C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F170836A-E026-F447-C622-338EED1E1C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0F553D68-0E53-B3F7-731B-500C14CBFF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4CE3C1EA-22A5-9037-BC74-C0F383944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14005179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6E17B70-4C2C-7583-7A2B-AB93C90A53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a Imagem 2">
            <a:extLst>
              <a:ext uri="{FF2B5EF4-FFF2-40B4-BE49-F238E27FC236}">
                <a16:creationId xmlns:a16="http://schemas.microsoft.com/office/drawing/2014/main" id="{ED7FAC65-068B-1736-ABA7-9696E9CED13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PT"/>
          </a:p>
        </p:txBody>
      </p:sp>
      <p:sp>
        <p:nvSpPr>
          <p:cNvPr id="4" name="Marcador de Posição do Texto 3">
            <a:extLst>
              <a:ext uri="{FF2B5EF4-FFF2-40B4-BE49-F238E27FC236}">
                <a16:creationId xmlns:a16="http://schemas.microsoft.com/office/drawing/2014/main" id="{87250701-83B3-B341-E7D5-33B010EABC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PT"/>
              <a:t>Clique para editar os estilos do texto de Modelo Global</a:t>
            </a:r>
          </a:p>
        </p:txBody>
      </p:sp>
      <p:sp>
        <p:nvSpPr>
          <p:cNvPr id="5" name="Marcador de Posição da Data 4">
            <a:extLst>
              <a:ext uri="{FF2B5EF4-FFF2-40B4-BE49-F238E27FC236}">
                <a16:creationId xmlns:a16="http://schemas.microsoft.com/office/drawing/2014/main" id="{7BE4B126-F02B-0191-8713-6A8804944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6" name="Marcador de Posição do Rodapé 5">
            <a:extLst>
              <a:ext uri="{FF2B5EF4-FFF2-40B4-BE49-F238E27FC236}">
                <a16:creationId xmlns:a16="http://schemas.microsoft.com/office/drawing/2014/main" id="{5D6F09F4-FF2D-F00A-1021-F7FE0D10BE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7" name="Marcador de Posição do Número do Diapositivo 6">
            <a:extLst>
              <a:ext uri="{FF2B5EF4-FFF2-40B4-BE49-F238E27FC236}">
                <a16:creationId xmlns:a16="http://schemas.microsoft.com/office/drawing/2014/main" id="{1A8AC654-9949-DE74-3373-018F01ACB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3270972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151B20-90A7-5000-DA57-5B225D812B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BD6D453C-2007-19CE-AF7B-7129895364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6B630E08-70F5-F8A3-25B5-CD95CE052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5FE31C2B-F9D9-CDA5-34C0-DA2946F8F9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F58FDEB2-DC07-F3A9-D954-838AF14A75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93755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Título Vertical e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438DC4-B376-0867-B1E2-8E9C7E6780B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e Texto Vertical 2">
            <a:extLst>
              <a:ext uri="{FF2B5EF4-FFF2-40B4-BE49-F238E27FC236}">
                <a16:creationId xmlns:a16="http://schemas.microsoft.com/office/drawing/2014/main" id="{2649BBCE-A9B5-4FD6-3D64-1157831BEE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CF2CA0CE-FF86-D700-CAF1-5A8663644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EDF77788-83DE-AC87-8379-58B3FAD8F2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B07D0ED4-E9C7-2334-9E13-332441BCA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22686250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Posição do Título 1">
            <a:extLst>
              <a:ext uri="{FF2B5EF4-FFF2-40B4-BE49-F238E27FC236}">
                <a16:creationId xmlns:a16="http://schemas.microsoft.com/office/drawing/2014/main" id="{EAF48B5A-1D12-03CC-535C-D3FE51D835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PT"/>
              <a:t>Clique para editar o estilo de título do Modelo Global</a:t>
            </a:r>
          </a:p>
        </p:txBody>
      </p:sp>
      <p:sp>
        <p:nvSpPr>
          <p:cNvPr id="3" name="Marcador de Posição do Texto 2">
            <a:extLst>
              <a:ext uri="{FF2B5EF4-FFF2-40B4-BE49-F238E27FC236}">
                <a16:creationId xmlns:a16="http://schemas.microsoft.com/office/drawing/2014/main" id="{90FCE4A8-883B-A88E-2196-F3AE8158F8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PT"/>
              <a:t>Clique para editar os estilos do texto de Modelo Global</a:t>
            </a:r>
          </a:p>
          <a:p>
            <a:pPr lvl="1"/>
            <a:r>
              <a:rPr lang="pt-PT"/>
              <a:t>Segundo nível</a:t>
            </a:r>
          </a:p>
          <a:p>
            <a:pPr lvl="2"/>
            <a:r>
              <a:rPr lang="pt-PT"/>
              <a:t>Terceiro nível</a:t>
            </a:r>
          </a:p>
          <a:p>
            <a:pPr lvl="3"/>
            <a:r>
              <a:rPr lang="pt-PT"/>
              <a:t>Quarto nível</a:t>
            </a:r>
          </a:p>
          <a:p>
            <a:pPr lvl="4"/>
            <a:r>
              <a:rPr lang="pt-PT"/>
              <a:t>Quinto nível</a:t>
            </a:r>
          </a:p>
        </p:txBody>
      </p:sp>
      <p:sp>
        <p:nvSpPr>
          <p:cNvPr id="4" name="Marcador de Posição da Data 3">
            <a:extLst>
              <a:ext uri="{FF2B5EF4-FFF2-40B4-BE49-F238E27FC236}">
                <a16:creationId xmlns:a16="http://schemas.microsoft.com/office/drawing/2014/main" id="{900D5CBC-A19A-8C5F-4D64-C6E5707C509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D5399-E005-4D46-A3BC-4F04C5B9BCCE}" type="datetimeFigureOut">
              <a:rPr lang="pt-PT" smtClean="0"/>
              <a:t>25/05/26</a:t>
            </a:fld>
            <a:endParaRPr lang="pt-PT"/>
          </a:p>
        </p:txBody>
      </p:sp>
      <p:sp>
        <p:nvSpPr>
          <p:cNvPr id="5" name="Marcador de Posição do Rodapé 4">
            <a:extLst>
              <a:ext uri="{FF2B5EF4-FFF2-40B4-BE49-F238E27FC236}">
                <a16:creationId xmlns:a16="http://schemas.microsoft.com/office/drawing/2014/main" id="{36E56A5E-C608-618F-01EE-4E4D7DD486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PT"/>
          </a:p>
        </p:txBody>
      </p:sp>
      <p:sp>
        <p:nvSpPr>
          <p:cNvPr id="6" name="Marcador de Posição do Número do Diapositivo 5">
            <a:extLst>
              <a:ext uri="{FF2B5EF4-FFF2-40B4-BE49-F238E27FC236}">
                <a16:creationId xmlns:a16="http://schemas.microsoft.com/office/drawing/2014/main" id="{CCD875FA-9F7C-B703-9174-9830C211EE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4364FD-39F1-3744-A9FE-769866601095}" type="slidenum">
              <a:rPr lang="pt-PT" smtClean="0"/>
              <a:t>‹nº›</a:t>
            </a:fld>
            <a:endParaRPr lang="pt-PT"/>
          </a:p>
        </p:txBody>
      </p:sp>
      <p:sp>
        <p:nvSpPr>
          <p:cNvPr id="900" name="AccentBar"/>
          <p:cNvSpPr/>
          <p:nvPr userDrawn="1"/>
        </p:nvSpPr>
        <p:spPr>
          <a:xfrm>
            <a:off x="457200" y="6477000"/>
            <a:ext cx="11277600" cy="25400"/>
          </a:xfrm>
          <a:prstGeom prst="rect">
            <a:avLst/>
          </a:prstGeom>
          <a:solidFill>
            <a:srgbClr val="156082"/>
          </a:solidFill>
          <a:ln>
            <a:noFill/>
          </a:ln>
        </p:spPr>
        <p:txBody>
          <a:bodyPr/>
          <a:lstStyle/>
          <a:p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39027249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A233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3">
            <a:extLst>
              <a:ext uri="{FF2B5EF4-FFF2-40B4-BE49-F238E27FC236}">
                <a16:creationId xmlns:a16="http://schemas.microsoft.com/office/drawing/2014/main" id="{FACE8F31-782D-6D41-890F-B864B112E5C2}"/>
              </a:ext>
            </a:extLst>
          </p:cNvPr>
          <p:cNvSpPr/>
          <p:nvPr/>
        </p:nvSpPr>
        <p:spPr>
          <a:xfrm>
            <a:off x="914400" y="1905000"/>
            <a:ext cx="50800" cy="30480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276967D3-5CC0-A34C-8253-65A7B45962C4}"/>
              </a:ext>
            </a:extLst>
          </p:cNvPr>
          <p:cNvSpPr txBox="1"/>
          <p:nvPr/>
        </p:nvSpPr>
        <p:spPr>
          <a:xfrm>
            <a:off x="1219200" y="1930400"/>
            <a:ext cx="8890000" cy="27699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r>
              <a:rPr lang="pt-PT" sz="1200" b="1" dirty="0">
                <a:solidFill>
                  <a:srgbClr val="156082"/>
                </a:solidFill>
                <a:latin typeface="Calibri"/>
                <a:cs typeface="Calibri"/>
              </a:rPr>
              <a:t>DIAESI-PDCSI ·  2026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06B162B3-2FA2-F241-BF9E-3A43D1486104}"/>
              </a:ext>
            </a:extLst>
          </p:cNvPr>
          <p:cNvSpPr txBox="1"/>
          <p:nvPr/>
        </p:nvSpPr>
        <p:spPr>
          <a:xfrm>
            <a:off x="1219200" y="2387600"/>
            <a:ext cx="9906000" cy="1200329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3600" b="1" dirty="0" err="1">
                <a:solidFill>
                  <a:srgbClr val="1A2332"/>
                </a:solidFill>
                <a:latin typeface="Georgia"/>
              </a:rPr>
              <a:t>Machine</a:t>
            </a:r>
            <a:r>
              <a:rPr lang="pt-PT" sz="3600" b="1" dirty="0">
                <a:solidFill>
                  <a:srgbClr val="1A2332"/>
                </a:solidFill>
                <a:latin typeface="Georgia"/>
              </a:rPr>
              <a:t> </a:t>
            </a:r>
            <a:r>
              <a:rPr lang="pt-PT" sz="3600" b="1" dirty="0" err="1">
                <a:solidFill>
                  <a:srgbClr val="1A2332"/>
                </a:solidFill>
                <a:latin typeface="Georgia"/>
              </a:rPr>
              <a:t>Unlearning</a:t>
            </a:r>
            <a:r>
              <a:rPr lang="pt-PT" sz="3600" b="1" dirty="0">
                <a:solidFill>
                  <a:srgbClr val="1A2332"/>
                </a:solidFill>
                <a:latin typeface="Georgia"/>
              </a:rPr>
              <a:t> para </a:t>
            </a:r>
            <a:r>
              <a:rPr lang="pt-PT" sz="3600" b="1" dirty="0" err="1">
                <a:solidFill>
                  <a:srgbClr val="1A2332"/>
                </a:solidFill>
                <a:latin typeface="Georgia"/>
              </a:rPr>
              <a:t>IoT</a:t>
            </a:r>
            <a:r>
              <a:rPr lang="pt-PT" sz="3600" b="1" dirty="0">
                <a:solidFill>
                  <a:srgbClr val="1A2332"/>
                </a:solidFill>
                <a:latin typeface="Georgia"/>
              </a:rPr>
              <a:t> em Edifícios Inteligentes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4519AA-1181-C74A-B364-8A00130F1660}"/>
              </a:ext>
            </a:extLst>
          </p:cNvPr>
          <p:cNvSpPr txBox="1"/>
          <p:nvPr/>
        </p:nvSpPr>
        <p:spPr>
          <a:xfrm>
            <a:off x="1219200" y="3613329"/>
            <a:ext cx="9906000" cy="6350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i="1" dirty="0">
                <a:solidFill>
                  <a:srgbClr val="2E3B4E"/>
                </a:solidFill>
                <a:latin typeface="Calibri"/>
                <a:cs typeface="Calibri"/>
              </a:rPr>
              <a:t>Restrições operacionais, lacunas dos métodos atuais e direções de investigação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ABCE9B-8A87-DD49-BFA4-4A5DB4CFFA5B}"/>
              </a:ext>
            </a:extLst>
          </p:cNvPr>
          <p:cNvSpPr txBox="1"/>
          <p:nvPr/>
        </p:nvSpPr>
        <p:spPr>
          <a:xfrm>
            <a:off x="1219200" y="5486400"/>
            <a:ext cx="5080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600" b="1">
                <a:solidFill>
                  <a:srgbClr val="1A2332"/>
                </a:solidFill>
                <a:latin typeface="Calibri"/>
                <a:cs typeface="Calibri"/>
              </a:rPr>
              <a:t>Rafael Silva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86ED185-A2F5-1B4A-95E1-B7D0C9058EE8}"/>
              </a:ext>
            </a:extLst>
          </p:cNvPr>
          <p:cNvSpPr txBox="1"/>
          <p:nvPr/>
        </p:nvSpPr>
        <p:spPr>
          <a:xfrm>
            <a:off x="1219200" y="5816600"/>
            <a:ext cx="5080000" cy="292388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300" dirty="0">
                <a:solidFill>
                  <a:srgbClr val="2E3B4E"/>
                </a:solidFill>
                <a:latin typeface="Calibri"/>
                <a:cs typeface="Calibri"/>
              </a:rPr>
              <a:t>1190979</a:t>
            </a:r>
          </a:p>
        </p:txBody>
      </p:sp>
    </p:spTree>
    <p:extLst>
      <p:ext uri="{BB962C8B-B14F-4D97-AF65-F5344CB8AC3E}">
        <p14:creationId xmlns:p14="http://schemas.microsoft.com/office/powerpoint/2010/main" val="35820998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FC8E3E0-CA29-6D28-A872-8555C5F7A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>
              <a:buNone/>
            </a:pPr>
            <a:r>
              <a:rPr lang="pt-PT" sz="3200" b="1" dirty="0">
                <a:solidFill>
                  <a:srgbClr val="1A2332"/>
                </a:solidFill>
                <a:latin typeface="Georgia"/>
              </a:rPr>
              <a:t>Problema e Motivação</a:t>
            </a:r>
          </a:p>
        </p:txBody>
      </p:sp>
      <p:sp>
        <p:nvSpPr>
          <p:cNvPr id="3" name="Retângulo 2">
            <a:extLst>
              <a:ext uri="{FF2B5EF4-FFF2-40B4-BE49-F238E27FC236}">
                <a16:creationId xmlns:a16="http://schemas.microsoft.com/office/drawing/2014/main" id="{4A677B35-D073-284C-8B83-C7095296C70B}"/>
              </a:ext>
            </a:extLst>
          </p:cNvPr>
          <p:cNvSpPr/>
          <p:nvPr/>
        </p:nvSpPr>
        <p:spPr>
          <a:xfrm>
            <a:off x="457200" y="2032000"/>
            <a:ext cx="457200" cy="38100"/>
          </a:xfrm>
          <a:prstGeom prst="rect">
            <a:avLst/>
          </a:prstGeom>
          <a:solidFill>
            <a:srgbClr val="15608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F1F2C28-A4D7-464C-A634-5904EB4E9B6B}"/>
              </a:ext>
            </a:extLst>
          </p:cNvPr>
          <p:cNvSpPr txBox="1"/>
          <p:nvPr/>
        </p:nvSpPr>
        <p:spPr>
          <a:xfrm>
            <a:off x="457200" y="21844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300" b="1">
                <a:solidFill>
                  <a:srgbClr val="156082"/>
                </a:solidFill>
                <a:latin typeface="Calibri"/>
                <a:cs typeface="Calibri"/>
              </a:rPr>
              <a:t>DADOS GRANULARES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6E8488C9-D99B-464D-8F9C-6B406E6A6D87}"/>
              </a:ext>
            </a:extLst>
          </p:cNvPr>
          <p:cNvSpPr txBox="1"/>
          <p:nvPr/>
        </p:nvSpPr>
        <p:spPr>
          <a:xfrm>
            <a:off x="457200" y="2590800"/>
            <a:ext cx="3556000" cy="2616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500">
                <a:solidFill>
                  <a:srgbClr val="1A2332"/>
                </a:solidFill>
                <a:latin typeface="Calibri"/>
                <a:cs typeface="Calibri"/>
              </a:rPr>
              <a:t>Dispositivos IoT recolhem padrões de ocupação, consumo energético, sinais biométricos e movimento, criando um histórico longitudinal detalhado dos ocupantes.</a:t>
            </a: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80EFA60F-D90D-2640-9544-D96349DDC3B0}"/>
              </a:ext>
            </a:extLst>
          </p:cNvPr>
          <p:cNvSpPr/>
          <p:nvPr/>
        </p:nvSpPr>
        <p:spPr>
          <a:xfrm>
            <a:off x="4318000" y="2032000"/>
            <a:ext cx="457200" cy="38100"/>
          </a:xfrm>
          <a:prstGeom prst="rect">
            <a:avLst/>
          </a:prstGeom>
          <a:solidFill>
            <a:srgbClr val="E971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4EEB0C5-BB98-8642-B072-B21C200899EA}"/>
              </a:ext>
            </a:extLst>
          </p:cNvPr>
          <p:cNvSpPr txBox="1"/>
          <p:nvPr/>
        </p:nvSpPr>
        <p:spPr>
          <a:xfrm>
            <a:off x="4318000" y="21844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300" b="1">
                <a:solidFill>
                  <a:srgbClr val="E97132"/>
                </a:solidFill>
                <a:latin typeface="Calibri"/>
                <a:cs typeface="Calibri"/>
              </a:rPr>
              <a:t>RISCOS DE PRIVACIDADE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F35ECE4-0B54-E944-A4F8-45DD2573EEA9}"/>
              </a:ext>
            </a:extLst>
          </p:cNvPr>
          <p:cNvSpPr txBox="1"/>
          <p:nvPr/>
        </p:nvSpPr>
        <p:spPr>
          <a:xfrm>
            <a:off x="4318000" y="2590800"/>
            <a:ext cx="3556000" cy="2616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500">
                <a:solidFill>
                  <a:srgbClr val="1A2332"/>
                </a:solidFill>
                <a:latin typeface="Calibri"/>
                <a:cs typeface="Calibri"/>
              </a:rPr>
              <a:t>Modelos treinados retêm traços estatísticos exploráveis por ataques de inferência de pertença e inversão de modelo, mesmo após eliminar os dados originais.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4A3CBE61-A312-914D-92A4-6E39DC84EAE6}"/>
              </a:ext>
            </a:extLst>
          </p:cNvPr>
          <p:cNvSpPr/>
          <p:nvPr/>
        </p:nvSpPr>
        <p:spPr>
          <a:xfrm>
            <a:off x="8178800" y="2032000"/>
            <a:ext cx="457200" cy="38100"/>
          </a:xfrm>
          <a:prstGeom prst="rect">
            <a:avLst/>
          </a:prstGeom>
          <a:solidFill>
            <a:srgbClr val="196B2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466F98B-47CA-2E45-BDE6-2A6D3D23F9CA}"/>
              </a:ext>
            </a:extLst>
          </p:cNvPr>
          <p:cNvSpPr txBox="1"/>
          <p:nvPr/>
        </p:nvSpPr>
        <p:spPr>
          <a:xfrm>
            <a:off x="8178800" y="2184400"/>
            <a:ext cx="3556000" cy="3048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300" b="1">
                <a:solidFill>
                  <a:srgbClr val="196B24"/>
                </a:solidFill>
                <a:latin typeface="Calibri"/>
                <a:cs typeface="Calibri"/>
              </a:rPr>
              <a:t>OBRIGAÇÃO LEGAL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044AA3AA-BF30-EF42-9460-65E33DC8DC90}"/>
              </a:ext>
            </a:extLst>
          </p:cNvPr>
          <p:cNvSpPr txBox="1"/>
          <p:nvPr/>
        </p:nvSpPr>
        <p:spPr>
          <a:xfrm>
            <a:off x="8178800" y="2590800"/>
            <a:ext cx="3556000" cy="2616200"/>
          </a:xfrm>
          <a:prstGeom prst="rect">
            <a:avLst/>
          </a:prstGeom>
          <a:noFill/>
        </p:spPr>
        <p:txBody>
          <a:bodyPr vertOverflow="overflow" vert="horz" wrap="square" rtlCol="0" anchor="t">
            <a:spAutoFit/>
          </a:bodyPr>
          <a:lstStyle/>
          <a:p>
            <a:pPr algn="l"/>
            <a:r>
              <a:rPr lang="pt-PT" sz="1500">
                <a:solidFill>
                  <a:srgbClr val="1A2332"/>
                </a:solidFill>
                <a:latin typeface="Calibri"/>
                <a:cs typeface="Calibri"/>
              </a:rPr>
              <a:t>RGPD Art. 17 (direito ao esquecimento) exige eliminar não só os dados, mas a sua influência nos modelos derivados — não basta apagar a fonte.</a:t>
            </a: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0E1A9396-1D6E-DD48-A8C8-60AA41A430B1}"/>
              </a:ext>
            </a:extLst>
          </p:cNvPr>
          <p:cNvSpPr/>
          <p:nvPr/>
        </p:nvSpPr>
        <p:spPr>
          <a:xfrm>
            <a:off x="457200" y="5588000"/>
            <a:ext cx="11277600" cy="711200"/>
          </a:xfrm>
          <a:prstGeom prst="rect">
            <a:avLst/>
          </a:prstGeom>
          <a:solidFill>
            <a:srgbClr val="F0EBE3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0" anchor="t"/>
          <a:lstStyle/>
          <a:p>
            <a:pPr algn="l"/>
            <a:endParaRPr lang="pt-PT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EB68BB29-1861-844D-8DA7-B46312EDBE1D}"/>
              </a:ext>
            </a:extLst>
          </p:cNvPr>
          <p:cNvSpPr txBox="1"/>
          <p:nvPr/>
        </p:nvSpPr>
        <p:spPr>
          <a:xfrm>
            <a:off x="660400" y="5740400"/>
            <a:ext cx="406400" cy="4064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PT" sz="2200" b="1">
                <a:solidFill>
                  <a:srgbClr val="156082"/>
                </a:solidFill>
              </a:rPr>
              <a:t>→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DC706087-3482-DE4C-944B-DA949279670A}"/>
              </a:ext>
            </a:extLst>
          </p:cNvPr>
          <p:cNvSpPr txBox="1"/>
          <p:nvPr/>
        </p:nvSpPr>
        <p:spPr>
          <a:xfrm>
            <a:off x="1168400" y="5689600"/>
            <a:ext cx="10414000" cy="508000"/>
          </a:xfrm>
          <a:prstGeom prst="rect">
            <a:avLst/>
          </a:prstGeom>
          <a:noFill/>
        </p:spPr>
        <p:txBody>
          <a:bodyPr vertOverflow="overflow" vert="horz" wrap="square" rtlCol="0" anchor="ctr" anchorCtr="0">
            <a:noAutofit/>
          </a:bodyPr>
          <a:lstStyle/>
          <a:p>
            <a:pPr algn="l"/>
            <a:r>
              <a:rPr lang="pt-PT" sz="1400" i="1">
                <a:solidFill>
                  <a:srgbClr val="1A2332"/>
                </a:solidFill>
                <a:latin typeface="Calibri"/>
                <a:cs typeface="Calibri"/>
              </a:rPr>
              <a:t>Machine unlearning surge como resposta técnica — mas foi concebido para cenários centralizados e estáticos, não para o contexto distribuído dos edifícios inteligentes.</a:t>
            </a:r>
          </a:p>
        </p:txBody>
      </p:sp>
    </p:spTree>
    <p:extLst>
      <p:ext uri="{BB962C8B-B14F-4D97-AF65-F5344CB8AC3E}">
        <p14:creationId xmlns:p14="http://schemas.microsoft.com/office/powerpoint/2010/main" val="304978844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 [1779718173466]">
  <a:themeElements>
    <a:clrScheme name="Office">
      <a:dk1>
        <a:srgbClr val="1A2332"/>
      </a:dk1>
      <a:lt1>
        <a:srgbClr val="FBFAF7"/>
      </a:lt1>
      <a:dk2>
        <a:srgbClr val="2E3B4E"/>
      </a:dk2>
      <a:lt2>
        <a:srgbClr val="E8E4DC"/>
      </a:lt2>
      <a:accent1>
        <a:srgbClr val="156082"/>
      </a:accent1>
      <a:accent2>
        <a:srgbClr val="E97132"/>
      </a:accent2>
      <a:accent3>
        <a:srgbClr val="196B24"/>
      </a:accent3>
      <a:accent4>
        <a:srgbClr val="7A4E8C"/>
      </a:accent4>
      <a:accent5>
        <a:srgbClr val="B8860B"/>
      </a:accent5>
      <a:accent6>
        <a:srgbClr val="8B4513"/>
      </a:accent6>
      <a:hlink>
        <a:srgbClr val="467886"/>
      </a:hlink>
      <a:folHlink>
        <a:srgbClr val="96607D"/>
      </a:folHlink>
    </a:clrScheme>
    <a:fontScheme name="Office">
      <a:majorFont>
        <a:latin typeface="Georgia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1CE2C77-F620-F547-99C6-2EEF7B5FAC64}">
  <we:reference id="11d7cf85-ae5a-43b8-bc58-1e1a151cce24" version="1.0.0.1" store="EXCatalog" storeType="EXCatalog"/>
  <we:alternateReferences>
    <we:reference id="WA200010725" version="1.0.0.1" store="pt-PT" storeType="OMEX"/>
  </we:alternateReferences>
  <we:properties>
    <we:property name="claude.fileId" value="&quot;c1f9e5a0-4d89-4212-b866-1f5e0a1d0afa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137</Words>
  <Application>Microsoft Macintosh PowerPoint</Application>
  <PresentationFormat>Ecrã Panorâmico</PresentationFormat>
  <Paragraphs>14</Paragraphs>
  <Slides>2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2</vt:i4>
      </vt:variant>
    </vt:vector>
  </HeadingPairs>
  <TitlesOfParts>
    <vt:vector size="6" baseType="lpstr">
      <vt:lpstr>Arial</vt:lpstr>
      <vt:lpstr>Calibri</vt:lpstr>
      <vt:lpstr>Georgia</vt:lpstr>
      <vt:lpstr>Tema do Office [1779718173466]</vt:lpstr>
      <vt:lpstr>Apresentação do PowerPoint</vt:lpstr>
      <vt:lpstr>Problema e Motivação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Rafael Duarte Pereira Da Silva</dc:creator>
  <cp:lastModifiedBy>Rafael Duarte Pereira Da Silva</cp:lastModifiedBy>
  <cp:revision>2</cp:revision>
  <dcterms:created xsi:type="dcterms:W3CDTF">2026-05-25T14:03:45Z</dcterms:created>
  <dcterms:modified xsi:type="dcterms:W3CDTF">2026-05-25T14:12:29Z</dcterms:modified>
</cp:coreProperties>
</file>